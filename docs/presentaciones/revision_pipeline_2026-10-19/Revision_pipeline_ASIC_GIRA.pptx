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1.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Área de celdas</c:v>
                </c:pt>
              </c:strCache>
            </c:strRef>
          </c:tx>
          <c:spPr>
            <a:solidFill>
              <a:srgbClr val="007C83"/>
            </a:solidFill>
            <a:effectLst/>
          </c:spPr>
          <c:invertIfNegative val="0"/>
          <c:dLbls>
            <c:numFmt formatCode="#,##0.000" sourceLinked="0"/>
            <c:txPr>
              <a:bodyPr/>
              <a:lstStyle/>
              <a:p>
                <a:pPr>
                  <a:defRPr b="0" i="0" strike="noStrike" sz="1200" u="none">
                    <a:solidFill>
                      <a:srgbClr val="14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ihp130 · 68.143,837</c:v>
                  </c:pt>
                  <c:pt idx="1">
                    <c:v>nangate45 · 7.578,872</c:v>
                  </c:pt>
                  <c:pt idx="2">
                    <c:v>nangate15 · 896,139</c:v>
                  </c:pt>
                </c:lvl>
              </c:multiLvlStrCache>
            </c:multiLvlStrRef>
          </c:cat>
          <c:val>
            <c:numRef>
              <c:f>Sheet1!$B$2:$B$4</c:f>
              <c:numCache>
                <c:formatCode>General</c:formatCode>
                <c:ptCount val="3"/>
                <c:pt idx="0">
                  <c:v>68143.8366</c:v>
                </c:pt>
                <c:pt idx="1">
                  <c:v>7578.872</c:v>
                </c:pt>
                <c:pt idx="2">
                  <c:v>896.139264</c:v>
                </c:pt>
              </c:numCache>
            </c:numRef>
          </c:val>
        </c:ser>
        <c:dLbls>
          <c:numFmt formatCode="#,##0.000" sourceLinked="0"/>
          <c:txPr>
            <a:bodyPr/>
            <a:lstStyle/>
            <a:p>
              <a:pPr>
                <a:defRPr b="0" i="0" strike="noStrike" sz="1200" u="none">
                  <a:solidFill>
                    <a:srgbClr val="14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E2E9"/>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D9E2E9"/>
              </a:solidFill>
              <a:prstDash val="solid"/>
              <a:round/>
            </a:ln>
          </c:spPr>
        </c:majorGridlines>
        <c:numFmt formatCode="General" sourceLinked="0"/>
        <c:majorTickMark val="out"/>
        <c:minorTickMark val="none"/>
        <c:tickLblPos val="low"/>
        <c:spPr>
          <a:ln w="12700" cap="flat">
            <a:solidFill>
              <a:srgbClr val="D9E2E9"/>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solidFill>
          <a:srgbClr val="F5F6F8"/>
        </a:solidFill>
        <a:ln w="12700" cap="flat">
          <a:solidFill>
            <a:srgbClr val="F5F6F8"/>
          </a:solidFill>
        </a:ln>
        <a:effectLst/>
      </c:spPr>
    </c:plotArea>
    <c:plotVisOnly val="1"/>
    <c:dispBlanksAs val="span"/>
  </c:chart>
  <c:spPr>
    <a:solidFill>
      <a:srgbClr val="F5F6F8"/>
    </a:solidFill>
    <a:ln w="12700" cap="flat">
      <a:solidFill>
        <a:srgbClr val="F5F6F8"/>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Área de celdas</c:v>
                </c:pt>
              </c:strCache>
            </c:strRef>
          </c:tx>
          <c:spPr>
            <a:solidFill>
              <a:srgbClr val="007C83"/>
            </a:solidFill>
            <a:effectLst/>
          </c:spPr>
          <c:invertIfNegative val="0"/>
          <c:dLbls>
            <c:numFmt formatCode="#,##0.000" sourceLinked="0"/>
            <c:txPr>
              <a:bodyPr/>
              <a:lstStyle/>
              <a:p>
                <a:pPr>
                  <a:defRPr b="0" i="0" strike="noStrike" sz="1200" u="none">
                    <a:solidFill>
                      <a:srgbClr val="14293B"/>
                    </a:solidFill>
                    <a:latin typeface="Arial"/>
                  </a:defRPr>
                </a:pPr>
              </a:p>
            </c:txPr>
            <c:showLegendKey val="0"/>
            <c:showVal val="1"/>
            <c:showCatName val="0"/>
            <c:showSerName val="0"/>
            <c:showPercent val="0"/>
            <c:showBubbleSize val="0"/>
            <c:showLeaderLines val="0"/>
          </c:dLbls>
          <c:cat>
            <c:multiLvlStrRef>
              <c:f>Sheet1!$A$2:$A$11</c:f>
              <c:multiLvlStrCache>
                <c:ptCount val="10"/>
                <c:lvl>
                  <c:pt idx="0">
                    <c:v>fp16</c:v>
                  </c:pt>
                  <c:pt idx="1">
                    <c:v>fp32</c:v>
                  </c:pt>
                  <c:pt idx="2">
                    <c:v>fp8</c:v>
                  </c:pt>
                  <c:pt idx="3">
                    <c:v>fxp16_32</c:v>
                  </c:pt>
                  <c:pt idx="4">
                    <c:v>fxp8_16</c:v>
                  </c:pt>
                  <c:pt idx="5">
                    <c:v>int16_32</c:v>
                  </c:pt>
                  <c:pt idx="6">
                    <c:v>int8_16</c:v>
                  </c:pt>
                  <c:pt idx="7">
                    <c:v>posit16</c:v>
                  </c:pt>
                  <c:pt idx="8">
                    <c:v>posit32</c:v>
                  </c:pt>
                  <c:pt idx="9">
                    <c:v>posit8</c:v>
                  </c:pt>
                </c:lvl>
              </c:multiLvlStrCache>
            </c:multiLvlStrRef>
          </c:cat>
          <c:val>
            <c:numRef>
              <c:f>Sheet1!$B$2:$B$11</c:f>
              <c:numCache>
                <c:formatCode>General</c:formatCode>
                <c:ptCount val="10"/>
                <c:pt idx="0">
                  <c:v>10138.59</c:v>
                </c:pt>
                <c:pt idx="1">
                  <c:v>30084.866</c:v>
                </c:pt>
                <c:pt idx="2">
                  <c:v>3606.162</c:v>
                </c:pt>
                <c:pt idx="3">
                  <c:v>31881.962</c:v>
                </c:pt>
                <c:pt idx="4">
                  <c:v>7819.07</c:v>
                </c:pt>
                <c:pt idx="5">
                  <c:v>9550.996</c:v>
                </c:pt>
                <c:pt idx="6">
                  <c:v>7578.872</c:v>
                </c:pt>
                <c:pt idx="7">
                  <c:v>13595.26</c:v>
                </c:pt>
                <c:pt idx="8">
                  <c:v>41123.068</c:v>
                </c:pt>
                <c:pt idx="9">
                  <c:v>4983.51</c:v>
                </c:pt>
              </c:numCache>
            </c:numRef>
          </c:val>
        </c:ser>
        <c:dLbls>
          <c:numFmt formatCode="#,##0.000" sourceLinked="0"/>
          <c:txPr>
            <a:bodyPr/>
            <a:lstStyle/>
            <a:p>
              <a:pPr>
                <a:defRPr b="0" i="0" strike="noStrike" sz="1200" u="none">
                  <a:solidFill>
                    <a:srgbClr val="14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E2E9"/>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D9E2E9"/>
              </a:solidFill>
              <a:prstDash val="solid"/>
              <a:round/>
            </a:ln>
          </c:spPr>
        </c:majorGridlines>
        <c:numFmt formatCode="General" sourceLinked="0"/>
        <c:majorTickMark val="out"/>
        <c:minorTickMark val="none"/>
        <c:tickLblPos val="low"/>
        <c:spPr>
          <a:ln w="12700" cap="flat">
            <a:solidFill>
              <a:srgbClr val="D9E2E9"/>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solidFill>
          <a:srgbClr val="F5F6F8"/>
        </a:solidFill>
        <a:ln w="12700" cap="flat">
          <a:solidFill>
            <a:srgbClr val="F5F6F8"/>
          </a:solidFill>
        </a:ln>
        <a:effectLst/>
      </c:spPr>
    </c:plotArea>
    <c:plotVisOnly val="1"/>
    <c:dispBlanksAs val="span"/>
  </c:chart>
  <c:spPr>
    <a:solidFill>
      <a:srgbClr val="F5F6F8"/>
    </a:solidFill>
    <a:ln w="12700" cap="flat">
      <a:solidFill>
        <a:srgbClr val="F5F6F8"/>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presentación describe el programa tal como existe al 19 de octubre de 2026. Su objetivo es someter el método y las evidencias a revisión, no defender una certeza absoluta. Se volvió a auditar el archivo conservado de 30 combinaciones, sin ejecutar nuevas síntesis. Los diagramas representan módulos y comandos reales. El argumento defendible es que se obtiene una estimación prelayout de área de celdas de una implementación registrada concreta. La corrección física final, la equivalencia exhaustiva y la precisión matemática de todas las familias siguen fuera de lo demostrado.
EVIDENCIA LOCAL
Ver auditoría y código referenciado en la presentación.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auditoría realizada hoy recalcula sumas y hashes de los archivos conservados. No es una nueva ejecución de GHDL o Yosys. Los 30 casos corresponden a diez diseños por tres tecnologías. LNS16 figura en el catálogo, pero no tiene tres reportes completos. Las pruebas ligeras de software pasaron hoy:20 backend y 42 frontend. Es razonable aceptar la metodología como estudio exploratorio de área de celdas, condicionando la publicación de conclusiones fuertes a completar la cadena de artefactos y delimitar la exactitud funcional.
EVIDENCIA LOCAL
auditoria_evidencias.json · pruebas ligeras 19/10/2026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Área de celdas significa sumar las áreas nominales de los tipos de celdas que aparecen en la netlist. Se incluyen los FF del wrapper registrado. Las conexiones lógicas son indispensables para definir el circuito, aunque se excluya el área física de los cables. No se realiza placement ni routing; por tanto no existe evidencia sobre utilización, congestión, die o cierre temporal. El resultado se refiere a esta netlist bajo esta biblioteca y esta política de mapeo, no al menor circuito posible ni al tamaño final de un chip.
EVIDENCIA LOCAL
infrastructure/liberty.py · summarize_netlist()
FUENTES PRIMARIAS · consulta 19/10/2026
F04 — Yosys: estadística de área
https://yosyshq.readthedocs.io/projects/yosys/en/v0.50/cmd/stat.html
F06 — Berkeley ABC: optimización y mapeo
https://people.eecs.berkeley.edu/~alanmi/abc/abc.htm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perfiles se obtuvieron del subproyecto DPU_Performance_Area_Comparison. No son nuevas arquitecturas inventadas para la presentación. Cada top tiene su wrapper original y anchos concretos. DPU designa aquí cuatro productos y acumulación, con las particularidades de cada implementación. La aplicación actual no integra octets ni TCU completas. La descripción de la jerarquía más amplia del repositorio no debe confundirse con el alcance realmente ejecutable.
EVIDENCIA LOCAL
infrastructure/designs.py · assets/manifest.json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INT8/16 hay ocho operandos de 8 bits y un acumulador de 16 bits registrados:80 bits de entrada. Se añade un registro de salida de 16 bits, para96 bits declarados. La lógica de la DPU se conserva. Los valores de 96 FF en INT8 y192 FF en INT16 son controles estrictos del perfil; otras familias permiten optimizaciones de bits no observables, siempre que quede estado y pase la comparación funcional. Dos flancos permiten capturar entradas y después la salida correspondiente, sin que ello imponga una frecuencia realizable.
EVIDENCIA LOCAL
assets/rtl/int8_16/INT8_16_DPU_perf_top.vhd · validation.py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usuario selecciona un design_id que ya determina formato, top, anchos, archivos y biblioteca VHDL. No se cambia un parámetro de formato dentro del mismo hardware después de sintetizar. El technology_id selecciona un Liberty específico. La API acepta únicamente IDs enumerados y rechaza campos arbitrarios; por tanto el navegador no envía un comando de shell ni una ruta para ejecutar. La solicitud crea un UUID y devuelve202. Los resultados llegan por consulta posterior.
EVIDENCIA LOCAL
ExperimentForm.tsx · api/schemas.py · ExperimentService.submit()
FUENTES PRIMARIAS · consulta 19/10/2026
F13 — FastAPI: API y validación de solicitudes
https://fastapi.tiangolo.com/
F14 — React: interfaz basada en componentes
https://react.dev/learn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contrastaron el catálogo, el manifiesto de assets y los campos nominales de cada archivo. Los tres snapshots son copias idénticas a los originales por SHA-256. En IHP se usa1.20V; la otra biblioteca typical de 1.50V no es la seleccionada. Nangate45 usa el paquete base, Front_End/Liberty/NLDM, no Low_Power ni un binario .db. Las condiciones nominales son distintas entre nodos: same typical no significa mismo proceso ni misma tensión física.
EVIDENCIA LOCAL
infrastructure/catalog.py · scripts/prepare_assets.py
FUENTES PRIMARIAS · consulta 19/10/2026
F08 — IHP SG13G2: proceso real de 130 nm y estado del PDK abierto
https://github.com/IHP-GmbH/IHP-Open-PDK
https://ihp-open-pdk-docs.readthedocs.io/en/main/process_specs/process_specs.html
F09 — Nangate45 / FreePDK45: tecnología genérica predictiva
https://eda.ncsu.edu/freepdk/freepdk45/
F10 — Nangate15 / FreePDK15: kit predictivo FinFET de investigación
https://eda.ncsu.edu/freepdk15/
https://arxiv.org/abs/2009.04600
https://doi.org/10.1145/2717764.2717783
https://www.researchgate.net/publication/274254091_Open_Cell_Library_in_15nm_FreePDK_Technology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fuente de una biblioteca importa tanto como su nodo. IHP130 está vinculado al proceso SG13G2, pero el PDK abierto se publica como preview y el programa no hace un tape-out. FreePDK45 y FreePDK15 son plataformas genéricas predictivas de investigación, apropiadas para estudiar implementaciones bajo esas reglas y celdas. No son una promesa de área de un proceso comercial arbitrario llamado45 o15nm. El nombre de nodo tampoco permite extrapolar por el cuadrado de la longitud.
EVIDENCIA LOCAL
Ver auditoría y código referenciado en la presentación.
FUENTES PRIMARIAS · consulta 19/10/2026
F08 — IHP SG13G2: proceso real de 130 nm y estado del PDK abierto
https://github.com/IHP-GmbH/IHP-Open-PDK
https://ihp-open-pdk-docs.readthedocs.io/en/main/process_specs/process_specs.html
F09 — Nangate45 / FreePDK45: tecnología genérica predictiva
https://eda.ncsu.edu/freepdk/freepdk45/
F10 — Nangate15 / FreePDK15: kit predictivo FinFET de investigación
https://eda.ncsu.edu/freepdk15/
https://arxiv.org/abs/2009.04600
https://doi.org/10.1145/2717764.2717783
https://www.researchgate.net/publication/274254091_Open_Cell_Library_in_15nm_FreePDK_Technology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Excel elaborado previamente separa33 combinaciones habilitadas de 121propuestas. Existen14Liberty NLDM base: seisIHP, cincoNangate45 y tresNangate15. Solo tres son los snapshots activos. Los otros once requieren crear perfiles y revisar simulación y mapeo. Hay53 archivos .lib de inventario, excluyendo metadatos Apple. CCS/ECSM y Low_Power se listan, pero no se cuentan automáticamente como estudios físicos independientes ni se mezclan con el paquete base.
EVIDENCIA LOCAL
docs/experimentos/Plan_experimentos_DPU_ASIC_2026-10-19.xlsx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ExperimentService depende de dos protocolos del dominio: ExperimentRepository y SynthesisGateway. Los adaptadores concretos SQLiteExperimentRepository y Ghdl YosysSynthesis implementan esas fronteras. create_app es la raíz de composición. FastAPI expone el caso de uso; React consume contratos JSON; el dominio no importa FastAPI ni SQLite. El adaptador de síntesis orquesta herramientas y recoge reportes. Esta separación mejora la trazabilidad y permite probar fallos con un gateway simulado, pero por sí sola no demuestra la validez científica del área.
EVIDENCIA LOCAL
domain/ports.py · application/services.py · main.py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construcción tiene tres etapas: Node compila React/Vite; una etapa descarga la suite EDA fijada y verifica su SHA; el runtime PythonTrixie recibe ambos resultados. FastAPI sirve el frontend de producción. SQLite está embebido y no hay un servidor PostgreSQL adicional. El volumen /app/data conserva la base y las carpetas runs. Vite no es un servicio extra de producción. El acceso a Docker quedó bloqueado en esta sesión; no se usa la existencia del Dockerfile como evidencia de un build reciente exitoso.
EVIDENCIA LOCAL
Dockerfile · compose.yaml · main.py
FUENTES PRIMARIAS · consulta 19/10/2026
F12 — OSS CAD Suite: distribución de herramientas EDA
https://github.com/YosysHQ/oss-cad-suite-build
F15 — Vite: desarrollo y empaquetado del frontend
https://vite.dev/guide/
F16 — SQLite: persistencia embebida
https://sqlite.org/serverless.html
F17 — Docker y Compose: empaquetado y ejecución reproducible
https://docs.docker.com/get-started/docker-overview/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cola admite cuatro pendientes y un worker ejecuta trabajos mediante asyncio.to_thread, de modo que las herramientas no bloquean el loop HTTP. Los estados de progreso van de preparing a reporting. Un error genera failed y conserva el diagnóstico. Al reiniciar, los registros queued o running se marcan interrupted y no se reanudan automáticamente. La API de CSV exige succeeded. Las pruebas de aceptación de API usan un gateway falso para probar el flujo de estados; no se cuentan como síntesis reales.
EVIDENCIA LOCAL
ExperimentService.work() / _execute() · sqlite_repository.py · api/routes.py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resume una ejecución real. Se elige perfil y Liberty, se copian y registran entradas, y GHDL simula el RTL para producir la referencia. Luego se convierte a Verilog, se sintetiza y mapea en Yosys, y se obtiene la netlist. Se comprueban conteos y áreas con Liberty y stat antes de simular la netlist contra la referencia RTL. Solo después se publica el reporte. La flecha de referencia es un flujo de datos adicional, no otra fase de síntesis. Cualquier fallo detiene la publicación de área válida. Las fuentes y dependencias son locales a un UUID; no se sustituye ningún resultado faltante por una estimación inventada.
EVIDENCIA LOCAL
GhdlYosysSynthesis.run() · validation.py · liberty.py
FUENTES PRIMARIAS · consulta 19/10/2026
F01 — GHDL: análisis, elaboración y síntesis
https://ghdl.github.io/ghdl/using/Synthesis.html
F02 — Yosys: síntesis genérica y mapeo tecnológico
https://yosyshq.readthedocs.io/projects/yosys/en/v0.54/cmd/synth.html
https://yosyshq.readthedocs.io/projects/yosys/en/stable/cmd/index_passes_techmap.html
F04 — Yosys: estadística de área
https://yosyshq.readthedocs.io/projects/yosys/en/v0.50/cmd/stat.html
F07 — Icarus Verilog y vvp: simulación de la netlist
https://steveicarus.github.io/iverilog/usage/getting_started.html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perfil contiene todos los parámetros variables que el adaptador necesita. El mismo registro también gobierna la preparación de assets, reduciendo el riesgo de divergencia. Estos son campos reales del perfil INT8, resumidos para la diapositiva. source_files se mantiene ordenado y relativo a assets. Un design_id también define su referencia funcional. No hay un selector libre de nombres de entidad, ni se infiere el formato por analizar un archivo con un patrón genérico.
EVIDENCIA LOCAL
infrastructure/designs.py · domain/models.py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prepare_assets copia bytes del subrepositorio y Liberty originales sin reescribirlos. El manifiesto de assets incluye commit y hashes; el propio manifiesto advierte que el commit no sustituye al hash si hay cambios locales. Cada run vuelve a copiar los archivos a sources y el Liberty a cells.lib. El manifiesto del experimento añade versiones y hashes de estímulos y resultados. Un SHA identifica bytes y detecta diferencias con una referencia retenida; no constituye firma de una tercera parte ni prueba de que nadie haya modificado toda la cadena.
EVIDENCIA LOCAL
prepare_assets.py · synthesis.py · manifest.json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GHDL es una herramienta de análisis, elaboración y simulación VHDL que también ofrece síntesis. En este programa es un ejecutable, no una librería Python ni un servidor aparte. El adaptador ejecuta el análisis de fuentes en la biblioteca del perfil y el wrapper en work, de acuerdo con sus declaraciones library/use. Las opciones std=08, fsynopsys y fexplicit son las realmente usadas para este RTL. Una mala dependencia falla antes de medir área. La conversión de síntesis es otra llamada posterior.
EVIDENCIA LOCAL
infrastructure/vhdl.py · synthesis.py
FUENTES PRIMARIAS · consulta 19/10/2026
F01 — GHDL: análisis, elaboración y síntesis
https://ghdl.github.io/ghdl/using/Synthesis.html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backend LLVM de GHDL genera objetos por archivo. Los archivos FloPoCo de suma y multiplicación repiten helpers, lo que producía símbolos duplicados al enlazar la simulación nativa. La infraestructura usa el parser ghdl --chop para separar unidades. Si dos unidades con el mismo nombre son idénticas byte a byte, se conserva una copia; si difieren, se falla. No se usa una opción de linker que oculte conflictos y los snapshots originales se conservan. Las seis ejecuciones Posit16/32 completas documentan esta política y sus unidades derivadas.
EVIDENCIA LOCAL
infrastructure/vhdl.py · compilation/*.vhdl · manifiestos Posit16/32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write_vectors genera 256 estímulos con semilla 20261005. Se incluyen extremos, signos, actividad por lane y palabras aleatorias. GHDL debe producir 256 resultados definidos. Para INT8 e INT16 Python comprueba además un producto punto con signo, reducido módulo 2^bits(R). Para FXP, FP, Posit y LNS, el esperado sale del RTL suministrado: la prueba verifica preservación del comportamiento, no demuestra que la aritmética original coincida con una matemática ideal. Los formatos no se reinterpretan usando floats de Python.
EVIDENCIA LOCAL
validation.py · write_vectors() / check_rtl_results()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testbench asigna los operandos, genera un primer flanco para capturar entradas y un segundo para registrar el resultado. Después rechaza salidas indefinidas y las escribe como hexadecimal. Los pequeños waits garantizan el orden de eventos de simulación; no son una restricción de síntesis y no demuestran que la lógica alcance 50 MHz. La simulación mapped utiliza la misma secuencia lógica de flancos, pero no hay SDF ni modelos de retardos de celda.
EVIDENCIA LOCAL
validation.py · VHDL_TESTBENCH / VERILOG_TESTBENCH
FUENTES PRIMARIAS · consulta 19/10/2026
F07 — Icarus Verilog y vvp: simulación de la netlist
https://steveicarus.github.io/iverilog/usage/getting_started.html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programa usa el frontend standalone de GHDL. No invoca un plugin de GHDL dentro de Yosys. --synth elabora el top y --out=verilog escribe design.v. La documentación de GHDL declara experimental su motor de síntesis; por eso la conversión no se acepta solo porque terminó con código 0. La netlist final se compara con el RTL mediante simulación. No se calcula área en esta fase y el tamaño de design.v en disco no se usa como área física.
EVIDENCIA LOCAL
synthesis.py · fase converting
FUENTES PRIMARIAS · consulta 19/10/2026
F01 — GHDL: análisis, elaboración y síntesis
https://ghdl.github.io/ghdl/using/Synthesis.html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fragmento reproduce el script generado para INT8. read_liberty -lib declara tipos de celdas como cajas negras para el mapeo; synth aplana y sintetiza, posponiendo ABC mediante -noabc. Después se mapean los FF y la lógica con la misma biblioteca. Se retira únicamente scopeinfo, un metadato, no hardware desconocido. check -assert añade un control estructural y write_json/write_verilog guardan la implementación. stat usa el mismo Liberty. No hay objetivo de frecuencia, lectura SDC, PnR o comando formal.
EVIDENCIA LOCAL
synthesis.py · synth.ys
FUENTES PRIMARIAS · consulta 19/10/2026
F02 — Yosys: síntesis genérica y mapeo tecnológico
https://yosyshq.readthedocs.io/projects/yosys/en/v0.54/cmd/synth.html
https://yosyshq.readthedocs.io/projects/yosys/en/stable/cmd/index_passes_techmap.html
F03 — Yosys: lectura de Liberty y modelos de simulación
https://yosyshq.readthedocs.io/projects/yosys/en/0.41/cmd/read_liberty.html
F04 — Yosys: estadística de área
https://yosyshq.readthedocs.io/projects/yosys/en/v0.50/cmd/stat.html
F05 — Yosys: comprobaciones estructurales
https://yosyshq.readthedocs.io/projects/yosys/en/0.45/cmd/check.html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Yosys transforma el diseño en operadores y lógica genérica. dfflibmap resuelve los elementos secuenciales soportados por la biblioteca, con las inversiones o lógica que resulten necesarias. ABC realiza optimización y mapeo combinacional dentro de Yosys; no es un servicio separado del sistema. La biblioteca fija qué puertas y tamaños de drive están disponibles. El resultado depende de heurísticas y del catálogo; la ausencia de un objetivo temporal explícito no demuestra un óptimo global de área.
EVIDENCIA LOCAL
synth.ys · logs de ABC en run.log.gz
FUENTES PRIMARIAS · consulta 19/10/2026
F02 — Yosys: síntesis genérica y mapeo tecnológico
https://yosyshq.readthedocs.io/projects/yosys/en/v0.54/cmd/synth.html
https://yosyshq.readthedocs.io/projects/yosys/en/stable/cmd/index_passes_techmap.html
F06 — Berkeley ABC: optimización y mapeo
https://people.eecs.berkeley.edu/~alanmi/abc/abc.htm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ejemplo usa el reporte real INT8/16 con Nangate45. Cada fila representa un tipo de celda con su multiplicidad y su área de biblioteca. Los restantes tipos combinacionales se agrupan solo para legibilidad de la diapositiva; el reporte CSV conserva cada tipo. Los 96 DFF_X1 aportan 434.112 unidades de área. Al sumar todas las instancias se obtiene 7578.872, igual a stat -liberty. La unidad física se respalda con el databook original, que etiqueta um2; el estándar Liberty no impone una unidad universal para todos los paquetes.
EVIDENCIA LOCAL
int8_16/nangate45/report.json · stat.json · cells.lib
FUENTES PRIMARIAS · consulta 19/10/2026
F04 — Yosys: estadística de área
https://yosyshq.readthedocs.io/projects/yosys/en/v0.50/cmd/stat.html
F11 — Unidades geométricas: documentación primaria y evidencia suministrada
https://ihp-open-pdk-docs.readthedocs.io/en/latest/layout_rules/01_general.html
https://raw.githubusercontent.com/IHP-GmbH/IHP-Open-PDK/main/ihp-sg13g2/libs.ref/sg13g2_stdcell/lef/sg13g2_stdcell.lef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lector local elimina comentarios preservando cadenas y recorre los bloques cell. Exige area finita no negativa y nombres únicos. La categoría se obtiene por grupos ff/ff_bank, latch/latch_bank y memory; no por reconocer letras en el nombre de una celda. El resumen cuenta tipos del módulo top aplanado, rechaza memorias sin mapear y tipos que no aparecen en Liberty. Los tres catálogos concretos han sido revisados; este parser acotado no se presenta como un parser universal de todo Liberty posible.
EVIDENCIA LOCAL
infrastructure/liberty.py · read_cells() / summarize_netlist()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Yosys importa funciones del Liberty sin-lib y genera cells_sim.v. Las opcionesignore_miss permiten omitir definiciones no soportadas del catálogo; si una celda utilizada falta o no elabora correctamente, Icarus o la comparación debe fallar. El mismo conjunto de vectores se usa contra mapped.v y se exige igualdad de cuatro estados mediante!==. Se comprueba además el marcador de 256 casos. Esta simulación es funcional sin SDF; los retrasos del testbench no caracterizan caminos de silicio.
EVIDENCIA LOCAL
validation.py · validate_mapped() · simulation_cells.ys
FUENTES PRIMARIAS · consulta 19/10/2026
F03 — Yosys: lectura de Liberty y modelos de simulación
https://yosyshq.readthedocs.io/projects/yosys/en/0.41/cmd/read_liberty.html
F07 — Icarus Verilog y vvp: simulación de la netlist
https://steveicarus.github.io/iverilog/usage/getting_started.html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existe un único control que convierta todos los datos en verdad física. La identidad de bytes conecta una corrida con sus entradas. La cuenta por tipos conecta su área con el catálogo. La comparación con stat reduce errores del adaptador, pero ambas cuentas comparten la caracterización física de Liberty. La simulación limita regresiones en los casos recorridos. El oráculo entero añade independencia respecto al propio RTL. Formal, STA y PnR aportarían otros niveles, que este sistema no ha ejecutado.
EVIDENCIA LOCAL
auditar_evidencias.py · synthesis.py · validation.py
FUENTES PRIMARIAS · consulta 19/10/2026
F04 — Yosys: estadística de área
https://yosyshq.readthedocs.io/projects/yosys/en/v0.50/cmd/stat.html
F05 — Yosys: comprobaciones estructurales
https://yosyshq.readthedocs.io/projects/yosys/en/0.45/cmd/check.html
F18 — EQY: equivalencia formal como verificación adicional
https://yosyshq.readthedocs.io/projects/eqy/en/latest/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salida JSON integra áreas, conteos, tecnología, formato y validación junto al manifiesto. El CSV expone las filas por tipo de celda. SQLite conserva el estado y el reporte del experimento; la carpeta del run conserva fuentes, scripts y netlists. El ZIP de la aplicación reúne esos archivos y las fuentes anidadas, incluidas las unidades derivadasPosit. Los datos de validación histórica guardados en docs no se insertan automáticamente como trabajos ficticios en la base.
EVIDENCIA LOCAL
synthesis.py · api/routes.py · sqlite_repository.py
FUENTES PRIMARIAS · consulta 19/10/2026
F16 — SQLite: persistencia embebida
https://sqlite.org/serverless.html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ComparisonPanel ofrece dos modos. En tecnología filtra el design_id elegido y toma la última evaluación exitosa por technology_id. En formatos filtra una tecnología y toma la última exitosa por design_id. Se ordena por fecha, no por orden accidental de la lista. Actualmente no agrupa por hashes de script o biblioteca; para series futuras con versiones diferentes se debe comprobar la cohorte antes de comparar. La vista no simula datos ni precarga resultados. La lista de API devuelve los últimos100experimentos, lo que también limita el historial visible.
EVIDENCIA LOCAL
ComparisonPanel.tsx · contracts.ts · repository.list(limit=100)
FUENTES PRIMARIAS · consulta 19/10/2026
F14 — React: interfaz basada en componentes
https://react.dev/learn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matriz se construye leyendo qué report.json existen en el archivo, no asignando estados por conveniencia. Cada verde dispone de reportes, manifiesto, stat, vectores y dos marcadores de validación en un log. LNS16 no tiene esos tres reportes finales y se muestra como pendiente, sin área0ni valor interpolado. Son7680ejecuciones de vectores documentadas en RTL y otras 7680enmapped; las tecnologías comparten conjuntos de estímulos por diseño y no deben venderse como7680muestras aleatorias independientes.
EVIDENCIA LOCAL
docs/validation/dpu-matrix-20261018/ · auditoria_evidencias.json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contiene exclusivamente los tres reportes almacenados de INT8/16. Las cifras se cargan del archivo auditado, no se escriben a mano como resultados. Todos incluyen96 FF, el mismo RTL y la política indicada, pero catálogos, tensiones y tecnología son diferentes. La diferencia no permite concluir que la razón de áreas siga la leycuadrática del nodo ni que rindan igual. El valor es el área nominal total de celdas de la implementación mapeada.
EVIDENCIA LOCAL
int8_16/{ihp130,nangate45,nangate15}/report.json
FUENTES PRIMARIAS · consulta 19/10/2026
F04 — Yosys: estadística de área
https://yosyshq.readthedocs.io/projects/yosys/en/v0.50/cmd/stat.html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gráfica usa los diez reportesNangate45completos. La tecnología queda fija para facilitar la lectura de diferencias entre implementaciones. Sin embargo los anchos, cantidad de registros, aritmética y redondeo no son iguales. No se afirma que la menor área represente mejor precisión o eficiencia de una aplicación. LNS16 se omite del gráfico de valores porque no tiene un reporte final; su ausencia se explicita en lugar de fabricar un resultado.
EVIDENCIA LOCAL
auditoria_evidencias.json · casos nangate45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auditar_evidencias.py recorre únicamente artefactos guardados y los inputs actuales. Verifica hashes de originales y snapshots, identidad de manifiestos, perfiles, conteos de tipos contra stat, unidades derivadas Posit, hashes y vinculación de vectores. Recalcula las áreas con Decimal desde los tres Liberty y verifica salidas enteras. El máximo desacuerdo contable observado al recalcular es0bajo esta serialización. Las 20 pruebas backend y 42 frontend se ejecutaron hoy; las 30integracionesEDA pertenecen al archivo anterior, no a nuevas corridas.
EVIDENCIA LOCAL
auditar_evidencias.py · auditoria_evidencias.json/.csv · pytest/vitest 19/10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Tras el episodio de presión de memoria se compactaron los temporales para liberar recursos. Se conservaron reportes, scripts, entradas de prueba, resultados y logs; no se conservaron mapped.v, mapped.json, design.v ni cells_sim.v de esas30 corridas. Por ello hoy se cruza el desglose del reporte con stat y la biblioteca, pero no se vuelve a contar desde mapped.json ni se ejecuta la netlist. La aplicación sí está diseñada para incluir netlists en el ZIP al final de un run; para una publicación se debe retener ese paquete completo.
EVIDENCIA LOCAL
Inventario real de docs/validation/dpu-matrix-20261018/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LNS16 contiene tablas de corrección que aumentan la carga de conversión y optimización. Los ensayos locales coincidieron con presión de RAM y swap y fueron detenidos. El runner limita tiempo y mata el grupo al excederlo, pero no impone un límite de memoria al proceso local. Compose declara4 GB,2 CPUy128 PIDs para el contenedor; esos límites no se aplicaban a los ensayos ejecutados directamente en la máquina. No se debe afirmar que aumentar timeout soluciona el problema ni que4 GB bastan paraLNS. No se asignan resultados a sus tres casos pendientes.
EVIDENCIA LOCAL
process_runner.py · Settings · compose.yaml · lns16-incomplete/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revisión encontró una base coherente y límites que conviene tratar como acciones, no como notas escondidas. Primero, retener artefactos completos y un digest de código, imagen y script por corrida; el manifiesto actual no guarda todo eso. Segundo, cerrar la cobertura pendiente de LNS sin volver a saturar la máquina. Tercero, separar preservación de RTLde exactitud matemática y desarrollar un oráculo independiente si se quiere hacer esa afirmación sobre otras familias. Cuarto, agrupar comparaciones por hashes y política además deID. Formal oSTAson trabajos adicionales solo si las preguntas de investigación requieren ese alcance.
EVIDENCIA LOCAL
Hallazgos de la auditoría de código y evidencias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formulación rigurosa es: para la DPU y wrapper concretos, con snapshots y condiciones identificados, este flujo produjo una implementación mapeada cuyo área nominal de celdas es la suma auditada de sus instancias. Se documentó preservación funcional para256 estímulos y una referencia modular independiente en los perfiles enteros. No debe decirse que se demostró área final del chip, mínimo global, equivalencia exhaustiva, frecuencia objetivo ni precisión numérica independiente de todas las familias. El valor de la presentación es permitir a un revisor aceptar o refutar cada eslabón con evidencia.
EVIDENCIA LOCAL
Código auditado + 30 paquetes de evidencia
FUENTES PRIMARIAS · consulta 19/10/2026
F01 — GHDL: análisis, elaboración y síntesis
https://ghdl.github.io/ghdl/using/Synthesis.html
F04 — Yosys: estadística de área
https://yosyshq.readthedocs.io/projects/yosys/en/v0.50/cmd/stat.html
F06 — Berkeley ABC: optimización y mapeo
https://people.eecs.berkeley.edu/~alanmi/abc/abc.htm
F18 — EQY: equivalencia formal como verificación adicional
https://yosyshq.readthedocs.io/projects/eqy/en/latest/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preguntas llevan a decisiones técnicas concretas. El grupo puede aprobar el alcance de celdas y wrappers, decidir si la caracterizaciónpredictiva es suficiente para el objetivo académico y definir el estándar de conservación de artefactos. También debe decidir si quiere comparar solo área o añadir precisión, potencia o frecuencia, lo que requeriría otros controles y experimentos. Las propuestas adicionales delExcel no se habilitan ni ejecutan por presentar esta diapositiva.
EVIDENCIA LOCAL
Ver auditoría y código referenciado en la presentación.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rutas son relativas a asic-area-lab. Estos archivos conectan las decisiones de selección, ejecución, validación y representación. Se pueden abrir durante la reunión para revisar una cifra concreta. Los hashes del código guardados en auditoria_evidencias.json identifican la versión inspeccionada hoy. No son un digest de aplicación capturado cuando se ejecutaron las síntesis anteriores.
EVIDENCIA LOCAL
backend/src/area_lab/ · frontend/src/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testbench se analiza en work e instancia el wrapper. La opción -e elabora y enlaza el ejecutable de simulación con el backend LLVM; por eso se requieren compilador C, linker y zlib de desarrollo. La ejecución -r falla ante aserciones. --ieee-asserts=disable-at-0 suprime avisos IEEE de inicialización; no desactiva los controles de las salidas muestreadas. Python comprueba además cantidad y definición de resultados.
EVIDENCIA LOCAL
validation.py · validate_rtl()
FUENTES PRIMARIAS · consulta 19/10/2026
F01 — GHDL: análisis, elaboración y síntesis
https://ghdl.github.io/ghdl/using/Synthesis.html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perfiles miden DPU combinacionales con wrappers registrados. LNS16 incluye tablas ROM de corrección que se reducen a lógica. No se utiliza una macro SRAM ni una memoria comercial. El resumen rechaza memorias sin mapear, macros y latches inesperados. Si se decide estudiar macros, se necesitarán biblioteca, modelo funcional y política de mapeo específicos. Los bits de registros declarados no siempre equivalen a FF mapeados: una optimización puede eliminar estado no observable.
EVIDENCIA LOCAL
synthesis.py · memory_policy · summarize_netlist()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API valida UUID y busca los artefactos en la carpeta de ese experimento. El log HTTP expone como máximo los últimos 100 KB; el ZIP conserva el log completo. El CSV exige estado succeeded. El ZIP rechaza trabajos queued o running, pero admite diagnósticos de trabajos fallidos. Una cola llena devuelve 429; solicitudes fuera del contrato se rechazan antes de ejecutar comandos. El estado health=ok acredita respuesta HTTP, no una prueba del circuito.
EVIDENCIA LOCAL
api/routes.py · main.py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cifras se cargan de los reportes auditados. Se conservan seis decimales para identificar los valores serializados, no para afirmar esa exactitud física. Cada valor tiene reporte, stat y log. Los corners tienen condiciones nominales propias y la política de mapeo indicada. La convención de unidades de las bibliotecas se documenta en las fuentes. LNS16 permanece pendiente: no se usa cero ni una interpolación para llenar esa fila.
EVIDENCIA LOCAL
auditoria_evidencias.csv · tabla generada desde report.json
FUENTES PRIMARIAS · consulta 19/10/2026
F04 — Yosys: estadística de área
https://yosyshq.readthedocs.io/projects/yosys/en/v0.50/cmd/stat.html
F11 — Unidades geométricas: documentación primaria y evidencia suministrada
https://ihp-open-pdk-docs.readthedocs.io/en/latest/layout_rules/01_general.html
https://raw.githubusercontent.com/IHP-GmbH/IHP-Open-PDK/main/ihp-sg13g2/libs.ref/sg13g2_stdcell/lef/sg13g2_stdcell.lef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Dockerfile fija OSS CAD Suite 2026-09-04 y el SHA-256 del archivo descargado. Esto ayuda a repetir las herramientas, pero no captura por sí solo el entorno completo. El manifiesto histórico aún no contiene digest final de imagen, hash integral del código y hash de cada script. Las imágenes base se referencian por etiqueta. Se deben preservar los identificadores completos de las versiones de desarrollo, sin sustituirlos por una versión estable actual.
EVIDENCIA LOCAL
Dockerfile · manifest.tool_versions · auditoria_evidencias.json
FUENTES PRIMARIAS · consulta 19/10/2026
F12 — OSS CAD Suite: distribución de herramientas EDA
https://github.com/YosysHQ/oss-cad-suite-build
F17 — Docker y Compose: empaquetado y ejecución reproducible
https://docs.docker.com/get-started/docker-overview/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runtime incluye build-essential y zlib1g-dev porque GHDL LLVM necesita cc y el enlace -lz. Trixie proporciona la versión de glibc que necesita el runtime de la suite fijada. El build ejecuta check_toolchain.py como usuario sin root y comprueba análisis, elaboración, simulación y conversión de un circuito pequeño. Puede detectar una instalación rota aunque --version funcione. No sustituye simular cada DPU ni garantiza memoria suficiente para LNS16.
EVIDENCIA LOCAL
Dockerfile · scripts/check_toolchain.py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auditoría lee únicamente artefactos guardados y recalcula hashes, asociaciones de vectores y áreas. No abre un servidor ni una cola de trabajos. Las pruebas nonintegration usan gateways simulados o funciones pequeñas; se excluyen las integraciones que invocan herramientas EDA. Las pruebas frontend verifican contratos y filtros de presentación. Hoy pasaron 20 pruebas backend y 42 frontend, además de la auditoría estática de los 30 paquetes completos.
EVIDENCIA LOCAL
auditar_evidencias.py · backend/tests · frontend/src/**/*.test.*
FUENTES PRIMARIAS · consulta 19/10/2026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implementa los casos de uso, la ejecución de procesos y la cuenta de área. Uvicorn es el servidor ASGI que aloja FastAPI; no es un motor de síntesis. FastAPI y Pydantic validan las solicitudes y estructuran las respuestas. SQLite conserva trabajos y reportes dentro del proceso, con modo WAL y una conexión por operación. Docker empaqueta el entorno y Compose declara recursos y volumen. La validez del dato de área depende de los adaptadores EDA y del cálculo auditado, no de elegir un framework web concreto.
EVIDENCIA LOCAL
Dockerfile · main.py · api/schemas.py · hooks.ts · shared/api.ts
FUENTES PRIMARIAS · consulta 19/10/2026
F19 — Python: orquestación y procesos externos
https://docs.python.org/3.12/library/subprocess.html
F20 — Pydantic: contratos de datos de la API
https://pydantic.dev/docs/validation/latest/concepts/models/
F21 — Uvicorn: servidor ASGI
https://github.com/Kludex/uvicorn
F13 — FastAPI: API y validación de solicitudes
https://fastapi.tiangolo.com/
F16 — SQLite: persistencia embebida
https://sqlite.org/serverless.html
F17 — Docker y Compose: empaquetado y ejecución reproducible
https://docs.docker.com/get-started/docker-overview/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construye la interfaz por componentes. TypeScript comprueba tipos durante desarrollo y construcción; no valida por sí solo JSON que llega por red. Zod comprueba los contratos de respuesta en ejecución antes de representarlos. TanStack Query gestiona consultas, estados y caché; el código refresca experimentos cada1500ms cuando hay trabajo activo, y cada5000ms en caso contrario. Vite compila archivos estáticos de producción que sirve FastAPI. Ninguna de estas piezas calcula área de puertas ni acredita corrección del circuito.
EVIDENCIA LOCAL
Dockerfile · main.py · api/schemas.py · hooks.ts · shared/api.ts
FUENTES PRIMARIAS · consulta 19/10/2026
F14 — React: interfaz basada en componentes
https://react.dev/learn
F15 — Vite: desarrollo y empaquetado del frontend
https://vite.dev/guide/
F22 — TypeScript: comprobación estática del frontend
https://www.typescriptlang.org/docs/handbook/intro.html
F23 — Zod: validación de datos en ejecución
https://zod.dev/
F24 — TanStack Query: datos remotos, caché y sondeo
https://tanstack.com/query/latest/docs/framework/react/overview
https://tanstack.com/query/latest/docs/framework/react/guides/important-defaults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fuentes describen capacidades y límites de las herramientas, no prueban que todas esas capacidades se hayan ejecutado. Los comandos concretos y sus versiones están en cada manifiesto y log. FUENTES_VERIFICADAS.md conserva autor, fecha de consulta, enlaces y límite de cada afirmación. No se atribuyen pruebas formales a la aplicación por tener herramientas que podrían realizarlas.
EVIDENCIA LOCAL
Ver auditoría y código referenciado en la presentación.
FUENTES PRIMARIAS · consulta 19/10/2026
F01 — GHDL: análisis, elaboración y síntesis
https://ghdl.github.io/ghdl/using/Synthesis.html
F02 — Yosys: síntesis genérica y mapeo tecnológico
https://yosyshq.readthedocs.io/projects/yosys/en/v0.54/cmd/synth.html
https://yosyshq.readthedocs.io/projects/yosys/en/stable/cmd/index_passes_techmap.html
F03 — Yosys: lectura de Liberty y modelos de simulación
https://yosyshq.readthedocs.io/projects/yosys/en/0.41/cmd/read_liberty.html
F04 — Yosys: estadística de área
https://yosyshq.readthedocs.io/projects/yosys/en/v0.50/cmd/stat.html
F05 — Yosys: comprobaciones estructurales
https://yosyshq.readthedocs.io/projects/yosys/en/0.45/cmd/check.html
F06 — Berkeley ABC: optimización y mapeo
https://people.eecs.berkeley.edu/~alanmi/abc/abc.htm
F07 — Icarus Verilog y vvp: simulación de la netlist
https://steveicarus.github.io/iverilog/usage/getting_started.html
F18 — EQY: equivalencia formal como verificación adicional
https://yosyshq.readthedocs.io/projects/eqy/en/latest/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fuentes describen capacidades y límites de las herramientas, no prueban que todas esas capacidades se hayan ejecutado. Los comandos concretos y sus versiones están en cada manifiesto y log. FUENTES_VERIFICADAS.md conserva autor, fecha de consulta, enlaces y límite de cada afirmación. No se atribuyen pruebas formales a la aplicación por tener herramientas que podrían realizarlas.
EVIDENCIA LOCAL
Ver auditoría y código referenciado en la presentación.
FUENTES PRIMARIAS · consulta 19/10/2026
F01 — GHDL: análisis, elaboración y síntesis
https://ghdl.github.io/ghdl/using/Synthesis.html
F02 — Yosys: síntesis genérica y mapeo tecnológico
https://yosyshq.readthedocs.io/projects/yosys/en/v0.54/cmd/synth.html
https://yosyshq.readthedocs.io/projects/yosys/en/stable/cmd/index_passes_techmap.html
F03 — Yosys: lectura de Liberty y modelos de simulación
https://yosyshq.readthedocs.io/projects/yosys/en/0.41/cmd/read_liberty.html
F04 — Yosys: estadística de área
https://yosyshq.readthedocs.io/projects/yosys/en/v0.50/cmd/stat.html
F05 — Yosys: comprobaciones estructurales
https://yosyshq.readthedocs.io/projects/yosys/en/0.45/cmd/check.html
F06 — Berkeley ABC: optimización y mapeo
https://people.eecs.berkeley.edu/~alanmi/abc/abc.htm
F07 — Icarus Verilog y vvp: simulación de la netlist
https://steveicarus.github.io/iverilog/usage/getting_started.html
F18 — EQY: equivalencia formal como verificación adicional
https://yosyshq.readthedocs.io/projects/eqy/en/latest/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fuentes primarias distinguen proceso fabricado y kit predictivo. Las referencias de plataforma describen API, interfaz, empaquetado y persistencia; no calculan el área. El README suministrado de Nangate15 cita el artículo de Martins y el databook de Nangate45 etiqueta áreas en um2. El documento de fuentes explica el respaldo de unidades y los límites de correspondencia entre versiones.
EVIDENCIA LOCAL
Ver auditoría y código referenciado en la presentación.
FUENTES PRIMARIAS · consulta 19/10/2026
F08 — IHP SG13G2: proceso real de 130 nm y estado del PDK abierto
https://github.com/IHP-GmbH/IHP-Open-PDK
https://ihp-open-pdk-docs.readthedocs.io/en/main/process_specs/process_specs.html
F09 — Nangate45 / FreePDK45: tecnología genérica predictiva
https://eda.ncsu.edu/freepdk/freepdk45/
F10 — Nangate15 / FreePDK15: kit predictivo FinFET de investigación
https://eda.ncsu.edu/freepdk15/
https://arxiv.org/abs/2009.04600
https://doi.org/10.1145/2717764.2717783
https://www.researchgate.net/publication/274254091_Open_Cell_Library_in_15nm_FreePDK_Technology
F11 — Unidades geométricas: documentación primaria y evidencia suministrada
https://ihp-open-pdk-docs.readthedocs.io/en/latest/layout_rules/01_general.html
https://raw.githubusercontent.com/IHP-GmbH/IHP-Open-PDK/main/ihp-sg13g2/libs.ref/sg13g2_stdcell/lef/sg13g2_stdcell.lef
F12 — OSS CAD Suite: distribución de herramientas EDA
https://github.com/YosysHQ/oss-cad-suite-build
F13 — FastAPI: API y validación de solicitudes
https://fastapi.tiangolo.com/
F14 — React: interfaz basada en componentes
https://react.dev/learn
F15 — Vite: desarrollo y empaquetado del frontend
https://vite.dev/guide/
F16 — SQLite: persistencia embebida
https://sqlite.org/serverless.html
F17 — Docker y Compose: empaquetado y ejecución reproducible
https://docs.docker.com/get-started/docker-overview/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fuentes primarias distinguen proceso fabricado y kit predictivo. Las referencias de plataforma describen API, interfaz, empaquetado y persistencia; no calculan el área. El README suministrado de Nangate15 cita el artículo de Martins y el databook de Nangate45 etiqueta áreas en um2. El documento de fuentes explica el respaldo de unidades y los límites de correspondencia entre versiones.
EVIDENCIA LOCAL
Ver auditoría y código referenciado en la presentación.
FUENTES PRIMARIAS · consulta 19/10/2026
F08 — IHP SG13G2: proceso real de 130 nm y estado del PDK abierto
https://github.com/IHP-GmbH/IHP-Open-PDK
https://ihp-open-pdk-docs.readthedocs.io/en/main/process_specs/process_specs.html
F09 — Nangate45 / FreePDK45: tecnología genérica predictiva
https://eda.ncsu.edu/freepdk/freepdk45/
F10 — Nangate15 / FreePDK15: kit predictivo FinFET de investigación
https://eda.ncsu.edu/freepdk15/
https://arxiv.org/abs/2009.04600
https://doi.org/10.1145/2717764.2717783
https://www.researchgate.net/publication/274254091_Open_Cell_Library_in_15nm_FreePDK_Technology
F11 — Unidades geométricas: documentación primaria y evidencia suministrada
https://ihp-open-pdk-docs.readthedocs.io/en/latest/layout_rules/01_general.html
https://raw.githubusercontent.com/IHP-GmbH/IHP-Open-PDK/main/ihp-sg13g2/libs.ref/sg13g2_stdcell/lef/sg13g2_stdcell.lef
F12 — OSS CAD Suite: distribución de herramientas EDA
https://github.com/YosysHQ/oss-cad-suite-build
F13 — FastAPI: API y validación de solicitudes
https://fastapi.tiangolo.com/
F14 — React: interfaz basada en componentes
https://react.dev/learn
F15 — Vite: desarrollo y empaquetado del frontend
https://vite.dev/guide/
F16 — SQLite: persistencia embebida
https://sqlite.org/serverless.html
F17 — Docker y Compose: empaquetado y ejecución reproducible
https://docs.docker.com/get-started/docker-overview/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referencias oficiales respaldan las funciones de las tecnologías auxiliares. Se distingue validación de tipos y contratos de la validación funcional del hardware. Los archivos de dependencias del proyecto identifican las versiones instaladas; esta bibliografía describe las capacidades de cada proyecto, no demuestra una ejecución de síntesis.
EVIDENCIA LOCAL
Ver auditoría y código referenciado en la presentación.
FUENTES PRIMARIAS · consulta 19/10/2026
F19 — Python: orquestación y procesos externos
https://docs.python.org/3.12/library/subprocess.html
F20 — Pydantic: contratos de datos de la API
https://pydantic.dev/docs/validation/latest/concepts/models/
F21 — Uvicorn: servidor ASGI
https://github.com/Kludex/uvicorn
F22 — TypeScript: comprobación estática del frontend
https://www.typescriptlang.org/docs/handbook/intro.html
F23 — Zod: validación de datos en ejecución
https://zod.dev/
F24 — TanStack Query: datos remotos, caché y sondeo
https://tanstack.com/query/latest/docs/framework/react/overview
https://tanstack.com/query/latest/docs/framework/react/guides/important-defaults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referencias oficiales respaldan las funciones de las tecnologías auxiliares. Se distingue validación de tipos y contratos de la validación funcional del hardware. Los archivos de dependencias del proyecto identifican las versiones instaladas; esta bibliografía describe las capacidades de cada proyecto, no demuestra una ejecución de síntesis.
EVIDENCIA LOCAL
Ver auditoría y código referenciado en la presentación.
FUENTES PRIMARIAS · consulta 19/10/2026
F19 — Python: orquestación y procesos externos
https://docs.python.org/3.12/library/subprocess.html
F20 — Pydantic: contratos de datos de la API
https://pydantic.dev/docs/validation/latest/concepts/models/
F21 — Uvicorn: servidor ASGI
https://github.com/Kludex/uvicorn
F22 — TypeScript: comprobación estática del frontend
https://www.typescriptlang.org/docs/handbook/intro.html
F23 — Zod: validación de datos en ejecución
https://zod.dev/
F24 — TanStack Query: datos remotos, caché y sondeo
https://tanstack.com/query/latest/docs/framework/react/overview
https://tanstack.com/query/latest/docs/framework/react/guides/important-defaults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0-1.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31-1.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2" Type="http://schemas.openxmlformats.org/officeDocument/2006/relationships/hyperlink" Target="https://ghdl.github.io/ghdl/using/Synthesis.html" TargetMode="External"/><Relationship Id="rId3" Type="http://schemas.openxmlformats.org/officeDocument/2006/relationships/hyperlink" Target="https://yosyshq.readthedocs.io/projects/yosys/en/v0.54/cmd/synth.html" TargetMode="External"/><Relationship Id="rId4" Type="http://schemas.openxmlformats.org/officeDocument/2006/relationships/hyperlink" Target="https://yosyshq.readthedocs.io/projects/yosys/en/0.41/cmd/read_liberty.html" TargetMode="External"/><Relationship Id="rId5" Type="http://schemas.openxmlformats.org/officeDocument/2006/relationships/hyperlink" Target="https://yosyshq.readthedocs.io/projects/yosys/en/v0.50/cmd/stat.html" TargetMode="External"/><Relationship Id="rId1" Type="http://schemas.openxmlformats.org/officeDocument/2006/relationships/image" Target="../media/image-48-1.png"/><Relationship Id="rId6" Type="http://schemas.openxmlformats.org/officeDocument/2006/relationships/slideLayout" Target="../slideLayouts/slideLayout1.xm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2" Type="http://schemas.openxmlformats.org/officeDocument/2006/relationships/hyperlink" Target="https://yosyshq.readthedocs.io/projects/yosys/en/0.45/cmd/check.html" TargetMode="External"/><Relationship Id="rId3" Type="http://schemas.openxmlformats.org/officeDocument/2006/relationships/hyperlink" Target="https://people.eecs.berkeley.edu/~alanmi/abc/abc.htm" TargetMode="External"/><Relationship Id="rId4" Type="http://schemas.openxmlformats.org/officeDocument/2006/relationships/hyperlink" Target="https://steveicarus.github.io/iverilog/usage/getting_started.html" TargetMode="External"/><Relationship Id="rId5" Type="http://schemas.openxmlformats.org/officeDocument/2006/relationships/hyperlink" Target="https://yosyshq.readthedocs.io/projects/eqy/en/latest/" TargetMode="External"/><Relationship Id="rId1" Type="http://schemas.openxmlformats.org/officeDocument/2006/relationships/image" Target="../media/image-49-1.png"/><Relationship Id="rId6" Type="http://schemas.openxmlformats.org/officeDocument/2006/relationships/slideLayout" Target="../slideLayouts/slideLayout1.xml"/><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2" Type="http://schemas.openxmlformats.org/officeDocument/2006/relationships/hyperlink" Target="https://github.com/IHP-GmbH/IHP-Open-PDK" TargetMode="External"/><Relationship Id="rId3" Type="http://schemas.openxmlformats.org/officeDocument/2006/relationships/hyperlink" Target="https://eda.ncsu.edu/freepdk/freepdk45/" TargetMode="External"/><Relationship Id="rId4" Type="http://schemas.openxmlformats.org/officeDocument/2006/relationships/hyperlink" Target="https://eda.ncsu.edu/freepdk15/" TargetMode="External"/><Relationship Id="rId5" Type="http://schemas.openxmlformats.org/officeDocument/2006/relationships/hyperlink" Target="https://ihp-open-pdk-docs.readthedocs.io/en/latest/layout_rules/01_general.html" TargetMode="External"/><Relationship Id="rId6" Type="http://schemas.openxmlformats.org/officeDocument/2006/relationships/hyperlink" Target="https://github.com/YosysHQ/oss-cad-suite-build" TargetMode="External"/><Relationship Id="rId1" Type="http://schemas.openxmlformats.org/officeDocument/2006/relationships/image" Target="../media/image-50-1.png"/><Relationship Id="rId7" Type="http://schemas.openxmlformats.org/officeDocument/2006/relationships/slideLayout" Target="../slideLayouts/slideLayout1.xml"/><Relationship Id="rId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2" Type="http://schemas.openxmlformats.org/officeDocument/2006/relationships/hyperlink" Target="https://fastapi.tiangolo.com/" TargetMode="External"/><Relationship Id="rId3" Type="http://schemas.openxmlformats.org/officeDocument/2006/relationships/hyperlink" Target="https://react.dev/learn" TargetMode="External"/><Relationship Id="rId4" Type="http://schemas.openxmlformats.org/officeDocument/2006/relationships/hyperlink" Target="https://vite.dev/guide/" TargetMode="External"/><Relationship Id="rId5" Type="http://schemas.openxmlformats.org/officeDocument/2006/relationships/hyperlink" Target="https://sqlite.org/serverless.html" TargetMode="External"/><Relationship Id="rId6" Type="http://schemas.openxmlformats.org/officeDocument/2006/relationships/hyperlink" Target="https://docs.docker.com/get-started/docker-overview/" TargetMode="External"/><Relationship Id="rId1" Type="http://schemas.openxmlformats.org/officeDocument/2006/relationships/image" Target="../media/image-51-1.png"/><Relationship Id="rId7" Type="http://schemas.openxmlformats.org/officeDocument/2006/relationships/slideLayout" Target="../slideLayouts/slideLayout1.xml"/><Relationship Id="rId8"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2" Type="http://schemas.openxmlformats.org/officeDocument/2006/relationships/hyperlink" Target="https://docs.python.org/3.12/library/subprocess.html" TargetMode="External"/><Relationship Id="rId3" Type="http://schemas.openxmlformats.org/officeDocument/2006/relationships/hyperlink" Target="https://pydantic.dev/docs/validation/latest/concepts/models/" TargetMode="External"/><Relationship Id="rId4" Type="http://schemas.openxmlformats.org/officeDocument/2006/relationships/hyperlink" Target="https://github.com/Kludex/uvicorn" TargetMode="External"/><Relationship Id="rId1" Type="http://schemas.openxmlformats.org/officeDocument/2006/relationships/image" Target="../media/image-52-1.png"/><Relationship Id="rId5" Type="http://schemas.openxmlformats.org/officeDocument/2006/relationships/slideLayout" Target="../slideLayouts/slideLayout1.xml"/><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2" Type="http://schemas.openxmlformats.org/officeDocument/2006/relationships/hyperlink" Target="https://www.typescriptlang.org/docs/handbook/intro.html" TargetMode="External"/><Relationship Id="rId3" Type="http://schemas.openxmlformats.org/officeDocument/2006/relationships/hyperlink" Target="https://zod.dev/" TargetMode="External"/><Relationship Id="rId4" Type="http://schemas.openxmlformats.org/officeDocument/2006/relationships/hyperlink" Target="https://tanstack.com/query/latest/docs/framework/react/overview" TargetMode="External"/><Relationship Id="rId1" Type="http://schemas.openxmlformats.org/officeDocument/2006/relationships/image" Target="../media/image-53-1.png"/><Relationship Id="rId5" Type="http://schemas.openxmlformats.org/officeDocument/2006/relationships/slideLayout" Target="../slideLayouts/slideLayout1.xml"/><Relationship Id="rId6"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B3C"/>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C83"/>
          </a:solidFill>
          <a:ln w="8255">
            <a:solidFill>
              <a:srgbClr val="007C83"/>
            </a:solidFill>
            <a:prstDash val="solid"/>
          </a:ln>
        </p:spPr>
      </p:sp>
      <p:pic>
        <p:nvPicPr>
          <p:cNvPr id="3" name="Image 0" descr="Logo GIRA Robotics and Automation Research Group">    </p:cNvPr>
          <p:cNvPicPr>
            <a:picLocks noChangeAspect="1"/>
          </p:cNvPicPr>
          <p:nvPr/>
        </p:nvPicPr>
        <p:blipFill>
          <a:blip r:embed="rId1"/>
          <a:stretch>
            <a:fillRect/>
          </a:stretch>
        </p:blipFill>
        <p:spPr>
          <a:xfrm>
            <a:off x="7543800" y="667512"/>
            <a:ext cx="3520440" cy="1523390"/>
          </a:xfrm>
          <a:prstGeom prst="rect">
            <a:avLst/>
          </a:prstGeom>
        </p:spPr>
      </p:pic>
      <p:sp>
        <p:nvSpPr>
          <p:cNvPr id="4" name="Text 1"/>
          <p:cNvSpPr/>
          <p:nvPr/>
        </p:nvSpPr>
        <p:spPr>
          <a:xfrm>
            <a:off x="667512" y="466344"/>
            <a:ext cx="6583680" cy="292608"/>
          </a:xfrm>
          <a:prstGeom prst="rect">
            <a:avLst/>
          </a:prstGeom>
          <a:noFill/>
          <a:ln/>
        </p:spPr>
        <p:txBody>
          <a:bodyPr wrap="square" lIns="0" tIns="0" rIns="0" bIns="0" rtlCol="0" anchor="t"/>
          <a:lstStyle/>
          <a:p>
            <a:pPr indent="0" marL="0">
              <a:buNone/>
            </a:pPr>
            <a:r>
              <a:rPr lang="en-US" sz="1200" b="1" spc="200" kern="0" dirty="0">
                <a:solidFill>
                  <a:srgbClr val="93D8D6"/>
                </a:solidFill>
                <a:latin typeface="Arial" pitchFamily="34" charset="0"/>
                <a:ea typeface="Arial" pitchFamily="34" charset="-122"/>
                <a:cs typeface="Arial" pitchFamily="34" charset="-120"/>
              </a:rPr>
              <a:t>GIRA / ASIC AREA LAB</a:t>
            </a:r>
            <a:endParaRPr lang="en-US" sz="1200" dirty="0"/>
          </a:p>
        </p:txBody>
      </p:sp>
      <p:sp>
        <p:nvSpPr>
          <p:cNvPr id="5" name="Text 2"/>
          <p:cNvSpPr/>
          <p:nvPr/>
        </p:nvSpPr>
        <p:spPr>
          <a:xfrm>
            <a:off x="667512" y="1234440"/>
            <a:ext cx="6583680" cy="1508760"/>
          </a:xfrm>
          <a:prstGeom prst="rect">
            <a:avLst/>
          </a:prstGeom>
          <a:noFill/>
          <a:ln/>
        </p:spPr>
        <p:txBody>
          <a:bodyPr wrap="square" lIns="0" tIns="0" rIns="0" bIns="0" rtlCol="0" anchor="t"/>
          <a:lstStyle/>
          <a:p>
            <a:pPr indent="0" marL="0">
              <a:buNone/>
            </a:pPr>
            <a:r>
              <a:rPr lang="en-US" sz="4700" b="1" dirty="0">
                <a:solidFill>
                  <a:srgbClr val="FFFFFF"/>
                </a:solidFill>
                <a:latin typeface="Arial" pitchFamily="34" charset="0"/>
                <a:ea typeface="Arial" pitchFamily="34" charset="-122"/>
                <a:cs typeface="Arial" pitchFamily="34" charset="-120"/>
              </a:rPr>
              <a:t>Del VHDL</a:t>
            </a:r>
            <a:endParaRPr lang="en-US" sz="4700" dirty="0"/>
          </a:p>
          <a:p>
            <a:pPr indent="0" marL="0">
              <a:buNone/>
            </a:pPr>
            <a:r>
              <a:rPr lang="en-US" sz="4700" b="1" dirty="0">
                <a:solidFill>
                  <a:srgbClr val="FFFFFF"/>
                </a:solidFill>
                <a:latin typeface="Arial" pitchFamily="34" charset="0"/>
                <a:ea typeface="Arial" pitchFamily="34" charset="-122"/>
                <a:cs typeface="Arial" pitchFamily="34" charset="-120"/>
              </a:rPr>
              <a:t>al área ASIC</a:t>
            </a:r>
            <a:endParaRPr lang="en-US" sz="4700" dirty="0"/>
          </a:p>
        </p:txBody>
      </p:sp>
      <p:sp>
        <p:nvSpPr>
          <p:cNvPr id="6" name="Text 3"/>
          <p:cNvSpPr/>
          <p:nvPr/>
        </p:nvSpPr>
        <p:spPr>
          <a:xfrm>
            <a:off x="694944" y="2971800"/>
            <a:ext cx="6400800" cy="960120"/>
          </a:xfrm>
          <a:prstGeom prst="rect">
            <a:avLst/>
          </a:prstGeom>
          <a:noFill/>
          <a:ln/>
        </p:spPr>
        <p:txBody>
          <a:bodyPr wrap="square" lIns="0" tIns="0" rIns="0" bIns="0" rtlCol="0" anchor="t"/>
          <a:lstStyle/>
          <a:p>
            <a:pPr indent="0" marL="0">
              <a:buNone/>
            </a:pPr>
            <a:r>
              <a:rPr lang="en-US" sz="2900" b="1" dirty="0">
                <a:solidFill>
                  <a:srgbClr val="9CDCD9"/>
                </a:solidFill>
                <a:latin typeface="Arial" pitchFamily="34" charset="0"/>
                <a:ea typeface="Arial" pitchFamily="34" charset="-122"/>
                <a:cs typeface="Arial" pitchFamily="34" charset="-120"/>
              </a:rPr>
              <a:t>Qué medimos y qué podemos demostrar</a:t>
            </a:r>
            <a:endParaRPr lang="en-US" sz="2900" dirty="0"/>
          </a:p>
        </p:txBody>
      </p:sp>
      <p:sp>
        <p:nvSpPr>
          <p:cNvPr id="7" name="Text 4"/>
          <p:cNvSpPr/>
          <p:nvPr/>
        </p:nvSpPr>
        <p:spPr>
          <a:xfrm>
            <a:off x="704088" y="4151376"/>
            <a:ext cx="6400800" cy="749808"/>
          </a:xfrm>
          <a:prstGeom prst="rect">
            <a:avLst/>
          </a:prstGeom>
          <a:noFill/>
          <a:ln/>
        </p:spPr>
        <p:txBody>
          <a:bodyPr wrap="square" lIns="0" tIns="0" rIns="0" bIns="0" rtlCol="0" anchor="t"/>
          <a:lstStyle/>
          <a:p>
            <a:pPr indent="0" marL="0">
              <a:buNone/>
            </a:pPr>
            <a:r>
              <a:rPr lang="en-US" sz="2200" dirty="0">
                <a:solidFill>
                  <a:srgbClr val="CCDAE2"/>
                </a:solidFill>
                <a:latin typeface="Arial" pitchFamily="34" charset="0"/>
                <a:ea typeface="Arial" pitchFamily="34" charset="-122"/>
                <a:cs typeface="Arial" pitchFamily="34" charset="-120"/>
              </a:rPr>
              <a:t>Código, arquitectura, bibliotecas, comandos y evidencia verificable</a:t>
            </a:r>
            <a:endParaRPr lang="en-US" sz="2200" dirty="0"/>
          </a:p>
        </p:txBody>
      </p:sp>
      <p:sp>
        <p:nvSpPr>
          <p:cNvPr id="8" name="Shape 5"/>
          <p:cNvSpPr/>
          <p:nvPr/>
        </p:nvSpPr>
        <p:spPr>
          <a:xfrm>
            <a:off x="722376" y="5404104"/>
            <a:ext cx="3410712" cy="310896"/>
          </a:xfrm>
          <a:prstGeom prst="roundRect">
            <a:avLst>
              <a:gd name="adj" fmla="val 14706"/>
            </a:avLst>
          </a:prstGeom>
          <a:solidFill>
            <a:srgbClr val="23495B"/>
          </a:solidFill>
          <a:ln w="8255">
            <a:solidFill>
              <a:srgbClr val="23495B"/>
            </a:solidFill>
            <a:prstDash val="solid"/>
          </a:ln>
        </p:spPr>
      </p:sp>
      <p:sp>
        <p:nvSpPr>
          <p:cNvPr id="9" name="Text 6"/>
          <p:cNvSpPr/>
          <p:nvPr/>
        </p:nvSpPr>
        <p:spPr>
          <a:xfrm>
            <a:off x="804672" y="5458968"/>
            <a:ext cx="3246120" cy="201168"/>
          </a:xfrm>
          <a:prstGeom prst="rect">
            <a:avLst/>
          </a:prstGeom>
          <a:noFill/>
          <a:ln/>
        </p:spPr>
        <p:txBody>
          <a:bodyPr wrap="square" lIns="0" tIns="0" rIns="0" bIns="0" rtlCol="0" anchor="t"/>
          <a:lstStyle/>
          <a:p>
            <a:pPr indent="0" marL="0">
              <a:buNone/>
            </a:pPr>
            <a:r>
              <a:rPr lang="en-US" sz="1040" b="1" dirty="0">
                <a:solidFill>
                  <a:srgbClr val="FFFFFF"/>
                </a:solidFill>
                <a:latin typeface="Arial" pitchFamily="34" charset="0"/>
                <a:ea typeface="Arial" pitchFamily="34" charset="-122"/>
                <a:cs typeface="Arial" pitchFamily="34" charset="-120"/>
              </a:rPr>
              <a:t>11 DPU integradas</a:t>
            </a:r>
            <a:endParaRPr lang="en-US" sz="1040" dirty="0"/>
          </a:p>
        </p:txBody>
      </p:sp>
      <p:sp>
        <p:nvSpPr>
          <p:cNvPr id="10" name="Shape 7"/>
          <p:cNvSpPr/>
          <p:nvPr/>
        </p:nvSpPr>
        <p:spPr>
          <a:xfrm>
            <a:off x="4361688" y="5404104"/>
            <a:ext cx="3410712" cy="310896"/>
          </a:xfrm>
          <a:prstGeom prst="roundRect">
            <a:avLst>
              <a:gd name="adj" fmla="val 14706"/>
            </a:avLst>
          </a:prstGeom>
          <a:solidFill>
            <a:srgbClr val="23495B"/>
          </a:solidFill>
          <a:ln w="8255">
            <a:solidFill>
              <a:srgbClr val="23495B"/>
            </a:solidFill>
            <a:prstDash val="solid"/>
          </a:ln>
        </p:spPr>
      </p:sp>
      <p:sp>
        <p:nvSpPr>
          <p:cNvPr id="11" name="Text 8"/>
          <p:cNvSpPr/>
          <p:nvPr/>
        </p:nvSpPr>
        <p:spPr>
          <a:xfrm>
            <a:off x="4443984" y="5458968"/>
            <a:ext cx="3246120" cy="201168"/>
          </a:xfrm>
          <a:prstGeom prst="rect">
            <a:avLst/>
          </a:prstGeom>
          <a:noFill/>
          <a:ln/>
        </p:spPr>
        <p:txBody>
          <a:bodyPr wrap="square" lIns="0" tIns="0" rIns="0" bIns="0" rtlCol="0" anchor="t"/>
          <a:lstStyle/>
          <a:p>
            <a:pPr indent="0" marL="0">
              <a:buNone/>
            </a:pPr>
            <a:r>
              <a:rPr lang="en-US" sz="1040" b="1" dirty="0">
                <a:solidFill>
                  <a:srgbClr val="FFFFFF"/>
                </a:solidFill>
                <a:latin typeface="Arial" pitchFamily="34" charset="0"/>
                <a:ea typeface="Arial" pitchFamily="34" charset="-122"/>
                <a:cs typeface="Arial" pitchFamily="34" charset="-120"/>
              </a:rPr>
              <a:t>3 bibliotecas typical</a:t>
            </a:r>
            <a:endParaRPr lang="en-US" sz="1040" dirty="0"/>
          </a:p>
        </p:txBody>
      </p:sp>
      <p:sp>
        <p:nvSpPr>
          <p:cNvPr id="12" name="Shape 9"/>
          <p:cNvSpPr/>
          <p:nvPr/>
        </p:nvSpPr>
        <p:spPr>
          <a:xfrm>
            <a:off x="8001000" y="5404104"/>
            <a:ext cx="3410712" cy="310896"/>
          </a:xfrm>
          <a:prstGeom prst="roundRect">
            <a:avLst>
              <a:gd name="adj" fmla="val 14706"/>
            </a:avLst>
          </a:prstGeom>
          <a:solidFill>
            <a:srgbClr val="23495B"/>
          </a:solidFill>
          <a:ln w="8255">
            <a:solidFill>
              <a:srgbClr val="23495B"/>
            </a:solidFill>
            <a:prstDash val="solid"/>
          </a:ln>
        </p:spPr>
      </p:sp>
      <p:sp>
        <p:nvSpPr>
          <p:cNvPr id="13" name="Text 10"/>
          <p:cNvSpPr/>
          <p:nvPr/>
        </p:nvSpPr>
        <p:spPr>
          <a:xfrm>
            <a:off x="8083296" y="5458968"/>
            <a:ext cx="3246120" cy="201168"/>
          </a:xfrm>
          <a:prstGeom prst="rect">
            <a:avLst/>
          </a:prstGeom>
          <a:noFill/>
          <a:ln/>
        </p:spPr>
        <p:txBody>
          <a:bodyPr wrap="square" lIns="0" tIns="0" rIns="0" bIns="0" rtlCol="0" anchor="t"/>
          <a:lstStyle/>
          <a:p>
            <a:pPr indent="0" marL="0">
              <a:buNone/>
            </a:pPr>
            <a:r>
              <a:rPr lang="en-US" sz="1040" b="1" dirty="0">
                <a:solidFill>
                  <a:srgbClr val="FFFFFF"/>
                </a:solidFill>
                <a:latin typeface="Arial" pitchFamily="34" charset="0"/>
                <a:ea typeface="Arial" pitchFamily="34" charset="-122"/>
                <a:cs typeface="Arial" pitchFamily="34" charset="-120"/>
              </a:rPr>
              <a:t>30 casos documentados</a:t>
            </a:r>
            <a:endParaRPr lang="en-US" sz="1040" dirty="0"/>
          </a:p>
        </p:txBody>
      </p:sp>
      <p:sp>
        <p:nvSpPr>
          <p:cNvPr id="14" name="Text 11"/>
          <p:cNvSpPr/>
          <p:nvPr/>
        </p:nvSpPr>
        <p:spPr>
          <a:xfrm>
            <a:off x="722376" y="6190488"/>
            <a:ext cx="10698480" cy="283464"/>
          </a:xfrm>
          <a:prstGeom prst="rect">
            <a:avLst/>
          </a:prstGeom>
          <a:noFill/>
          <a:ln/>
        </p:spPr>
        <p:txBody>
          <a:bodyPr wrap="square" lIns="0" tIns="0" rIns="0" bIns="0" rtlCol="0" anchor="t"/>
          <a:lstStyle/>
          <a:p>
            <a:pPr indent="0" marL="0">
              <a:buNone/>
            </a:pPr>
            <a:r>
              <a:rPr lang="en-US" sz="1200" dirty="0">
                <a:solidFill>
                  <a:srgbClr val="CCDAE2"/>
                </a:solidFill>
                <a:latin typeface="Arial" pitchFamily="34" charset="0"/>
                <a:ea typeface="Arial" pitchFamily="34" charset="-122"/>
                <a:cs typeface="Arial" pitchFamily="34" charset="-120"/>
              </a:rPr>
              <a:t>REVISIÓN TÉCNICA · 19 OCTUBRE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01 · DICTAMEN DE LA REVISIÓN</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La base metodológica es defendible; la validación sigue siendo parcial</a:t>
            </a:r>
            <a:endParaRPr lang="en-US" sz="2800" dirty="0"/>
          </a:p>
        </p:txBody>
      </p:sp>
      <p:sp>
        <p:nvSpPr>
          <p:cNvPr id="6" name="Shape 3"/>
          <p:cNvSpPr/>
          <p:nvPr/>
        </p:nvSpPr>
        <p:spPr>
          <a:xfrm>
            <a:off x="621792" y="1975104"/>
            <a:ext cx="3575304" cy="3511296"/>
          </a:xfrm>
          <a:prstGeom prst="rect">
            <a:avLst/>
          </a:prstGeom>
          <a:solidFill>
            <a:srgbClr val="FFFFFF"/>
          </a:solidFill>
          <a:ln w="8255">
            <a:solidFill>
              <a:srgbClr val="D9E2E9"/>
            </a:solidFill>
            <a:prstDash val="solid"/>
          </a:ln>
        </p:spPr>
      </p:sp>
      <p:sp>
        <p:nvSpPr>
          <p:cNvPr id="7" name="Shape 4"/>
          <p:cNvSpPr/>
          <p:nvPr/>
        </p:nvSpPr>
        <p:spPr>
          <a:xfrm>
            <a:off x="621792" y="1975104"/>
            <a:ext cx="50292" cy="3511296"/>
          </a:xfrm>
          <a:prstGeom prst="rect">
            <a:avLst/>
          </a:prstGeom>
          <a:solidFill>
            <a:srgbClr val="007C83"/>
          </a:solidFill>
          <a:ln w="8255">
            <a:solidFill>
              <a:srgbClr val="007C83"/>
            </a:solidFill>
            <a:prstDash val="solid"/>
          </a:ln>
        </p:spPr>
      </p:sp>
      <p:sp>
        <p:nvSpPr>
          <p:cNvPr id="8" name="Text 5"/>
          <p:cNvSpPr/>
          <p:nvPr/>
        </p:nvSpPr>
        <p:spPr>
          <a:xfrm>
            <a:off x="822960"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Coherencia comprobada</a:t>
            </a:r>
            <a:endParaRPr lang="en-US" sz="2200" dirty="0"/>
          </a:p>
        </p:txBody>
      </p:sp>
      <p:sp>
        <p:nvSpPr>
          <p:cNvPr id="9" name="Text 6"/>
          <p:cNvSpPr/>
          <p:nvPr/>
        </p:nvSpPr>
        <p:spPr>
          <a:xfrm>
            <a:off x="822960"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30 reportes: conteos, áreas, hashes, vectores y logs compatibles.</a:t>
            </a:r>
            <a:endParaRPr lang="en-US" sz="1900" dirty="0"/>
          </a:p>
        </p:txBody>
      </p:sp>
      <p:sp>
        <p:nvSpPr>
          <p:cNvPr id="10" name="Shape 7"/>
          <p:cNvSpPr/>
          <p:nvPr/>
        </p:nvSpPr>
        <p:spPr>
          <a:xfrm>
            <a:off x="4352544" y="1975104"/>
            <a:ext cx="3575304" cy="3511296"/>
          </a:xfrm>
          <a:prstGeom prst="rect">
            <a:avLst/>
          </a:prstGeom>
          <a:solidFill>
            <a:srgbClr val="FFFFFF"/>
          </a:solidFill>
          <a:ln w="8255">
            <a:solidFill>
              <a:srgbClr val="D9E2E9"/>
            </a:solidFill>
            <a:prstDash val="solid"/>
          </a:ln>
        </p:spPr>
      </p:sp>
      <p:sp>
        <p:nvSpPr>
          <p:cNvPr id="11" name="Shape 8"/>
          <p:cNvSpPr/>
          <p:nvPr/>
        </p:nvSpPr>
        <p:spPr>
          <a:xfrm>
            <a:off x="4352544" y="1975104"/>
            <a:ext cx="50292" cy="3511296"/>
          </a:xfrm>
          <a:prstGeom prst="rect">
            <a:avLst/>
          </a:prstGeom>
          <a:solidFill>
            <a:srgbClr val="007C83"/>
          </a:solidFill>
          <a:ln w="8255">
            <a:solidFill>
              <a:srgbClr val="007C83"/>
            </a:solidFill>
            <a:prstDash val="solid"/>
          </a:ln>
        </p:spPr>
      </p:sp>
      <p:sp>
        <p:nvSpPr>
          <p:cNvPr id="12" name="Text 9"/>
          <p:cNvSpPr/>
          <p:nvPr/>
        </p:nvSpPr>
        <p:spPr>
          <a:xfrm>
            <a:off x="4553712"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Pendientes reales</a:t>
            </a:r>
            <a:endParaRPr lang="en-US" sz="2200" dirty="0"/>
          </a:p>
        </p:txBody>
      </p:sp>
      <p:sp>
        <p:nvSpPr>
          <p:cNvPr id="13" name="Text 10"/>
          <p:cNvSpPr/>
          <p:nvPr/>
        </p:nvSpPr>
        <p:spPr>
          <a:xfrm>
            <a:off x="4553712"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LNS16: tres mapeos sin cerrar. No existe certificación física ni prueba formal.</a:t>
            </a:r>
            <a:endParaRPr lang="en-US" sz="1900" dirty="0"/>
          </a:p>
        </p:txBody>
      </p:sp>
      <p:sp>
        <p:nvSpPr>
          <p:cNvPr id="14" name="Shape 11"/>
          <p:cNvSpPr/>
          <p:nvPr/>
        </p:nvSpPr>
        <p:spPr>
          <a:xfrm>
            <a:off x="8083296" y="1975104"/>
            <a:ext cx="3575304" cy="3511296"/>
          </a:xfrm>
          <a:prstGeom prst="rect">
            <a:avLst/>
          </a:prstGeom>
          <a:solidFill>
            <a:srgbClr val="FFFFFF"/>
          </a:solidFill>
          <a:ln w="8255">
            <a:solidFill>
              <a:srgbClr val="D9E2E9"/>
            </a:solidFill>
            <a:prstDash val="solid"/>
          </a:ln>
        </p:spPr>
      </p:sp>
      <p:sp>
        <p:nvSpPr>
          <p:cNvPr id="15" name="Shape 12"/>
          <p:cNvSpPr/>
          <p:nvPr/>
        </p:nvSpPr>
        <p:spPr>
          <a:xfrm>
            <a:off x="8083296" y="1975104"/>
            <a:ext cx="50292" cy="3511296"/>
          </a:xfrm>
          <a:prstGeom prst="rect">
            <a:avLst/>
          </a:prstGeom>
          <a:solidFill>
            <a:srgbClr val="B36A10"/>
          </a:solidFill>
          <a:ln w="8255">
            <a:solidFill>
              <a:srgbClr val="B36A10"/>
            </a:solidFill>
            <a:prstDash val="solid"/>
          </a:ln>
        </p:spPr>
      </p:sp>
      <p:sp>
        <p:nvSpPr>
          <p:cNvPr id="16" name="Text 13"/>
          <p:cNvSpPr/>
          <p:nvPr/>
        </p:nvSpPr>
        <p:spPr>
          <a:xfrm>
            <a:off x="8284464" y="2185416"/>
            <a:ext cx="3172968" cy="658368"/>
          </a:xfrm>
          <a:prstGeom prst="rect">
            <a:avLst/>
          </a:prstGeom>
          <a:noFill/>
          <a:ln/>
        </p:spPr>
        <p:txBody>
          <a:bodyPr wrap="square" lIns="0" tIns="0" rIns="0" bIns="0" rtlCol="0" anchor="t"/>
          <a:lstStyle/>
          <a:p>
            <a:pPr indent="0" marL="0">
              <a:buNone/>
            </a:pPr>
            <a:r>
              <a:rPr lang="en-US" sz="2200" b="1" dirty="0">
                <a:solidFill>
                  <a:srgbClr val="B36A10"/>
                </a:solidFill>
                <a:latin typeface="Arial" pitchFamily="34" charset="0"/>
                <a:ea typeface="Arial" pitchFamily="34" charset="-122"/>
                <a:cs typeface="Arial" pitchFamily="34" charset="-120"/>
              </a:rPr>
              <a:t>Decisión propuesta</a:t>
            </a:r>
            <a:endParaRPr lang="en-US" sz="2200" dirty="0"/>
          </a:p>
        </p:txBody>
      </p:sp>
      <p:sp>
        <p:nvSpPr>
          <p:cNvPr id="17" name="Text 14"/>
          <p:cNvSpPr/>
          <p:nvPr/>
        </p:nvSpPr>
        <p:spPr>
          <a:xfrm>
            <a:off x="8284464"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Aceptar el método para área de celdas y cerrar las brechas antes de ampliar las afirmaciones.</a:t>
            </a:r>
            <a:endParaRPr lang="en-US" sz="1900" dirty="0"/>
          </a:p>
        </p:txBody>
      </p:sp>
      <p:sp>
        <p:nvSpPr>
          <p:cNvPr id="18" name="Shape 15"/>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19" name="Text 16"/>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No se concluye que todo el sistema esté validado exhaustivamente.</a:t>
            </a:r>
            <a:endParaRPr lang="en-US" sz="1550" dirty="0"/>
          </a:p>
        </p:txBody>
      </p:sp>
      <p:sp>
        <p:nvSpPr>
          <p:cNvPr id="20" name="Shape 17"/>
          <p:cNvSpPr/>
          <p:nvPr/>
        </p:nvSpPr>
        <p:spPr>
          <a:xfrm>
            <a:off x="585216" y="6492240"/>
            <a:ext cx="11009376" cy="0"/>
          </a:xfrm>
          <a:prstGeom prst="line">
            <a:avLst/>
          </a:prstGeom>
          <a:noFill/>
          <a:ln w="8890">
            <a:solidFill>
              <a:srgbClr val="D9E2E9"/>
            </a:solidFill>
            <a:prstDash val="solid"/>
            <a:headEnd type="none"/>
            <a:tailEnd type="none"/>
          </a:ln>
        </p:spPr>
      </p:sp>
      <p:sp>
        <p:nvSpPr>
          <p:cNvPr id="21" name="Text 18"/>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auditoria_evidencias.json · pruebas ligeras 19/10/2026</a:t>
            </a:r>
            <a:endParaRPr lang="en-US" sz="870" dirty="0"/>
          </a:p>
        </p:txBody>
      </p:sp>
      <p:sp>
        <p:nvSpPr>
          <p:cNvPr id="22" name="Text 19"/>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02 / 53</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02 · ALCANCE</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La magnitud de interés es la suma de áreas de las celdas mapeadas</a:t>
            </a:r>
            <a:endParaRPr lang="en-US" sz="2800" dirty="0"/>
          </a:p>
        </p:txBody>
      </p:sp>
      <p:sp>
        <p:nvSpPr>
          <p:cNvPr id="6" name="Shape 3"/>
          <p:cNvSpPr/>
          <p:nvPr/>
        </p:nvSpPr>
        <p:spPr>
          <a:xfrm>
            <a:off x="704088" y="1920240"/>
            <a:ext cx="10744200" cy="685800"/>
          </a:xfrm>
          <a:prstGeom prst="roundRect">
            <a:avLst>
              <a:gd name="adj" fmla="val 10667"/>
            </a:avLst>
          </a:prstGeom>
          <a:solidFill>
            <a:srgbClr val="112B3C"/>
          </a:solidFill>
          <a:ln w="8255">
            <a:solidFill>
              <a:srgbClr val="112B3C"/>
            </a:solidFill>
            <a:prstDash val="solid"/>
          </a:ln>
        </p:spPr>
      </p:sp>
      <p:sp>
        <p:nvSpPr>
          <p:cNvPr id="7" name="Text 4"/>
          <p:cNvSpPr/>
          <p:nvPr/>
        </p:nvSpPr>
        <p:spPr>
          <a:xfrm>
            <a:off x="932688" y="2084832"/>
            <a:ext cx="10287000" cy="402336"/>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A celdas = Σ [ número de instancias × área de su tipo ]</a:t>
            </a:r>
            <a:endParaRPr lang="en-US" sz="2400" dirty="0"/>
          </a:p>
        </p:txBody>
      </p:sp>
      <p:sp>
        <p:nvSpPr>
          <p:cNvPr id="8" name="Text 5"/>
          <p:cNvSpPr/>
          <p:nvPr/>
        </p:nvSpPr>
        <p:spPr>
          <a:xfrm>
            <a:off x="877824" y="2916936"/>
            <a:ext cx="4846320" cy="274320"/>
          </a:xfrm>
          <a:prstGeom prst="rect">
            <a:avLst/>
          </a:prstGeom>
          <a:noFill/>
          <a:ln/>
        </p:spPr>
        <p:txBody>
          <a:bodyPr wrap="square" lIns="0" tIns="0" rIns="0" bIns="0" rtlCol="0" anchor="t"/>
          <a:lstStyle/>
          <a:p>
            <a:pPr indent="0" marL="0">
              <a:buNone/>
            </a:pPr>
            <a:r>
              <a:rPr lang="en-US" sz="1200" b="1" spc="100" kern="0" dirty="0">
                <a:solidFill>
                  <a:srgbClr val="007C83"/>
                </a:solidFill>
                <a:latin typeface="Arial" pitchFamily="34" charset="0"/>
                <a:ea typeface="Arial" pitchFamily="34" charset="-122"/>
                <a:cs typeface="Arial" pitchFamily="34" charset="-120"/>
              </a:rPr>
              <a:t>SE INCLUYE</a:t>
            </a:r>
            <a:endParaRPr lang="en-US" sz="1200" dirty="0"/>
          </a:p>
        </p:txBody>
      </p:sp>
      <p:sp>
        <p:nvSpPr>
          <p:cNvPr id="9" name="Text 6"/>
          <p:cNvSpPr/>
          <p:nvPr/>
        </p:nvSpPr>
        <p:spPr>
          <a:xfrm>
            <a:off x="6437376" y="2916936"/>
            <a:ext cx="4663440" cy="274320"/>
          </a:xfrm>
          <a:prstGeom prst="rect">
            <a:avLst/>
          </a:prstGeom>
          <a:noFill/>
          <a:ln/>
        </p:spPr>
        <p:txBody>
          <a:bodyPr wrap="square" lIns="0" tIns="0" rIns="0" bIns="0" rtlCol="0" anchor="t"/>
          <a:lstStyle/>
          <a:p>
            <a:pPr indent="0" marL="0">
              <a:buNone/>
            </a:pPr>
            <a:r>
              <a:rPr lang="en-US" sz="1200" b="1" spc="100" kern="0" dirty="0">
                <a:solidFill>
                  <a:srgbClr val="B36A10"/>
                </a:solidFill>
                <a:latin typeface="Arial" pitchFamily="34" charset="0"/>
                <a:ea typeface="Arial" pitchFamily="34" charset="-122"/>
                <a:cs typeface="Arial" pitchFamily="34" charset="-120"/>
              </a:rPr>
              <a:t>FUERA DEL ALCANCE</a:t>
            </a:r>
            <a:endParaRPr lang="en-US" sz="1200" dirty="0"/>
          </a:p>
        </p:txBody>
      </p:sp>
      <p:sp>
        <p:nvSpPr>
          <p:cNvPr id="10" name="Shape 7"/>
          <p:cNvSpPr/>
          <p:nvPr/>
        </p:nvSpPr>
        <p:spPr>
          <a:xfrm>
            <a:off x="877824" y="3465576"/>
            <a:ext cx="91440" cy="91440"/>
          </a:xfrm>
          <a:prstGeom prst="rect">
            <a:avLst/>
          </a:prstGeom>
          <a:solidFill>
            <a:srgbClr val="007C83"/>
          </a:solidFill>
          <a:ln w="8255">
            <a:solidFill>
              <a:srgbClr val="007C83"/>
            </a:solidFill>
            <a:prstDash val="solid"/>
          </a:ln>
        </p:spPr>
      </p:sp>
      <p:sp>
        <p:nvSpPr>
          <p:cNvPr id="11" name="Text 8"/>
          <p:cNvSpPr/>
          <p:nvPr/>
        </p:nvSpPr>
        <p:spPr>
          <a:xfrm>
            <a:off x="1143000" y="3374136"/>
            <a:ext cx="4846320" cy="365760"/>
          </a:xfrm>
          <a:prstGeom prst="rect">
            <a:avLst/>
          </a:prstGeom>
          <a:noFill/>
          <a:ln/>
        </p:spPr>
        <p:txBody>
          <a:bodyPr wrap="square" lIns="0" tIns="0" rIns="0" bIns="0" rtlCol="0" anchor="t"/>
          <a:lstStyle/>
          <a:p>
            <a:pPr indent="0" marL="0">
              <a:buNone/>
            </a:pPr>
            <a:r>
              <a:rPr lang="en-US" sz="2100" dirty="0">
                <a:solidFill>
                  <a:srgbClr val="14293B"/>
                </a:solidFill>
                <a:latin typeface="Arial" pitchFamily="34" charset="0"/>
                <a:ea typeface="Arial" pitchFamily="34" charset="-122"/>
                <a:cs typeface="Arial" pitchFamily="34" charset="-120"/>
              </a:rPr>
              <a:t>Lógica combinacional</a:t>
            </a:r>
            <a:endParaRPr lang="en-US" sz="2100" dirty="0"/>
          </a:p>
        </p:txBody>
      </p:sp>
      <p:sp>
        <p:nvSpPr>
          <p:cNvPr id="12" name="Shape 9"/>
          <p:cNvSpPr/>
          <p:nvPr/>
        </p:nvSpPr>
        <p:spPr>
          <a:xfrm>
            <a:off x="877824" y="4059936"/>
            <a:ext cx="91440" cy="91440"/>
          </a:xfrm>
          <a:prstGeom prst="rect">
            <a:avLst/>
          </a:prstGeom>
          <a:solidFill>
            <a:srgbClr val="007C83"/>
          </a:solidFill>
          <a:ln w="8255">
            <a:solidFill>
              <a:srgbClr val="007C83"/>
            </a:solidFill>
            <a:prstDash val="solid"/>
          </a:ln>
        </p:spPr>
      </p:sp>
      <p:sp>
        <p:nvSpPr>
          <p:cNvPr id="13" name="Text 10"/>
          <p:cNvSpPr/>
          <p:nvPr/>
        </p:nvSpPr>
        <p:spPr>
          <a:xfrm>
            <a:off x="1143000" y="3968496"/>
            <a:ext cx="4846320" cy="365760"/>
          </a:xfrm>
          <a:prstGeom prst="rect">
            <a:avLst/>
          </a:prstGeom>
          <a:noFill/>
          <a:ln/>
        </p:spPr>
        <p:txBody>
          <a:bodyPr wrap="square" lIns="0" tIns="0" rIns="0" bIns="0" rtlCol="0" anchor="t"/>
          <a:lstStyle/>
          <a:p>
            <a:pPr indent="0" marL="0">
              <a:buNone/>
            </a:pPr>
            <a:r>
              <a:rPr lang="en-US" sz="2100" dirty="0">
                <a:solidFill>
                  <a:srgbClr val="14293B"/>
                </a:solidFill>
                <a:latin typeface="Arial" pitchFamily="34" charset="0"/>
                <a:ea typeface="Arial" pitchFamily="34" charset="-122"/>
                <a:cs typeface="Arial" pitchFamily="34" charset="-120"/>
              </a:rPr>
              <a:t>Flip-flops del wrapper</a:t>
            </a:r>
            <a:endParaRPr lang="en-US" sz="2100" dirty="0"/>
          </a:p>
        </p:txBody>
      </p:sp>
      <p:sp>
        <p:nvSpPr>
          <p:cNvPr id="14" name="Shape 11"/>
          <p:cNvSpPr/>
          <p:nvPr/>
        </p:nvSpPr>
        <p:spPr>
          <a:xfrm>
            <a:off x="877824" y="4654296"/>
            <a:ext cx="91440" cy="91440"/>
          </a:xfrm>
          <a:prstGeom prst="rect">
            <a:avLst/>
          </a:prstGeom>
          <a:solidFill>
            <a:srgbClr val="007C83"/>
          </a:solidFill>
          <a:ln w="8255">
            <a:solidFill>
              <a:srgbClr val="007C83"/>
            </a:solidFill>
            <a:prstDash val="solid"/>
          </a:ln>
        </p:spPr>
      </p:sp>
      <p:sp>
        <p:nvSpPr>
          <p:cNvPr id="15" name="Text 12"/>
          <p:cNvSpPr/>
          <p:nvPr/>
        </p:nvSpPr>
        <p:spPr>
          <a:xfrm>
            <a:off x="1143000" y="4562856"/>
            <a:ext cx="4846320" cy="365760"/>
          </a:xfrm>
          <a:prstGeom prst="rect">
            <a:avLst/>
          </a:prstGeom>
          <a:noFill/>
          <a:ln/>
        </p:spPr>
        <p:txBody>
          <a:bodyPr wrap="square" lIns="0" tIns="0" rIns="0" bIns="0" rtlCol="0" anchor="t"/>
          <a:lstStyle/>
          <a:p>
            <a:pPr indent="0" marL="0">
              <a:buNone/>
            </a:pPr>
            <a:r>
              <a:rPr lang="en-US" sz="2100" dirty="0">
                <a:solidFill>
                  <a:srgbClr val="14293B"/>
                </a:solidFill>
                <a:latin typeface="Arial" pitchFamily="34" charset="0"/>
                <a:ea typeface="Arial" pitchFamily="34" charset="-122"/>
                <a:cs typeface="Arial" pitchFamily="34" charset="-120"/>
              </a:rPr>
              <a:t>ROM reducida a lógica</a:t>
            </a:r>
            <a:endParaRPr lang="en-US" sz="2100" dirty="0"/>
          </a:p>
        </p:txBody>
      </p:sp>
      <p:sp>
        <p:nvSpPr>
          <p:cNvPr id="16" name="Shape 13"/>
          <p:cNvSpPr/>
          <p:nvPr/>
        </p:nvSpPr>
        <p:spPr>
          <a:xfrm>
            <a:off x="6437376" y="3465576"/>
            <a:ext cx="91440" cy="91440"/>
          </a:xfrm>
          <a:prstGeom prst="rect">
            <a:avLst/>
          </a:prstGeom>
          <a:solidFill>
            <a:srgbClr val="B36A10"/>
          </a:solidFill>
          <a:ln w="8255">
            <a:solidFill>
              <a:srgbClr val="B36A10"/>
            </a:solidFill>
            <a:prstDash val="solid"/>
          </a:ln>
        </p:spPr>
      </p:sp>
      <p:sp>
        <p:nvSpPr>
          <p:cNvPr id="17" name="Text 14"/>
          <p:cNvSpPr/>
          <p:nvPr/>
        </p:nvSpPr>
        <p:spPr>
          <a:xfrm>
            <a:off x="6702552" y="3374136"/>
            <a:ext cx="4572000" cy="365760"/>
          </a:xfrm>
          <a:prstGeom prst="rect">
            <a:avLst/>
          </a:prstGeom>
          <a:noFill/>
          <a:ln/>
        </p:spPr>
        <p:txBody>
          <a:bodyPr wrap="square" lIns="0" tIns="0" rIns="0" bIns="0" rtlCol="0" anchor="t"/>
          <a:lstStyle/>
          <a:p>
            <a:pPr indent="0" marL="0">
              <a:buNone/>
            </a:pPr>
            <a:r>
              <a:rPr lang="en-US" sz="2100" dirty="0">
                <a:solidFill>
                  <a:srgbClr val="14293B"/>
                </a:solidFill>
                <a:latin typeface="Arial" pitchFamily="34" charset="0"/>
                <a:ea typeface="Arial" pitchFamily="34" charset="-122"/>
                <a:cs typeface="Arial" pitchFamily="34" charset="-120"/>
              </a:rPr>
              <a:t>Área de cables y routing</a:t>
            </a:r>
            <a:endParaRPr lang="en-US" sz="2100" dirty="0"/>
          </a:p>
        </p:txBody>
      </p:sp>
      <p:sp>
        <p:nvSpPr>
          <p:cNvPr id="18" name="Shape 15"/>
          <p:cNvSpPr/>
          <p:nvPr/>
        </p:nvSpPr>
        <p:spPr>
          <a:xfrm>
            <a:off x="6437376" y="4059936"/>
            <a:ext cx="91440" cy="91440"/>
          </a:xfrm>
          <a:prstGeom prst="rect">
            <a:avLst/>
          </a:prstGeom>
          <a:solidFill>
            <a:srgbClr val="B36A10"/>
          </a:solidFill>
          <a:ln w="8255">
            <a:solidFill>
              <a:srgbClr val="B36A10"/>
            </a:solidFill>
            <a:prstDash val="solid"/>
          </a:ln>
        </p:spPr>
      </p:sp>
      <p:sp>
        <p:nvSpPr>
          <p:cNvPr id="19" name="Text 16"/>
          <p:cNvSpPr/>
          <p:nvPr/>
        </p:nvSpPr>
        <p:spPr>
          <a:xfrm>
            <a:off x="6702552" y="3968496"/>
            <a:ext cx="4572000" cy="365760"/>
          </a:xfrm>
          <a:prstGeom prst="rect">
            <a:avLst/>
          </a:prstGeom>
          <a:noFill/>
          <a:ln/>
        </p:spPr>
        <p:txBody>
          <a:bodyPr wrap="square" lIns="0" tIns="0" rIns="0" bIns="0" rtlCol="0" anchor="t"/>
          <a:lstStyle/>
          <a:p>
            <a:pPr indent="0" marL="0">
              <a:buNone/>
            </a:pPr>
            <a:r>
              <a:rPr lang="en-US" sz="2100" dirty="0">
                <a:solidFill>
                  <a:srgbClr val="14293B"/>
                </a:solidFill>
                <a:latin typeface="Arial" pitchFamily="34" charset="0"/>
                <a:ea typeface="Arial" pitchFamily="34" charset="-122"/>
                <a:cs typeface="Arial" pitchFamily="34" charset="-120"/>
              </a:rPr>
              <a:t>Core, pads, die y clock tree</a:t>
            </a:r>
            <a:endParaRPr lang="en-US" sz="2100" dirty="0"/>
          </a:p>
        </p:txBody>
      </p:sp>
      <p:sp>
        <p:nvSpPr>
          <p:cNvPr id="20" name="Shape 17"/>
          <p:cNvSpPr/>
          <p:nvPr/>
        </p:nvSpPr>
        <p:spPr>
          <a:xfrm>
            <a:off x="6437376" y="4654296"/>
            <a:ext cx="91440" cy="91440"/>
          </a:xfrm>
          <a:prstGeom prst="rect">
            <a:avLst/>
          </a:prstGeom>
          <a:solidFill>
            <a:srgbClr val="B36A10"/>
          </a:solidFill>
          <a:ln w="8255">
            <a:solidFill>
              <a:srgbClr val="B36A10"/>
            </a:solidFill>
            <a:prstDash val="solid"/>
          </a:ln>
        </p:spPr>
      </p:sp>
      <p:sp>
        <p:nvSpPr>
          <p:cNvPr id="21" name="Text 18"/>
          <p:cNvSpPr/>
          <p:nvPr/>
        </p:nvSpPr>
        <p:spPr>
          <a:xfrm>
            <a:off x="6702552" y="4562856"/>
            <a:ext cx="4572000" cy="365760"/>
          </a:xfrm>
          <a:prstGeom prst="rect">
            <a:avLst/>
          </a:prstGeom>
          <a:noFill/>
          <a:ln/>
        </p:spPr>
        <p:txBody>
          <a:bodyPr wrap="square" lIns="0" tIns="0" rIns="0" bIns="0" rtlCol="0" anchor="t"/>
          <a:lstStyle/>
          <a:p>
            <a:pPr indent="0" marL="0">
              <a:buNone/>
            </a:pPr>
            <a:r>
              <a:rPr lang="en-US" sz="2100" dirty="0">
                <a:solidFill>
                  <a:srgbClr val="14293B"/>
                </a:solidFill>
                <a:latin typeface="Arial" pitchFamily="34" charset="0"/>
                <a:ea typeface="Arial" pitchFamily="34" charset="-122"/>
                <a:cs typeface="Arial" pitchFamily="34" charset="-120"/>
              </a:rPr>
              <a:t>Potencia, frecuencia y STA</a:t>
            </a:r>
            <a:endParaRPr lang="en-US" sz="2100" dirty="0"/>
          </a:p>
        </p:txBody>
      </p:sp>
      <p:sp>
        <p:nvSpPr>
          <p:cNvPr id="22" name="Shape 19"/>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23" name="Text 20"/>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El área física de las conexiones se excluye; las conexiones lógicas se conservan.</a:t>
            </a:r>
            <a:endParaRPr lang="en-US" sz="1550" dirty="0"/>
          </a:p>
        </p:txBody>
      </p:sp>
      <p:sp>
        <p:nvSpPr>
          <p:cNvPr id="24" name="Shape 21"/>
          <p:cNvSpPr/>
          <p:nvPr/>
        </p:nvSpPr>
        <p:spPr>
          <a:xfrm>
            <a:off x="585216" y="6492240"/>
            <a:ext cx="11009376" cy="0"/>
          </a:xfrm>
          <a:prstGeom prst="line">
            <a:avLst/>
          </a:prstGeom>
          <a:noFill/>
          <a:ln w="8890">
            <a:solidFill>
              <a:srgbClr val="D9E2E9"/>
            </a:solidFill>
            <a:prstDash val="solid"/>
            <a:headEnd type="none"/>
            <a:tailEnd type="none"/>
          </a:ln>
        </p:spPr>
      </p:sp>
      <p:sp>
        <p:nvSpPr>
          <p:cNvPr id="25" name="Text 22"/>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F04 · F06 | infrastructure/liberty.py · summarize_netlist()</a:t>
            </a:r>
            <a:endParaRPr lang="en-US" sz="870" dirty="0"/>
          </a:p>
        </p:txBody>
      </p:sp>
      <p:sp>
        <p:nvSpPr>
          <p:cNvPr id="26" name="Text 23"/>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03 / 53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03 · CÓDIGO DE ORIGEN</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El objeto medido son once DPU registradas ya existentes</a:t>
            </a:r>
            <a:endParaRPr lang="en-US" sz="2800" dirty="0"/>
          </a:p>
        </p:txBody>
      </p:sp>
      <p:sp>
        <p:nvSpPr>
          <p:cNvPr id="6" name="Shape 3"/>
          <p:cNvSpPr/>
          <p:nvPr/>
        </p:nvSpPr>
        <p:spPr>
          <a:xfrm>
            <a:off x="685800" y="1874520"/>
            <a:ext cx="1965960" cy="429768"/>
          </a:xfrm>
          <a:prstGeom prst="rect">
            <a:avLst/>
          </a:prstGeom>
          <a:solidFill>
            <a:srgbClr val="14293B"/>
          </a:solidFill>
          <a:ln w="8255">
            <a:solidFill>
              <a:srgbClr val="F5F6F8"/>
            </a:solidFill>
            <a:prstDash val="solid"/>
          </a:ln>
        </p:spPr>
      </p:sp>
      <p:sp>
        <p:nvSpPr>
          <p:cNvPr id="7" name="Text 4"/>
          <p:cNvSpPr/>
          <p:nvPr/>
        </p:nvSpPr>
        <p:spPr>
          <a:xfrm>
            <a:off x="777240" y="1938528"/>
            <a:ext cx="178308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Perfil</a:t>
            </a:r>
            <a:endParaRPr lang="en-US" sz="1350" dirty="0"/>
          </a:p>
        </p:txBody>
      </p:sp>
      <p:sp>
        <p:nvSpPr>
          <p:cNvPr id="8" name="Shape 5"/>
          <p:cNvSpPr/>
          <p:nvPr/>
        </p:nvSpPr>
        <p:spPr>
          <a:xfrm>
            <a:off x="2651760" y="1874520"/>
            <a:ext cx="731520" cy="429768"/>
          </a:xfrm>
          <a:prstGeom prst="rect">
            <a:avLst/>
          </a:prstGeom>
          <a:solidFill>
            <a:srgbClr val="14293B"/>
          </a:solidFill>
          <a:ln w="8255">
            <a:solidFill>
              <a:srgbClr val="F5F6F8"/>
            </a:solidFill>
            <a:prstDash val="solid"/>
          </a:ln>
        </p:spPr>
      </p:sp>
      <p:sp>
        <p:nvSpPr>
          <p:cNvPr id="9" name="Text 6"/>
          <p:cNvSpPr/>
          <p:nvPr/>
        </p:nvSpPr>
        <p:spPr>
          <a:xfrm>
            <a:off x="2743200" y="1938528"/>
            <a:ext cx="54864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A/B</a:t>
            </a:r>
            <a:endParaRPr lang="en-US" sz="1350" dirty="0"/>
          </a:p>
        </p:txBody>
      </p:sp>
      <p:sp>
        <p:nvSpPr>
          <p:cNvPr id="10" name="Shape 7"/>
          <p:cNvSpPr/>
          <p:nvPr/>
        </p:nvSpPr>
        <p:spPr>
          <a:xfrm>
            <a:off x="3383280" y="1874520"/>
            <a:ext cx="731520" cy="429768"/>
          </a:xfrm>
          <a:prstGeom prst="rect">
            <a:avLst/>
          </a:prstGeom>
          <a:solidFill>
            <a:srgbClr val="14293B"/>
          </a:solidFill>
          <a:ln w="8255">
            <a:solidFill>
              <a:srgbClr val="F5F6F8"/>
            </a:solidFill>
            <a:prstDash val="solid"/>
          </a:ln>
        </p:spPr>
      </p:sp>
      <p:sp>
        <p:nvSpPr>
          <p:cNvPr id="11" name="Text 8"/>
          <p:cNvSpPr/>
          <p:nvPr/>
        </p:nvSpPr>
        <p:spPr>
          <a:xfrm>
            <a:off x="3474720" y="1938528"/>
            <a:ext cx="54864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C/R</a:t>
            </a:r>
            <a:endParaRPr lang="en-US" sz="1350" dirty="0"/>
          </a:p>
        </p:txBody>
      </p:sp>
      <p:sp>
        <p:nvSpPr>
          <p:cNvPr id="12" name="Shape 9"/>
          <p:cNvSpPr/>
          <p:nvPr/>
        </p:nvSpPr>
        <p:spPr>
          <a:xfrm>
            <a:off x="4114800" y="1874520"/>
            <a:ext cx="2560320" cy="429768"/>
          </a:xfrm>
          <a:prstGeom prst="rect">
            <a:avLst/>
          </a:prstGeom>
          <a:solidFill>
            <a:srgbClr val="14293B"/>
          </a:solidFill>
          <a:ln w="8255">
            <a:solidFill>
              <a:srgbClr val="F5F6F8"/>
            </a:solidFill>
            <a:prstDash val="solid"/>
          </a:ln>
        </p:spPr>
      </p:sp>
      <p:sp>
        <p:nvSpPr>
          <p:cNvPr id="13" name="Text 10"/>
          <p:cNvSpPr/>
          <p:nvPr/>
        </p:nvSpPr>
        <p:spPr>
          <a:xfrm>
            <a:off x="4206240" y="1938528"/>
            <a:ext cx="237744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Registros declarados</a:t>
            </a:r>
            <a:endParaRPr lang="en-US" sz="1350" dirty="0"/>
          </a:p>
        </p:txBody>
      </p:sp>
      <p:sp>
        <p:nvSpPr>
          <p:cNvPr id="14" name="Shape 11"/>
          <p:cNvSpPr/>
          <p:nvPr/>
        </p:nvSpPr>
        <p:spPr>
          <a:xfrm>
            <a:off x="6675120" y="1874520"/>
            <a:ext cx="4297680" cy="429768"/>
          </a:xfrm>
          <a:prstGeom prst="rect">
            <a:avLst/>
          </a:prstGeom>
          <a:solidFill>
            <a:srgbClr val="14293B"/>
          </a:solidFill>
          <a:ln w="8255">
            <a:solidFill>
              <a:srgbClr val="F5F6F8"/>
            </a:solidFill>
            <a:prstDash val="solid"/>
          </a:ln>
        </p:spPr>
      </p:sp>
      <p:sp>
        <p:nvSpPr>
          <p:cNvPr id="15" name="Text 12"/>
          <p:cNvSpPr/>
          <p:nvPr/>
        </p:nvSpPr>
        <p:spPr>
          <a:xfrm>
            <a:off x="6766560" y="1938528"/>
            <a:ext cx="411480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Particularidad</a:t>
            </a:r>
            <a:endParaRPr lang="en-US" sz="1350" dirty="0"/>
          </a:p>
        </p:txBody>
      </p:sp>
      <p:sp>
        <p:nvSpPr>
          <p:cNvPr id="16" name="Shape 13"/>
          <p:cNvSpPr/>
          <p:nvPr/>
        </p:nvSpPr>
        <p:spPr>
          <a:xfrm>
            <a:off x="685800" y="2304288"/>
            <a:ext cx="1965960" cy="329184"/>
          </a:xfrm>
          <a:prstGeom prst="rect">
            <a:avLst/>
          </a:prstGeom>
          <a:solidFill>
            <a:srgbClr val="FFFFFF"/>
          </a:solidFill>
          <a:ln w="8255">
            <a:solidFill>
              <a:srgbClr val="F5F6F8"/>
            </a:solidFill>
            <a:prstDash val="solid"/>
          </a:ln>
        </p:spPr>
      </p:sp>
      <p:sp>
        <p:nvSpPr>
          <p:cNvPr id="17" name="Text 14"/>
          <p:cNvSpPr/>
          <p:nvPr/>
        </p:nvSpPr>
        <p:spPr>
          <a:xfrm>
            <a:off x="777240" y="2368296"/>
            <a:ext cx="178308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int8_16</a:t>
            </a:r>
            <a:endParaRPr lang="en-US" sz="1350" dirty="0"/>
          </a:p>
        </p:txBody>
      </p:sp>
      <p:sp>
        <p:nvSpPr>
          <p:cNvPr id="18" name="Shape 15"/>
          <p:cNvSpPr/>
          <p:nvPr/>
        </p:nvSpPr>
        <p:spPr>
          <a:xfrm>
            <a:off x="2651760" y="2304288"/>
            <a:ext cx="731520" cy="329184"/>
          </a:xfrm>
          <a:prstGeom prst="rect">
            <a:avLst/>
          </a:prstGeom>
          <a:solidFill>
            <a:srgbClr val="FFFFFF"/>
          </a:solidFill>
          <a:ln w="8255">
            <a:solidFill>
              <a:srgbClr val="F5F6F8"/>
            </a:solidFill>
            <a:prstDash val="solid"/>
          </a:ln>
        </p:spPr>
      </p:sp>
      <p:sp>
        <p:nvSpPr>
          <p:cNvPr id="19" name="Text 16"/>
          <p:cNvSpPr/>
          <p:nvPr/>
        </p:nvSpPr>
        <p:spPr>
          <a:xfrm>
            <a:off x="2743200" y="2368296"/>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8</a:t>
            </a:r>
            <a:endParaRPr lang="en-US" sz="1350" dirty="0"/>
          </a:p>
        </p:txBody>
      </p:sp>
      <p:sp>
        <p:nvSpPr>
          <p:cNvPr id="20" name="Shape 17"/>
          <p:cNvSpPr/>
          <p:nvPr/>
        </p:nvSpPr>
        <p:spPr>
          <a:xfrm>
            <a:off x="3383280" y="2304288"/>
            <a:ext cx="731520" cy="329184"/>
          </a:xfrm>
          <a:prstGeom prst="rect">
            <a:avLst/>
          </a:prstGeom>
          <a:solidFill>
            <a:srgbClr val="FFFFFF"/>
          </a:solidFill>
          <a:ln w="8255">
            <a:solidFill>
              <a:srgbClr val="F5F6F8"/>
            </a:solidFill>
            <a:prstDash val="solid"/>
          </a:ln>
        </p:spPr>
      </p:sp>
      <p:sp>
        <p:nvSpPr>
          <p:cNvPr id="21" name="Text 18"/>
          <p:cNvSpPr/>
          <p:nvPr/>
        </p:nvSpPr>
        <p:spPr>
          <a:xfrm>
            <a:off x="3474720" y="2368296"/>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16</a:t>
            </a:r>
            <a:endParaRPr lang="en-US" sz="1350" dirty="0"/>
          </a:p>
        </p:txBody>
      </p:sp>
      <p:sp>
        <p:nvSpPr>
          <p:cNvPr id="22" name="Shape 19"/>
          <p:cNvSpPr/>
          <p:nvPr/>
        </p:nvSpPr>
        <p:spPr>
          <a:xfrm>
            <a:off x="4114800" y="2304288"/>
            <a:ext cx="2560320" cy="329184"/>
          </a:xfrm>
          <a:prstGeom prst="rect">
            <a:avLst/>
          </a:prstGeom>
          <a:solidFill>
            <a:srgbClr val="FFFFFF"/>
          </a:solidFill>
          <a:ln w="8255">
            <a:solidFill>
              <a:srgbClr val="F5F6F8"/>
            </a:solidFill>
            <a:prstDash val="solid"/>
          </a:ln>
        </p:spPr>
      </p:sp>
      <p:sp>
        <p:nvSpPr>
          <p:cNvPr id="23" name="Text 20"/>
          <p:cNvSpPr/>
          <p:nvPr/>
        </p:nvSpPr>
        <p:spPr>
          <a:xfrm>
            <a:off x="4206240" y="2368296"/>
            <a:ext cx="23774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96</a:t>
            </a:r>
            <a:endParaRPr lang="en-US" sz="1350" dirty="0"/>
          </a:p>
        </p:txBody>
      </p:sp>
      <p:sp>
        <p:nvSpPr>
          <p:cNvPr id="24" name="Shape 21"/>
          <p:cNvSpPr/>
          <p:nvPr/>
        </p:nvSpPr>
        <p:spPr>
          <a:xfrm>
            <a:off x="6675120" y="2304288"/>
            <a:ext cx="4297680" cy="329184"/>
          </a:xfrm>
          <a:prstGeom prst="rect">
            <a:avLst/>
          </a:prstGeom>
          <a:solidFill>
            <a:srgbClr val="FFFFFF"/>
          </a:solidFill>
          <a:ln w="8255">
            <a:solidFill>
              <a:srgbClr val="F5F6F8"/>
            </a:solidFill>
            <a:prstDash val="solid"/>
          </a:ln>
        </p:spPr>
      </p:sp>
      <p:sp>
        <p:nvSpPr>
          <p:cNvPr id="25" name="Text 22"/>
          <p:cNvSpPr/>
          <p:nvPr/>
        </p:nvSpPr>
        <p:spPr>
          <a:xfrm>
            <a:off x="6766560" y="2368296"/>
            <a:ext cx="411480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Referencia entera</a:t>
            </a:r>
            <a:endParaRPr lang="en-US" sz="1350" dirty="0"/>
          </a:p>
        </p:txBody>
      </p:sp>
      <p:sp>
        <p:nvSpPr>
          <p:cNvPr id="26" name="Shape 23"/>
          <p:cNvSpPr/>
          <p:nvPr/>
        </p:nvSpPr>
        <p:spPr>
          <a:xfrm>
            <a:off x="685800" y="2633472"/>
            <a:ext cx="1965960" cy="329184"/>
          </a:xfrm>
          <a:prstGeom prst="rect">
            <a:avLst/>
          </a:prstGeom>
          <a:solidFill>
            <a:srgbClr val="EAF0F5"/>
          </a:solidFill>
          <a:ln w="8255">
            <a:solidFill>
              <a:srgbClr val="F5F6F8"/>
            </a:solidFill>
            <a:prstDash val="solid"/>
          </a:ln>
        </p:spPr>
      </p:sp>
      <p:sp>
        <p:nvSpPr>
          <p:cNvPr id="27" name="Text 24"/>
          <p:cNvSpPr/>
          <p:nvPr/>
        </p:nvSpPr>
        <p:spPr>
          <a:xfrm>
            <a:off x="777240" y="2697480"/>
            <a:ext cx="178308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int16_32</a:t>
            </a:r>
            <a:endParaRPr lang="en-US" sz="1350" dirty="0"/>
          </a:p>
        </p:txBody>
      </p:sp>
      <p:sp>
        <p:nvSpPr>
          <p:cNvPr id="28" name="Shape 25"/>
          <p:cNvSpPr/>
          <p:nvPr/>
        </p:nvSpPr>
        <p:spPr>
          <a:xfrm>
            <a:off x="2651760" y="2633472"/>
            <a:ext cx="731520" cy="329184"/>
          </a:xfrm>
          <a:prstGeom prst="rect">
            <a:avLst/>
          </a:prstGeom>
          <a:solidFill>
            <a:srgbClr val="EAF0F5"/>
          </a:solidFill>
          <a:ln w="8255">
            <a:solidFill>
              <a:srgbClr val="F5F6F8"/>
            </a:solidFill>
            <a:prstDash val="solid"/>
          </a:ln>
        </p:spPr>
      </p:sp>
      <p:sp>
        <p:nvSpPr>
          <p:cNvPr id="29" name="Text 26"/>
          <p:cNvSpPr/>
          <p:nvPr/>
        </p:nvSpPr>
        <p:spPr>
          <a:xfrm>
            <a:off x="2743200" y="2697480"/>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16</a:t>
            </a:r>
            <a:endParaRPr lang="en-US" sz="1350" dirty="0"/>
          </a:p>
        </p:txBody>
      </p:sp>
      <p:sp>
        <p:nvSpPr>
          <p:cNvPr id="30" name="Shape 27"/>
          <p:cNvSpPr/>
          <p:nvPr/>
        </p:nvSpPr>
        <p:spPr>
          <a:xfrm>
            <a:off x="3383280" y="2633472"/>
            <a:ext cx="731520" cy="329184"/>
          </a:xfrm>
          <a:prstGeom prst="rect">
            <a:avLst/>
          </a:prstGeom>
          <a:solidFill>
            <a:srgbClr val="EAF0F5"/>
          </a:solidFill>
          <a:ln w="8255">
            <a:solidFill>
              <a:srgbClr val="F5F6F8"/>
            </a:solidFill>
            <a:prstDash val="solid"/>
          </a:ln>
        </p:spPr>
      </p:sp>
      <p:sp>
        <p:nvSpPr>
          <p:cNvPr id="31" name="Text 28"/>
          <p:cNvSpPr/>
          <p:nvPr/>
        </p:nvSpPr>
        <p:spPr>
          <a:xfrm>
            <a:off x="3474720" y="2697480"/>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32</a:t>
            </a:r>
            <a:endParaRPr lang="en-US" sz="1350" dirty="0"/>
          </a:p>
        </p:txBody>
      </p:sp>
      <p:sp>
        <p:nvSpPr>
          <p:cNvPr id="32" name="Shape 29"/>
          <p:cNvSpPr/>
          <p:nvPr/>
        </p:nvSpPr>
        <p:spPr>
          <a:xfrm>
            <a:off x="4114800" y="2633472"/>
            <a:ext cx="2560320" cy="329184"/>
          </a:xfrm>
          <a:prstGeom prst="rect">
            <a:avLst/>
          </a:prstGeom>
          <a:solidFill>
            <a:srgbClr val="EAF0F5"/>
          </a:solidFill>
          <a:ln w="8255">
            <a:solidFill>
              <a:srgbClr val="F5F6F8"/>
            </a:solidFill>
            <a:prstDash val="solid"/>
          </a:ln>
        </p:spPr>
      </p:sp>
      <p:sp>
        <p:nvSpPr>
          <p:cNvPr id="33" name="Text 30"/>
          <p:cNvSpPr/>
          <p:nvPr/>
        </p:nvSpPr>
        <p:spPr>
          <a:xfrm>
            <a:off x="4206240" y="2697480"/>
            <a:ext cx="23774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192</a:t>
            </a:r>
            <a:endParaRPr lang="en-US" sz="1350" dirty="0"/>
          </a:p>
        </p:txBody>
      </p:sp>
      <p:sp>
        <p:nvSpPr>
          <p:cNvPr id="34" name="Shape 31"/>
          <p:cNvSpPr/>
          <p:nvPr/>
        </p:nvSpPr>
        <p:spPr>
          <a:xfrm>
            <a:off x="6675120" y="2633472"/>
            <a:ext cx="4297680" cy="329184"/>
          </a:xfrm>
          <a:prstGeom prst="rect">
            <a:avLst/>
          </a:prstGeom>
          <a:solidFill>
            <a:srgbClr val="EAF0F5"/>
          </a:solidFill>
          <a:ln w="8255">
            <a:solidFill>
              <a:srgbClr val="F5F6F8"/>
            </a:solidFill>
            <a:prstDash val="solid"/>
          </a:ln>
        </p:spPr>
      </p:sp>
      <p:sp>
        <p:nvSpPr>
          <p:cNvPr id="35" name="Text 32"/>
          <p:cNvSpPr/>
          <p:nvPr/>
        </p:nvSpPr>
        <p:spPr>
          <a:xfrm>
            <a:off x="6766560" y="2697480"/>
            <a:ext cx="411480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Referencia entera</a:t>
            </a:r>
            <a:endParaRPr lang="en-US" sz="1350" dirty="0"/>
          </a:p>
        </p:txBody>
      </p:sp>
      <p:sp>
        <p:nvSpPr>
          <p:cNvPr id="36" name="Shape 33"/>
          <p:cNvSpPr/>
          <p:nvPr/>
        </p:nvSpPr>
        <p:spPr>
          <a:xfrm>
            <a:off x="685800" y="2962656"/>
            <a:ext cx="1965960" cy="329184"/>
          </a:xfrm>
          <a:prstGeom prst="rect">
            <a:avLst/>
          </a:prstGeom>
          <a:solidFill>
            <a:srgbClr val="FFFFFF"/>
          </a:solidFill>
          <a:ln w="8255">
            <a:solidFill>
              <a:srgbClr val="F5F6F8"/>
            </a:solidFill>
            <a:prstDash val="solid"/>
          </a:ln>
        </p:spPr>
      </p:sp>
      <p:sp>
        <p:nvSpPr>
          <p:cNvPr id="37" name="Text 34"/>
          <p:cNvSpPr/>
          <p:nvPr/>
        </p:nvSpPr>
        <p:spPr>
          <a:xfrm>
            <a:off x="777240" y="3026664"/>
            <a:ext cx="178308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fxp8_16</a:t>
            </a:r>
            <a:endParaRPr lang="en-US" sz="1350" dirty="0"/>
          </a:p>
        </p:txBody>
      </p:sp>
      <p:sp>
        <p:nvSpPr>
          <p:cNvPr id="38" name="Shape 35"/>
          <p:cNvSpPr/>
          <p:nvPr/>
        </p:nvSpPr>
        <p:spPr>
          <a:xfrm>
            <a:off x="2651760" y="2962656"/>
            <a:ext cx="731520" cy="329184"/>
          </a:xfrm>
          <a:prstGeom prst="rect">
            <a:avLst/>
          </a:prstGeom>
          <a:solidFill>
            <a:srgbClr val="FFFFFF"/>
          </a:solidFill>
          <a:ln w="8255">
            <a:solidFill>
              <a:srgbClr val="F5F6F8"/>
            </a:solidFill>
            <a:prstDash val="solid"/>
          </a:ln>
        </p:spPr>
      </p:sp>
      <p:sp>
        <p:nvSpPr>
          <p:cNvPr id="39" name="Text 36"/>
          <p:cNvSpPr/>
          <p:nvPr/>
        </p:nvSpPr>
        <p:spPr>
          <a:xfrm>
            <a:off x="2743200" y="3026664"/>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8</a:t>
            </a:r>
            <a:endParaRPr lang="en-US" sz="1350" dirty="0"/>
          </a:p>
        </p:txBody>
      </p:sp>
      <p:sp>
        <p:nvSpPr>
          <p:cNvPr id="40" name="Shape 37"/>
          <p:cNvSpPr/>
          <p:nvPr/>
        </p:nvSpPr>
        <p:spPr>
          <a:xfrm>
            <a:off x="3383280" y="2962656"/>
            <a:ext cx="731520" cy="329184"/>
          </a:xfrm>
          <a:prstGeom prst="rect">
            <a:avLst/>
          </a:prstGeom>
          <a:solidFill>
            <a:srgbClr val="FFFFFF"/>
          </a:solidFill>
          <a:ln w="8255">
            <a:solidFill>
              <a:srgbClr val="F5F6F8"/>
            </a:solidFill>
            <a:prstDash val="solid"/>
          </a:ln>
        </p:spPr>
      </p:sp>
      <p:sp>
        <p:nvSpPr>
          <p:cNvPr id="41" name="Text 38"/>
          <p:cNvSpPr/>
          <p:nvPr/>
        </p:nvSpPr>
        <p:spPr>
          <a:xfrm>
            <a:off x="3474720" y="3026664"/>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16</a:t>
            </a:r>
            <a:endParaRPr lang="en-US" sz="1350" dirty="0"/>
          </a:p>
        </p:txBody>
      </p:sp>
      <p:sp>
        <p:nvSpPr>
          <p:cNvPr id="42" name="Shape 39"/>
          <p:cNvSpPr/>
          <p:nvPr/>
        </p:nvSpPr>
        <p:spPr>
          <a:xfrm>
            <a:off x="4114800" y="2962656"/>
            <a:ext cx="2560320" cy="329184"/>
          </a:xfrm>
          <a:prstGeom prst="rect">
            <a:avLst/>
          </a:prstGeom>
          <a:solidFill>
            <a:srgbClr val="FFFFFF"/>
          </a:solidFill>
          <a:ln w="8255">
            <a:solidFill>
              <a:srgbClr val="F5F6F8"/>
            </a:solidFill>
            <a:prstDash val="solid"/>
          </a:ln>
        </p:spPr>
      </p:sp>
      <p:sp>
        <p:nvSpPr>
          <p:cNvPr id="43" name="Text 40"/>
          <p:cNvSpPr/>
          <p:nvPr/>
        </p:nvSpPr>
        <p:spPr>
          <a:xfrm>
            <a:off x="4206240" y="3026664"/>
            <a:ext cx="23774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96</a:t>
            </a:r>
            <a:endParaRPr lang="en-US" sz="1350" dirty="0"/>
          </a:p>
        </p:txBody>
      </p:sp>
      <p:sp>
        <p:nvSpPr>
          <p:cNvPr id="44" name="Shape 41"/>
          <p:cNvSpPr/>
          <p:nvPr/>
        </p:nvSpPr>
        <p:spPr>
          <a:xfrm>
            <a:off x="6675120" y="2962656"/>
            <a:ext cx="4297680" cy="329184"/>
          </a:xfrm>
          <a:prstGeom prst="rect">
            <a:avLst/>
          </a:prstGeom>
          <a:solidFill>
            <a:srgbClr val="FFFFFF"/>
          </a:solidFill>
          <a:ln w="8255">
            <a:solidFill>
              <a:srgbClr val="F5F6F8"/>
            </a:solidFill>
            <a:prstDash val="solid"/>
          </a:ln>
        </p:spPr>
      </p:sp>
      <p:sp>
        <p:nvSpPr>
          <p:cNvPr id="45" name="Text 42"/>
          <p:cNvSpPr/>
          <p:nvPr/>
        </p:nvSpPr>
        <p:spPr>
          <a:xfrm>
            <a:off x="6766560" y="3026664"/>
            <a:ext cx="411480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MAC del RTL</a:t>
            </a:r>
            <a:endParaRPr lang="en-US" sz="1350" dirty="0"/>
          </a:p>
        </p:txBody>
      </p:sp>
      <p:sp>
        <p:nvSpPr>
          <p:cNvPr id="46" name="Shape 43"/>
          <p:cNvSpPr/>
          <p:nvPr/>
        </p:nvSpPr>
        <p:spPr>
          <a:xfrm>
            <a:off x="685800" y="3291840"/>
            <a:ext cx="1965960" cy="329184"/>
          </a:xfrm>
          <a:prstGeom prst="rect">
            <a:avLst/>
          </a:prstGeom>
          <a:solidFill>
            <a:srgbClr val="EAF0F5"/>
          </a:solidFill>
          <a:ln w="8255">
            <a:solidFill>
              <a:srgbClr val="F5F6F8"/>
            </a:solidFill>
            <a:prstDash val="solid"/>
          </a:ln>
        </p:spPr>
      </p:sp>
      <p:sp>
        <p:nvSpPr>
          <p:cNvPr id="47" name="Text 44"/>
          <p:cNvSpPr/>
          <p:nvPr/>
        </p:nvSpPr>
        <p:spPr>
          <a:xfrm>
            <a:off x="777240" y="3355848"/>
            <a:ext cx="178308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fxp16_32</a:t>
            </a:r>
            <a:endParaRPr lang="en-US" sz="1350" dirty="0"/>
          </a:p>
        </p:txBody>
      </p:sp>
      <p:sp>
        <p:nvSpPr>
          <p:cNvPr id="48" name="Shape 45"/>
          <p:cNvSpPr/>
          <p:nvPr/>
        </p:nvSpPr>
        <p:spPr>
          <a:xfrm>
            <a:off x="2651760" y="3291840"/>
            <a:ext cx="731520" cy="329184"/>
          </a:xfrm>
          <a:prstGeom prst="rect">
            <a:avLst/>
          </a:prstGeom>
          <a:solidFill>
            <a:srgbClr val="EAF0F5"/>
          </a:solidFill>
          <a:ln w="8255">
            <a:solidFill>
              <a:srgbClr val="F5F6F8"/>
            </a:solidFill>
            <a:prstDash val="solid"/>
          </a:ln>
        </p:spPr>
      </p:sp>
      <p:sp>
        <p:nvSpPr>
          <p:cNvPr id="49" name="Text 46"/>
          <p:cNvSpPr/>
          <p:nvPr/>
        </p:nvSpPr>
        <p:spPr>
          <a:xfrm>
            <a:off x="2743200" y="3355848"/>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16</a:t>
            </a:r>
            <a:endParaRPr lang="en-US" sz="1350" dirty="0"/>
          </a:p>
        </p:txBody>
      </p:sp>
      <p:sp>
        <p:nvSpPr>
          <p:cNvPr id="50" name="Shape 47"/>
          <p:cNvSpPr/>
          <p:nvPr/>
        </p:nvSpPr>
        <p:spPr>
          <a:xfrm>
            <a:off x="3383280" y="3291840"/>
            <a:ext cx="731520" cy="329184"/>
          </a:xfrm>
          <a:prstGeom prst="rect">
            <a:avLst/>
          </a:prstGeom>
          <a:solidFill>
            <a:srgbClr val="EAF0F5"/>
          </a:solidFill>
          <a:ln w="8255">
            <a:solidFill>
              <a:srgbClr val="F5F6F8"/>
            </a:solidFill>
            <a:prstDash val="solid"/>
          </a:ln>
        </p:spPr>
      </p:sp>
      <p:sp>
        <p:nvSpPr>
          <p:cNvPr id="51" name="Text 48"/>
          <p:cNvSpPr/>
          <p:nvPr/>
        </p:nvSpPr>
        <p:spPr>
          <a:xfrm>
            <a:off x="3474720" y="3355848"/>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32</a:t>
            </a:r>
            <a:endParaRPr lang="en-US" sz="1350" dirty="0"/>
          </a:p>
        </p:txBody>
      </p:sp>
      <p:sp>
        <p:nvSpPr>
          <p:cNvPr id="52" name="Shape 49"/>
          <p:cNvSpPr/>
          <p:nvPr/>
        </p:nvSpPr>
        <p:spPr>
          <a:xfrm>
            <a:off x="4114800" y="3291840"/>
            <a:ext cx="2560320" cy="329184"/>
          </a:xfrm>
          <a:prstGeom prst="rect">
            <a:avLst/>
          </a:prstGeom>
          <a:solidFill>
            <a:srgbClr val="EAF0F5"/>
          </a:solidFill>
          <a:ln w="8255">
            <a:solidFill>
              <a:srgbClr val="F5F6F8"/>
            </a:solidFill>
            <a:prstDash val="solid"/>
          </a:ln>
        </p:spPr>
      </p:sp>
      <p:sp>
        <p:nvSpPr>
          <p:cNvPr id="53" name="Text 50"/>
          <p:cNvSpPr/>
          <p:nvPr/>
        </p:nvSpPr>
        <p:spPr>
          <a:xfrm>
            <a:off x="4206240" y="3355848"/>
            <a:ext cx="23774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192</a:t>
            </a:r>
            <a:endParaRPr lang="en-US" sz="1350" dirty="0"/>
          </a:p>
        </p:txBody>
      </p:sp>
      <p:sp>
        <p:nvSpPr>
          <p:cNvPr id="54" name="Shape 51"/>
          <p:cNvSpPr/>
          <p:nvPr/>
        </p:nvSpPr>
        <p:spPr>
          <a:xfrm>
            <a:off x="6675120" y="3291840"/>
            <a:ext cx="4297680" cy="329184"/>
          </a:xfrm>
          <a:prstGeom prst="rect">
            <a:avLst/>
          </a:prstGeom>
          <a:solidFill>
            <a:srgbClr val="EAF0F5"/>
          </a:solidFill>
          <a:ln w="8255">
            <a:solidFill>
              <a:srgbClr val="F5F6F8"/>
            </a:solidFill>
            <a:prstDash val="solid"/>
          </a:ln>
        </p:spPr>
      </p:sp>
      <p:sp>
        <p:nvSpPr>
          <p:cNvPr id="55" name="Text 52"/>
          <p:cNvSpPr/>
          <p:nvPr/>
        </p:nvSpPr>
        <p:spPr>
          <a:xfrm>
            <a:off x="6766560" y="3355848"/>
            <a:ext cx="411480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MAC del RTL</a:t>
            </a:r>
            <a:endParaRPr lang="en-US" sz="1350" dirty="0"/>
          </a:p>
        </p:txBody>
      </p:sp>
      <p:sp>
        <p:nvSpPr>
          <p:cNvPr id="56" name="Shape 53"/>
          <p:cNvSpPr/>
          <p:nvPr/>
        </p:nvSpPr>
        <p:spPr>
          <a:xfrm>
            <a:off x="685800" y="3621024"/>
            <a:ext cx="1965960" cy="329184"/>
          </a:xfrm>
          <a:prstGeom prst="rect">
            <a:avLst/>
          </a:prstGeom>
          <a:solidFill>
            <a:srgbClr val="FFFFFF"/>
          </a:solidFill>
          <a:ln w="8255">
            <a:solidFill>
              <a:srgbClr val="F5F6F8"/>
            </a:solidFill>
            <a:prstDash val="solid"/>
          </a:ln>
        </p:spPr>
      </p:sp>
      <p:sp>
        <p:nvSpPr>
          <p:cNvPr id="57" name="Text 54"/>
          <p:cNvSpPr/>
          <p:nvPr/>
        </p:nvSpPr>
        <p:spPr>
          <a:xfrm>
            <a:off x="777240" y="3685032"/>
            <a:ext cx="178308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fp8</a:t>
            </a:r>
            <a:endParaRPr lang="en-US" sz="1350" dirty="0"/>
          </a:p>
        </p:txBody>
      </p:sp>
      <p:sp>
        <p:nvSpPr>
          <p:cNvPr id="58" name="Shape 55"/>
          <p:cNvSpPr/>
          <p:nvPr/>
        </p:nvSpPr>
        <p:spPr>
          <a:xfrm>
            <a:off x="2651760" y="3621024"/>
            <a:ext cx="731520" cy="329184"/>
          </a:xfrm>
          <a:prstGeom prst="rect">
            <a:avLst/>
          </a:prstGeom>
          <a:solidFill>
            <a:srgbClr val="FFFFFF"/>
          </a:solidFill>
          <a:ln w="8255">
            <a:solidFill>
              <a:srgbClr val="F5F6F8"/>
            </a:solidFill>
            <a:prstDash val="solid"/>
          </a:ln>
        </p:spPr>
      </p:sp>
      <p:sp>
        <p:nvSpPr>
          <p:cNvPr id="59" name="Text 56"/>
          <p:cNvSpPr/>
          <p:nvPr/>
        </p:nvSpPr>
        <p:spPr>
          <a:xfrm>
            <a:off x="2743200" y="3685032"/>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8</a:t>
            </a:r>
            <a:endParaRPr lang="en-US" sz="1350" dirty="0"/>
          </a:p>
        </p:txBody>
      </p:sp>
      <p:sp>
        <p:nvSpPr>
          <p:cNvPr id="60" name="Shape 57"/>
          <p:cNvSpPr/>
          <p:nvPr/>
        </p:nvSpPr>
        <p:spPr>
          <a:xfrm>
            <a:off x="3383280" y="3621024"/>
            <a:ext cx="731520" cy="329184"/>
          </a:xfrm>
          <a:prstGeom prst="rect">
            <a:avLst/>
          </a:prstGeom>
          <a:solidFill>
            <a:srgbClr val="FFFFFF"/>
          </a:solidFill>
          <a:ln w="8255">
            <a:solidFill>
              <a:srgbClr val="F5F6F8"/>
            </a:solidFill>
            <a:prstDash val="solid"/>
          </a:ln>
        </p:spPr>
      </p:sp>
      <p:sp>
        <p:nvSpPr>
          <p:cNvPr id="61" name="Text 58"/>
          <p:cNvSpPr/>
          <p:nvPr/>
        </p:nvSpPr>
        <p:spPr>
          <a:xfrm>
            <a:off x="3474720" y="3685032"/>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8</a:t>
            </a:r>
            <a:endParaRPr lang="en-US" sz="1350" dirty="0"/>
          </a:p>
        </p:txBody>
      </p:sp>
      <p:sp>
        <p:nvSpPr>
          <p:cNvPr id="62" name="Shape 59"/>
          <p:cNvSpPr/>
          <p:nvPr/>
        </p:nvSpPr>
        <p:spPr>
          <a:xfrm>
            <a:off x="4114800" y="3621024"/>
            <a:ext cx="2560320" cy="329184"/>
          </a:xfrm>
          <a:prstGeom prst="rect">
            <a:avLst/>
          </a:prstGeom>
          <a:solidFill>
            <a:srgbClr val="FFFFFF"/>
          </a:solidFill>
          <a:ln w="8255">
            <a:solidFill>
              <a:srgbClr val="F5F6F8"/>
            </a:solidFill>
            <a:prstDash val="solid"/>
          </a:ln>
        </p:spPr>
      </p:sp>
      <p:sp>
        <p:nvSpPr>
          <p:cNvPr id="63" name="Text 60"/>
          <p:cNvSpPr/>
          <p:nvPr/>
        </p:nvSpPr>
        <p:spPr>
          <a:xfrm>
            <a:off x="4206240" y="3685032"/>
            <a:ext cx="23774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80</a:t>
            </a:r>
            <a:endParaRPr lang="en-US" sz="1350" dirty="0"/>
          </a:p>
        </p:txBody>
      </p:sp>
      <p:sp>
        <p:nvSpPr>
          <p:cNvPr id="64" name="Shape 61"/>
          <p:cNvSpPr/>
          <p:nvPr/>
        </p:nvSpPr>
        <p:spPr>
          <a:xfrm>
            <a:off x="6675120" y="3621024"/>
            <a:ext cx="4297680" cy="329184"/>
          </a:xfrm>
          <a:prstGeom prst="rect">
            <a:avLst/>
          </a:prstGeom>
          <a:solidFill>
            <a:srgbClr val="FFFFFF"/>
          </a:solidFill>
          <a:ln w="8255">
            <a:solidFill>
              <a:srgbClr val="F5F6F8"/>
            </a:solidFill>
            <a:prstDash val="solid"/>
          </a:ln>
        </p:spPr>
      </p:sp>
      <p:sp>
        <p:nvSpPr>
          <p:cNvPr id="65" name="Text 62"/>
          <p:cNvSpPr/>
          <p:nvPr/>
        </p:nvSpPr>
        <p:spPr>
          <a:xfrm>
            <a:off x="6766560" y="3685032"/>
            <a:ext cx="411480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FMA del RTL</a:t>
            </a:r>
            <a:endParaRPr lang="en-US" sz="1350" dirty="0"/>
          </a:p>
        </p:txBody>
      </p:sp>
      <p:sp>
        <p:nvSpPr>
          <p:cNvPr id="66" name="Shape 63"/>
          <p:cNvSpPr/>
          <p:nvPr/>
        </p:nvSpPr>
        <p:spPr>
          <a:xfrm>
            <a:off x="685800" y="3950208"/>
            <a:ext cx="1965960" cy="329184"/>
          </a:xfrm>
          <a:prstGeom prst="rect">
            <a:avLst/>
          </a:prstGeom>
          <a:solidFill>
            <a:srgbClr val="EAF0F5"/>
          </a:solidFill>
          <a:ln w="8255">
            <a:solidFill>
              <a:srgbClr val="F5F6F8"/>
            </a:solidFill>
            <a:prstDash val="solid"/>
          </a:ln>
        </p:spPr>
      </p:sp>
      <p:sp>
        <p:nvSpPr>
          <p:cNvPr id="67" name="Text 64"/>
          <p:cNvSpPr/>
          <p:nvPr/>
        </p:nvSpPr>
        <p:spPr>
          <a:xfrm>
            <a:off x="777240" y="4014216"/>
            <a:ext cx="178308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fp16</a:t>
            </a:r>
            <a:endParaRPr lang="en-US" sz="1350" dirty="0"/>
          </a:p>
        </p:txBody>
      </p:sp>
      <p:sp>
        <p:nvSpPr>
          <p:cNvPr id="68" name="Shape 65"/>
          <p:cNvSpPr/>
          <p:nvPr/>
        </p:nvSpPr>
        <p:spPr>
          <a:xfrm>
            <a:off x="2651760" y="3950208"/>
            <a:ext cx="731520" cy="329184"/>
          </a:xfrm>
          <a:prstGeom prst="rect">
            <a:avLst/>
          </a:prstGeom>
          <a:solidFill>
            <a:srgbClr val="EAF0F5"/>
          </a:solidFill>
          <a:ln w="8255">
            <a:solidFill>
              <a:srgbClr val="F5F6F8"/>
            </a:solidFill>
            <a:prstDash val="solid"/>
          </a:ln>
        </p:spPr>
      </p:sp>
      <p:sp>
        <p:nvSpPr>
          <p:cNvPr id="69" name="Text 66"/>
          <p:cNvSpPr/>
          <p:nvPr/>
        </p:nvSpPr>
        <p:spPr>
          <a:xfrm>
            <a:off x="2743200" y="4014216"/>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16</a:t>
            </a:r>
            <a:endParaRPr lang="en-US" sz="1350" dirty="0"/>
          </a:p>
        </p:txBody>
      </p:sp>
      <p:sp>
        <p:nvSpPr>
          <p:cNvPr id="70" name="Shape 67"/>
          <p:cNvSpPr/>
          <p:nvPr/>
        </p:nvSpPr>
        <p:spPr>
          <a:xfrm>
            <a:off x="3383280" y="3950208"/>
            <a:ext cx="731520" cy="329184"/>
          </a:xfrm>
          <a:prstGeom prst="rect">
            <a:avLst/>
          </a:prstGeom>
          <a:solidFill>
            <a:srgbClr val="EAF0F5"/>
          </a:solidFill>
          <a:ln w="8255">
            <a:solidFill>
              <a:srgbClr val="F5F6F8"/>
            </a:solidFill>
            <a:prstDash val="solid"/>
          </a:ln>
        </p:spPr>
      </p:sp>
      <p:sp>
        <p:nvSpPr>
          <p:cNvPr id="71" name="Text 68"/>
          <p:cNvSpPr/>
          <p:nvPr/>
        </p:nvSpPr>
        <p:spPr>
          <a:xfrm>
            <a:off x="3474720" y="4014216"/>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16</a:t>
            </a:r>
            <a:endParaRPr lang="en-US" sz="1350" dirty="0"/>
          </a:p>
        </p:txBody>
      </p:sp>
      <p:sp>
        <p:nvSpPr>
          <p:cNvPr id="72" name="Shape 69"/>
          <p:cNvSpPr/>
          <p:nvPr/>
        </p:nvSpPr>
        <p:spPr>
          <a:xfrm>
            <a:off x="4114800" y="3950208"/>
            <a:ext cx="2560320" cy="329184"/>
          </a:xfrm>
          <a:prstGeom prst="rect">
            <a:avLst/>
          </a:prstGeom>
          <a:solidFill>
            <a:srgbClr val="EAF0F5"/>
          </a:solidFill>
          <a:ln w="8255">
            <a:solidFill>
              <a:srgbClr val="F5F6F8"/>
            </a:solidFill>
            <a:prstDash val="solid"/>
          </a:ln>
        </p:spPr>
      </p:sp>
      <p:sp>
        <p:nvSpPr>
          <p:cNvPr id="73" name="Text 70"/>
          <p:cNvSpPr/>
          <p:nvPr/>
        </p:nvSpPr>
        <p:spPr>
          <a:xfrm>
            <a:off x="4206240" y="4014216"/>
            <a:ext cx="23774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160</a:t>
            </a:r>
            <a:endParaRPr lang="en-US" sz="1350" dirty="0"/>
          </a:p>
        </p:txBody>
      </p:sp>
      <p:sp>
        <p:nvSpPr>
          <p:cNvPr id="74" name="Shape 71"/>
          <p:cNvSpPr/>
          <p:nvPr/>
        </p:nvSpPr>
        <p:spPr>
          <a:xfrm>
            <a:off x="6675120" y="3950208"/>
            <a:ext cx="4297680" cy="329184"/>
          </a:xfrm>
          <a:prstGeom prst="rect">
            <a:avLst/>
          </a:prstGeom>
          <a:solidFill>
            <a:srgbClr val="EAF0F5"/>
          </a:solidFill>
          <a:ln w="8255">
            <a:solidFill>
              <a:srgbClr val="F5F6F8"/>
            </a:solidFill>
            <a:prstDash val="solid"/>
          </a:ln>
        </p:spPr>
      </p:sp>
      <p:sp>
        <p:nvSpPr>
          <p:cNvPr id="75" name="Text 72"/>
          <p:cNvSpPr/>
          <p:nvPr/>
        </p:nvSpPr>
        <p:spPr>
          <a:xfrm>
            <a:off x="6766560" y="4014216"/>
            <a:ext cx="411480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FMA del RTL</a:t>
            </a:r>
            <a:endParaRPr lang="en-US" sz="1350" dirty="0"/>
          </a:p>
        </p:txBody>
      </p:sp>
      <p:sp>
        <p:nvSpPr>
          <p:cNvPr id="76" name="Shape 73"/>
          <p:cNvSpPr/>
          <p:nvPr/>
        </p:nvSpPr>
        <p:spPr>
          <a:xfrm>
            <a:off x="685800" y="4279392"/>
            <a:ext cx="1965960" cy="329184"/>
          </a:xfrm>
          <a:prstGeom prst="rect">
            <a:avLst/>
          </a:prstGeom>
          <a:solidFill>
            <a:srgbClr val="FFFFFF"/>
          </a:solidFill>
          <a:ln w="8255">
            <a:solidFill>
              <a:srgbClr val="F5F6F8"/>
            </a:solidFill>
            <a:prstDash val="solid"/>
          </a:ln>
        </p:spPr>
      </p:sp>
      <p:sp>
        <p:nvSpPr>
          <p:cNvPr id="77" name="Text 74"/>
          <p:cNvSpPr/>
          <p:nvPr/>
        </p:nvSpPr>
        <p:spPr>
          <a:xfrm>
            <a:off x="777240" y="4343400"/>
            <a:ext cx="178308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fp32</a:t>
            </a:r>
            <a:endParaRPr lang="en-US" sz="1350" dirty="0"/>
          </a:p>
        </p:txBody>
      </p:sp>
      <p:sp>
        <p:nvSpPr>
          <p:cNvPr id="78" name="Shape 75"/>
          <p:cNvSpPr/>
          <p:nvPr/>
        </p:nvSpPr>
        <p:spPr>
          <a:xfrm>
            <a:off x="2651760" y="4279392"/>
            <a:ext cx="731520" cy="329184"/>
          </a:xfrm>
          <a:prstGeom prst="rect">
            <a:avLst/>
          </a:prstGeom>
          <a:solidFill>
            <a:srgbClr val="FFFFFF"/>
          </a:solidFill>
          <a:ln w="8255">
            <a:solidFill>
              <a:srgbClr val="F5F6F8"/>
            </a:solidFill>
            <a:prstDash val="solid"/>
          </a:ln>
        </p:spPr>
      </p:sp>
      <p:sp>
        <p:nvSpPr>
          <p:cNvPr id="79" name="Text 76"/>
          <p:cNvSpPr/>
          <p:nvPr/>
        </p:nvSpPr>
        <p:spPr>
          <a:xfrm>
            <a:off x="2743200" y="4343400"/>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32</a:t>
            </a:r>
            <a:endParaRPr lang="en-US" sz="1350" dirty="0"/>
          </a:p>
        </p:txBody>
      </p:sp>
      <p:sp>
        <p:nvSpPr>
          <p:cNvPr id="80" name="Shape 77"/>
          <p:cNvSpPr/>
          <p:nvPr/>
        </p:nvSpPr>
        <p:spPr>
          <a:xfrm>
            <a:off x="3383280" y="4279392"/>
            <a:ext cx="731520" cy="329184"/>
          </a:xfrm>
          <a:prstGeom prst="rect">
            <a:avLst/>
          </a:prstGeom>
          <a:solidFill>
            <a:srgbClr val="FFFFFF"/>
          </a:solidFill>
          <a:ln w="8255">
            <a:solidFill>
              <a:srgbClr val="F5F6F8"/>
            </a:solidFill>
            <a:prstDash val="solid"/>
          </a:ln>
        </p:spPr>
      </p:sp>
      <p:sp>
        <p:nvSpPr>
          <p:cNvPr id="81" name="Text 78"/>
          <p:cNvSpPr/>
          <p:nvPr/>
        </p:nvSpPr>
        <p:spPr>
          <a:xfrm>
            <a:off x="3474720" y="4343400"/>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32</a:t>
            </a:r>
            <a:endParaRPr lang="en-US" sz="1350" dirty="0"/>
          </a:p>
        </p:txBody>
      </p:sp>
      <p:sp>
        <p:nvSpPr>
          <p:cNvPr id="82" name="Shape 79"/>
          <p:cNvSpPr/>
          <p:nvPr/>
        </p:nvSpPr>
        <p:spPr>
          <a:xfrm>
            <a:off x="4114800" y="4279392"/>
            <a:ext cx="2560320" cy="329184"/>
          </a:xfrm>
          <a:prstGeom prst="rect">
            <a:avLst/>
          </a:prstGeom>
          <a:solidFill>
            <a:srgbClr val="FFFFFF"/>
          </a:solidFill>
          <a:ln w="8255">
            <a:solidFill>
              <a:srgbClr val="F5F6F8"/>
            </a:solidFill>
            <a:prstDash val="solid"/>
          </a:ln>
        </p:spPr>
      </p:sp>
      <p:sp>
        <p:nvSpPr>
          <p:cNvPr id="83" name="Text 80"/>
          <p:cNvSpPr/>
          <p:nvPr/>
        </p:nvSpPr>
        <p:spPr>
          <a:xfrm>
            <a:off x="4206240" y="4343400"/>
            <a:ext cx="23774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320</a:t>
            </a:r>
            <a:endParaRPr lang="en-US" sz="1350" dirty="0"/>
          </a:p>
        </p:txBody>
      </p:sp>
      <p:sp>
        <p:nvSpPr>
          <p:cNvPr id="84" name="Shape 81"/>
          <p:cNvSpPr/>
          <p:nvPr/>
        </p:nvSpPr>
        <p:spPr>
          <a:xfrm>
            <a:off x="6675120" y="4279392"/>
            <a:ext cx="4297680" cy="329184"/>
          </a:xfrm>
          <a:prstGeom prst="rect">
            <a:avLst/>
          </a:prstGeom>
          <a:solidFill>
            <a:srgbClr val="FFFFFF"/>
          </a:solidFill>
          <a:ln w="8255">
            <a:solidFill>
              <a:srgbClr val="F5F6F8"/>
            </a:solidFill>
            <a:prstDash val="solid"/>
          </a:ln>
        </p:spPr>
      </p:sp>
      <p:sp>
        <p:nvSpPr>
          <p:cNvPr id="85" name="Text 82"/>
          <p:cNvSpPr/>
          <p:nvPr/>
        </p:nvSpPr>
        <p:spPr>
          <a:xfrm>
            <a:off x="6766560" y="4343400"/>
            <a:ext cx="411480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FMA del RTL</a:t>
            </a:r>
            <a:endParaRPr lang="en-US" sz="1350" dirty="0"/>
          </a:p>
        </p:txBody>
      </p:sp>
      <p:sp>
        <p:nvSpPr>
          <p:cNvPr id="86" name="Shape 83"/>
          <p:cNvSpPr/>
          <p:nvPr/>
        </p:nvSpPr>
        <p:spPr>
          <a:xfrm>
            <a:off x="685800" y="4608576"/>
            <a:ext cx="1965960" cy="329184"/>
          </a:xfrm>
          <a:prstGeom prst="rect">
            <a:avLst/>
          </a:prstGeom>
          <a:solidFill>
            <a:srgbClr val="EAF0F5"/>
          </a:solidFill>
          <a:ln w="8255">
            <a:solidFill>
              <a:srgbClr val="F5F6F8"/>
            </a:solidFill>
            <a:prstDash val="solid"/>
          </a:ln>
        </p:spPr>
      </p:sp>
      <p:sp>
        <p:nvSpPr>
          <p:cNvPr id="87" name="Text 84"/>
          <p:cNvSpPr/>
          <p:nvPr/>
        </p:nvSpPr>
        <p:spPr>
          <a:xfrm>
            <a:off x="777240" y="4672584"/>
            <a:ext cx="178308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posit8</a:t>
            </a:r>
            <a:endParaRPr lang="en-US" sz="1350" dirty="0"/>
          </a:p>
        </p:txBody>
      </p:sp>
      <p:sp>
        <p:nvSpPr>
          <p:cNvPr id="88" name="Shape 85"/>
          <p:cNvSpPr/>
          <p:nvPr/>
        </p:nvSpPr>
        <p:spPr>
          <a:xfrm>
            <a:off x="2651760" y="4608576"/>
            <a:ext cx="731520" cy="329184"/>
          </a:xfrm>
          <a:prstGeom prst="rect">
            <a:avLst/>
          </a:prstGeom>
          <a:solidFill>
            <a:srgbClr val="EAF0F5"/>
          </a:solidFill>
          <a:ln w="8255">
            <a:solidFill>
              <a:srgbClr val="F5F6F8"/>
            </a:solidFill>
            <a:prstDash val="solid"/>
          </a:ln>
        </p:spPr>
      </p:sp>
      <p:sp>
        <p:nvSpPr>
          <p:cNvPr id="89" name="Text 86"/>
          <p:cNvSpPr/>
          <p:nvPr/>
        </p:nvSpPr>
        <p:spPr>
          <a:xfrm>
            <a:off x="2743200" y="4672584"/>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8</a:t>
            </a:r>
            <a:endParaRPr lang="en-US" sz="1350" dirty="0"/>
          </a:p>
        </p:txBody>
      </p:sp>
      <p:sp>
        <p:nvSpPr>
          <p:cNvPr id="90" name="Shape 87"/>
          <p:cNvSpPr/>
          <p:nvPr/>
        </p:nvSpPr>
        <p:spPr>
          <a:xfrm>
            <a:off x="3383280" y="4608576"/>
            <a:ext cx="731520" cy="329184"/>
          </a:xfrm>
          <a:prstGeom prst="rect">
            <a:avLst/>
          </a:prstGeom>
          <a:solidFill>
            <a:srgbClr val="EAF0F5"/>
          </a:solidFill>
          <a:ln w="8255">
            <a:solidFill>
              <a:srgbClr val="F5F6F8"/>
            </a:solidFill>
            <a:prstDash val="solid"/>
          </a:ln>
        </p:spPr>
      </p:sp>
      <p:sp>
        <p:nvSpPr>
          <p:cNvPr id="91" name="Text 88"/>
          <p:cNvSpPr/>
          <p:nvPr/>
        </p:nvSpPr>
        <p:spPr>
          <a:xfrm>
            <a:off x="3474720" y="4672584"/>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8</a:t>
            </a:r>
            <a:endParaRPr lang="en-US" sz="1350" dirty="0"/>
          </a:p>
        </p:txBody>
      </p:sp>
      <p:sp>
        <p:nvSpPr>
          <p:cNvPr id="92" name="Shape 89"/>
          <p:cNvSpPr/>
          <p:nvPr/>
        </p:nvSpPr>
        <p:spPr>
          <a:xfrm>
            <a:off x="4114800" y="4608576"/>
            <a:ext cx="2560320" cy="329184"/>
          </a:xfrm>
          <a:prstGeom prst="rect">
            <a:avLst/>
          </a:prstGeom>
          <a:solidFill>
            <a:srgbClr val="EAF0F5"/>
          </a:solidFill>
          <a:ln w="8255">
            <a:solidFill>
              <a:srgbClr val="F5F6F8"/>
            </a:solidFill>
            <a:prstDash val="solid"/>
          </a:ln>
        </p:spPr>
      </p:sp>
      <p:sp>
        <p:nvSpPr>
          <p:cNvPr id="93" name="Text 90"/>
          <p:cNvSpPr/>
          <p:nvPr/>
        </p:nvSpPr>
        <p:spPr>
          <a:xfrm>
            <a:off x="4206240" y="4672584"/>
            <a:ext cx="23774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80</a:t>
            </a:r>
            <a:endParaRPr lang="en-US" sz="1350" dirty="0"/>
          </a:p>
        </p:txBody>
      </p:sp>
      <p:sp>
        <p:nvSpPr>
          <p:cNvPr id="94" name="Shape 91"/>
          <p:cNvSpPr/>
          <p:nvPr/>
        </p:nvSpPr>
        <p:spPr>
          <a:xfrm>
            <a:off x="6675120" y="4608576"/>
            <a:ext cx="4297680" cy="329184"/>
          </a:xfrm>
          <a:prstGeom prst="rect">
            <a:avLst/>
          </a:prstGeom>
          <a:solidFill>
            <a:srgbClr val="EAF0F5"/>
          </a:solidFill>
          <a:ln w="8255">
            <a:solidFill>
              <a:srgbClr val="F5F6F8"/>
            </a:solidFill>
            <a:prstDash val="solid"/>
          </a:ln>
        </p:spPr>
      </p:sp>
      <p:sp>
        <p:nvSpPr>
          <p:cNvPr id="95" name="Text 92"/>
          <p:cNvSpPr/>
          <p:nvPr/>
        </p:nvSpPr>
        <p:spPr>
          <a:xfrm>
            <a:off x="6766560" y="4672584"/>
            <a:ext cx="411480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es=0</a:t>
            </a:r>
            <a:endParaRPr lang="en-US" sz="1350" dirty="0"/>
          </a:p>
        </p:txBody>
      </p:sp>
      <p:sp>
        <p:nvSpPr>
          <p:cNvPr id="96" name="Shape 93"/>
          <p:cNvSpPr/>
          <p:nvPr/>
        </p:nvSpPr>
        <p:spPr>
          <a:xfrm>
            <a:off x="685800" y="4937760"/>
            <a:ext cx="1965960" cy="329184"/>
          </a:xfrm>
          <a:prstGeom prst="rect">
            <a:avLst/>
          </a:prstGeom>
          <a:solidFill>
            <a:srgbClr val="FFFFFF"/>
          </a:solidFill>
          <a:ln w="8255">
            <a:solidFill>
              <a:srgbClr val="F5F6F8"/>
            </a:solidFill>
            <a:prstDash val="solid"/>
          </a:ln>
        </p:spPr>
      </p:sp>
      <p:sp>
        <p:nvSpPr>
          <p:cNvPr id="97" name="Text 94"/>
          <p:cNvSpPr/>
          <p:nvPr/>
        </p:nvSpPr>
        <p:spPr>
          <a:xfrm>
            <a:off x="777240" y="5001768"/>
            <a:ext cx="178308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posit16</a:t>
            </a:r>
            <a:endParaRPr lang="en-US" sz="1350" dirty="0"/>
          </a:p>
        </p:txBody>
      </p:sp>
      <p:sp>
        <p:nvSpPr>
          <p:cNvPr id="98" name="Shape 95"/>
          <p:cNvSpPr/>
          <p:nvPr/>
        </p:nvSpPr>
        <p:spPr>
          <a:xfrm>
            <a:off x="2651760" y="4937760"/>
            <a:ext cx="731520" cy="329184"/>
          </a:xfrm>
          <a:prstGeom prst="rect">
            <a:avLst/>
          </a:prstGeom>
          <a:solidFill>
            <a:srgbClr val="FFFFFF"/>
          </a:solidFill>
          <a:ln w="8255">
            <a:solidFill>
              <a:srgbClr val="F5F6F8"/>
            </a:solidFill>
            <a:prstDash val="solid"/>
          </a:ln>
        </p:spPr>
      </p:sp>
      <p:sp>
        <p:nvSpPr>
          <p:cNvPr id="99" name="Text 96"/>
          <p:cNvSpPr/>
          <p:nvPr/>
        </p:nvSpPr>
        <p:spPr>
          <a:xfrm>
            <a:off x="2743200" y="5001768"/>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16</a:t>
            </a:r>
            <a:endParaRPr lang="en-US" sz="1350" dirty="0"/>
          </a:p>
        </p:txBody>
      </p:sp>
      <p:sp>
        <p:nvSpPr>
          <p:cNvPr id="100" name="Shape 97"/>
          <p:cNvSpPr/>
          <p:nvPr/>
        </p:nvSpPr>
        <p:spPr>
          <a:xfrm>
            <a:off x="3383280" y="4937760"/>
            <a:ext cx="731520" cy="329184"/>
          </a:xfrm>
          <a:prstGeom prst="rect">
            <a:avLst/>
          </a:prstGeom>
          <a:solidFill>
            <a:srgbClr val="FFFFFF"/>
          </a:solidFill>
          <a:ln w="8255">
            <a:solidFill>
              <a:srgbClr val="F5F6F8"/>
            </a:solidFill>
            <a:prstDash val="solid"/>
          </a:ln>
        </p:spPr>
      </p:sp>
      <p:sp>
        <p:nvSpPr>
          <p:cNvPr id="101" name="Text 98"/>
          <p:cNvSpPr/>
          <p:nvPr/>
        </p:nvSpPr>
        <p:spPr>
          <a:xfrm>
            <a:off x="3474720" y="5001768"/>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16</a:t>
            </a:r>
            <a:endParaRPr lang="en-US" sz="1350" dirty="0"/>
          </a:p>
        </p:txBody>
      </p:sp>
      <p:sp>
        <p:nvSpPr>
          <p:cNvPr id="102" name="Shape 99"/>
          <p:cNvSpPr/>
          <p:nvPr/>
        </p:nvSpPr>
        <p:spPr>
          <a:xfrm>
            <a:off x="4114800" y="4937760"/>
            <a:ext cx="2560320" cy="329184"/>
          </a:xfrm>
          <a:prstGeom prst="rect">
            <a:avLst/>
          </a:prstGeom>
          <a:solidFill>
            <a:srgbClr val="FFFFFF"/>
          </a:solidFill>
          <a:ln w="8255">
            <a:solidFill>
              <a:srgbClr val="F5F6F8"/>
            </a:solidFill>
            <a:prstDash val="solid"/>
          </a:ln>
        </p:spPr>
      </p:sp>
      <p:sp>
        <p:nvSpPr>
          <p:cNvPr id="103" name="Text 100"/>
          <p:cNvSpPr/>
          <p:nvPr/>
        </p:nvSpPr>
        <p:spPr>
          <a:xfrm>
            <a:off x="4206240" y="5001768"/>
            <a:ext cx="23774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160</a:t>
            </a:r>
            <a:endParaRPr lang="en-US" sz="1350" dirty="0"/>
          </a:p>
        </p:txBody>
      </p:sp>
      <p:sp>
        <p:nvSpPr>
          <p:cNvPr id="104" name="Shape 101"/>
          <p:cNvSpPr/>
          <p:nvPr/>
        </p:nvSpPr>
        <p:spPr>
          <a:xfrm>
            <a:off x="6675120" y="4937760"/>
            <a:ext cx="4297680" cy="329184"/>
          </a:xfrm>
          <a:prstGeom prst="rect">
            <a:avLst/>
          </a:prstGeom>
          <a:solidFill>
            <a:srgbClr val="FFFFFF"/>
          </a:solidFill>
          <a:ln w="8255">
            <a:solidFill>
              <a:srgbClr val="F5F6F8"/>
            </a:solidFill>
            <a:prstDash val="solid"/>
          </a:ln>
        </p:spPr>
      </p:sp>
      <p:sp>
        <p:nvSpPr>
          <p:cNvPr id="105" name="Text 102"/>
          <p:cNvSpPr/>
          <p:nvPr/>
        </p:nvSpPr>
        <p:spPr>
          <a:xfrm>
            <a:off x="6766560" y="5001768"/>
            <a:ext cx="411480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es=1; nombre histórico _0</a:t>
            </a:r>
            <a:endParaRPr lang="en-US" sz="1350" dirty="0"/>
          </a:p>
        </p:txBody>
      </p:sp>
      <p:sp>
        <p:nvSpPr>
          <p:cNvPr id="106" name="Shape 103"/>
          <p:cNvSpPr/>
          <p:nvPr/>
        </p:nvSpPr>
        <p:spPr>
          <a:xfrm>
            <a:off x="685800" y="5266944"/>
            <a:ext cx="1965960" cy="329184"/>
          </a:xfrm>
          <a:prstGeom prst="rect">
            <a:avLst/>
          </a:prstGeom>
          <a:solidFill>
            <a:srgbClr val="EAF0F5"/>
          </a:solidFill>
          <a:ln w="8255">
            <a:solidFill>
              <a:srgbClr val="F5F6F8"/>
            </a:solidFill>
            <a:prstDash val="solid"/>
          </a:ln>
        </p:spPr>
      </p:sp>
      <p:sp>
        <p:nvSpPr>
          <p:cNvPr id="107" name="Text 104"/>
          <p:cNvSpPr/>
          <p:nvPr/>
        </p:nvSpPr>
        <p:spPr>
          <a:xfrm>
            <a:off x="777240" y="5330952"/>
            <a:ext cx="178308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posit32</a:t>
            </a:r>
            <a:endParaRPr lang="en-US" sz="1350" dirty="0"/>
          </a:p>
        </p:txBody>
      </p:sp>
      <p:sp>
        <p:nvSpPr>
          <p:cNvPr id="108" name="Shape 105"/>
          <p:cNvSpPr/>
          <p:nvPr/>
        </p:nvSpPr>
        <p:spPr>
          <a:xfrm>
            <a:off x="2651760" y="5266944"/>
            <a:ext cx="731520" cy="329184"/>
          </a:xfrm>
          <a:prstGeom prst="rect">
            <a:avLst/>
          </a:prstGeom>
          <a:solidFill>
            <a:srgbClr val="EAF0F5"/>
          </a:solidFill>
          <a:ln w="8255">
            <a:solidFill>
              <a:srgbClr val="F5F6F8"/>
            </a:solidFill>
            <a:prstDash val="solid"/>
          </a:ln>
        </p:spPr>
      </p:sp>
      <p:sp>
        <p:nvSpPr>
          <p:cNvPr id="109" name="Text 106"/>
          <p:cNvSpPr/>
          <p:nvPr/>
        </p:nvSpPr>
        <p:spPr>
          <a:xfrm>
            <a:off x="2743200" y="5330952"/>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32</a:t>
            </a:r>
            <a:endParaRPr lang="en-US" sz="1350" dirty="0"/>
          </a:p>
        </p:txBody>
      </p:sp>
      <p:sp>
        <p:nvSpPr>
          <p:cNvPr id="110" name="Shape 107"/>
          <p:cNvSpPr/>
          <p:nvPr/>
        </p:nvSpPr>
        <p:spPr>
          <a:xfrm>
            <a:off x="3383280" y="5266944"/>
            <a:ext cx="731520" cy="329184"/>
          </a:xfrm>
          <a:prstGeom prst="rect">
            <a:avLst/>
          </a:prstGeom>
          <a:solidFill>
            <a:srgbClr val="EAF0F5"/>
          </a:solidFill>
          <a:ln w="8255">
            <a:solidFill>
              <a:srgbClr val="F5F6F8"/>
            </a:solidFill>
            <a:prstDash val="solid"/>
          </a:ln>
        </p:spPr>
      </p:sp>
      <p:sp>
        <p:nvSpPr>
          <p:cNvPr id="111" name="Text 108"/>
          <p:cNvSpPr/>
          <p:nvPr/>
        </p:nvSpPr>
        <p:spPr>
          <a:xfrm>
            <a:off x="3474720" y="5330952"/>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32</a:t>
            </a:r>
            <a:endParaRPr lang="en-US" sz="1350" dirty="0"/>
          </a:p>
        </p:txBody>
      </p:sp>
      <p:sp>
        <p:nvSpPr>
          <p:cNvPr id="112" name="Shape 109"/>
          <p:cNvSpPr/>
          <p:nvPr/>
        </p:nvSpPr>
        <p:spPr>
          <a:xfrm>
            <a:off x="4114800" y="5266944"/>
            <a:ext cx="2560320" cy="329184"/>
          </a:xfrm>
          <a:prstGeom prst="rect">
            <a:avLst/>
          </a:prstGeom>
          <a:solidFill>
            <a:srgbClr val="EAF0F5"/>
          </a:solidFill>
          <a:ln w="8255">
            <a:solidFill>
              <a:srgbClr val="F5F6F8"/>
            </a:solidFill>
            <a:prstDash val="solid"/>
          </a:ln>
        </p:spPr>
      </p:sp>
      <p:sp>
        <p:nvSpPr>
          <p:cNvPr id="113" name="Text 110"/>
          <p:cNvSpPr/>
          <p:nvPr/>
        </p:nvSpPr>
        <p:spPr>
          <a:xfrm>
            <a:off x="4206240" y="5330952"/>
            <a:ext cx="23774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320</a:t>
            </a:r>
            <a:endParaRPr lang="en-US" sz="1350" dirty="0"/>
          </a:p>
        </p:txBody>
      </p:sp>
      <p:sp>
        <p:nvSpPr>
          <p:cNvPr id="114" name="Shape 111"/>
          <p:cNvSpPr/>
          <p:nvPr/>
        </p:nvSpPr>
        <p:spPr>
          <a:xfrm>
            <a:off x="6675120" y="5266944"/>
            <a:ext cx="4297680" cy="329184"/>
          </a:xfrm>
          <a:prstGeom prst="rect">
            <a:avLst/>
          </a:prstGeom>
          <a:solidFill>
            <a:srgbClr val="EAF0F5"/>
          </a:solidFill>
          <a:ln w="8255">
            <a:solidFill>
              <a:srgbClr val="F5F6F8"/>
            </a:solidFill>
            <a:prstDash val="solid"/>
          </a:ln>
        </p:spPr>
      </p:sp>
      <p:sp>
        <p:nvSpPr>
          <p:cNvPr id="115" name="Text 112"/>
          <p:cNvSpPr/>
          <p:nvPr/>
        </p:nvSpPr>
        <p:spPr>
          <a:xfrm>
            <a:off x="6766560" y="5330952"/>
            <a:ext cx="411480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es=2</a:t>
            </a:r>
            <a:endParaRPr lang="en-US" sz="1350" dirty="0"/>
          </a:p>
        </p:txBody>
      </p:sp>
      <p:sp>
        <p:nvSpPr>
          <p:cNvPr id="116" name="Shape 113"/>
          <p:cNvSpPr/>
          <p:nvPr/>
        </p:nvSpPr>
        <p:spPr>
          <a:xfrm>
            <a:off x="685800" y="5596128"/>
            <a:ext cx="1965960" cy="329184"/>
          </a:xfrm>
          <a:prstGeom prst="rect">
            <a:avLst/>
          </a:prstGeom>
          <a:solidFill>
            <a:srgbClr val="FFFFFF"/>
          </a:solidFill>
          <a:ln w="8255">
            <a:solidFill>
              <a:srgbClr val="F5F6F8"/>
            </a:solidFill>
            <a:prstDash val="solid"/>
          </a:ln>
        </p:spPr>
      </p:sp>
      <p:sp>
        <p:nvSpPr>
          <p:cNvPr id="117" name="Text 114"/>
          <p:cNvSpPr/>
          <p:nvPr/>
        </p:nvSpPr>
        <p:spPr>
          <a:xfrm>
            <a:off x="777240" y="5660136"/>
            <a:ext cx="178308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lns16</a:t>
            </a:r>
            <a:endParaRPr lang="en-US" sz="1350" dirty="0"/>
          </a:p>
        </p:txBody>
      </p:sp>
      <p:sp>
        <p:nvSpPr>
          <p:cNvPr id="118" name="Shape 115"/>
          <p:cNvSpPr/>
          <p:nvPr/>
        </p:nvSpPr>
        <p:spPr>
          <a:xfrm>
            <a:off x="2651760" y="5596128"/>
            <a:ext cx="731520" cy="329184"/>
          </a:xfrm>
          <a:prstGeom prst="rect">
            <a:avLst/>
          </a:prstGeom>
          <a:solidFill>
            <a:srgbClr val="FFFFFF"/>
          </a:solidFill>
          <a:ln w="8255">
            <a:solidFill>
              <a:srgbClr val="F5F6F8"/>
            </a:solidFill>
            <a:prstDash val="solid"/>
          </a:ln>
        </p:spPr>
      </p:sp>
      <p:sp>
        <p:nvSpPr>
          <p:cNvPr id="119" name="Text 116"/>
          <p:cNvSpPr/>
          <p:nvPr/>
        </p:nvSpPr>
        <p:spPr>
          <a:xfrm>
            <a:off x="2743200" y="5660136"/>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16</a:t>
            </a:r>
            <a:endParaRPr lang="en-US" sz="1350" dirty="0"/>
          </a:p>
        </p:txBody>
      </p:sp>
      <p:sp>
        <p:nvSpPr>
          <p:cNvPr id="120" name="Shape 117"/>
          <p:cNvSpPr/>
          <p:nvPr/>
        </p:nvSpPr>
        <p:spPr>
          <a:xfrm>
            <a:off x="3383280" y="5596128"/>
            <a:ext cx="731520" cy="329184"/>
          </a:xfrm>
          <a:prstGeom prst="rect">
            <a:avLst/>
          </a:prstGeom>
          <a:solidFill>
            <a:srgbClr val="FFFFFF"/>
          </a:solidFill>
          <a:ln w="8255">
            <a:solidFill>
              <a:srgbClr val="F5F6F8"/>
            </a:solidFill>
            <a:prstDash val="solid"/>
          </a:ln>
        </p:spPr>
      </p:sp>
      <p:sp>
        <p:nvSpPr>
          <p:cNvPr id="121" name="Text 118"/>
          <p:cNvSpPr/>
          <p:nvPr/>
        </p:nvSpPr>
        <p:spPr>
          <a:xfrm>
            <a:off x="3474720" y="5660136"/>
            <a:ext cx="5486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16</a:t>
            </a:r>
            <a:endParaRPr lang="en-US" sz="1350" dirty="0"/>
          </a:p>
        </p:txBody>
      </p:sp>
      <p:sp>
        <p:nvSpPr>
          <p:cNvPr id="122" name="Shape 119"/>
          <p:cNvSpPr/>
          <p:nvPr/>
        </p:nvSpPr>
        <p:spPr>
          <a:xfrm>
            <a:off x="4114800" y="5596128"/>
            <a:ext cx="2560320" cy="329184"/>
          </a:xfrm>
          <a:prstGeom prst="rect">
            <a:avLst/>
          </a:prstGeom>
          <a:solidFill>
            <a:srgbClr val="FFFFFF"/>
          </a:solidFill>
          <a:ln w="8255">
            <a:solidFill>
              <a:srgbClr val="F5F6F8"/>
            </a:solidFill>
            <a:prstDash val="solid"/>
          </a:ln>
        </p:spPr>
      </p:sp>
      <p:sp>
        <p:nvSpPr>
          <p:cNvPr id="123" name="Text 120"/>
          <p:cNvSpPr/>
          <p:nvPr/>
        </p:nvSpPr>
        <p:spPr>
          <a:xfrm>
            <a:off x="4206240" y="5660136"/>
            <a:ext cx="237744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160</a:t>
            </a:r>
            <a:endParaRPr lang="en-US" sz="1350" dirty="0"/>
          </a:p>
        </p:txBody>
      </p:sp>
      <p:sp>
        <p:nvSpPr>
          <p:cNvPr id="124" name="Shape 121"/>
          <p:cNvSpPr/>
          <p:nvPr/>
        </p:nvSpPr>
        <p:spPr>
          <a:xfrm>
            <a:off x="6675120" y="5596128"/>
            <a:ext cx="4297680" cy="329184"/>
          </a:xfrm>
          <a:prstGeom prst="rect">
            <a:avLst/>
          </a:prstGeom>
          <a:solidFill>
            <a:srgbClr val="FFFFFF"/>
          </a:solidFill>
          <a:ln w="8255">
            <a:solidFill>
              <a:srgbClr val="F5F6F8"/>
            </a:solidFill>
            <a:prstDash val="solid"/>
          </a:ln>
        </p:spPr>
      </p:sp>
      <p:sp>
        <p:nvSpPr>
          <p:cNvPr id="125" name="Text 122"/>
          <p:cNvSpPr/>
          <p:nvPr/>
        </p:nvSpPr>
        <p:spPr>
          <a:xfrm>
            <a:off x="6766560" y="5660136"/>
            <a:ext cx="411480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ROM de corrección</a:t>
            </a:r>
            <a:endParaRPr lang="en-US" sz="1350" dirty="0"/>
          </a:p>
        </p:txBody>
      </p:sp>
      <p:sp>
        <p:nvSpPr>
          <p:cNvPr id="126" name="Shape 123"/>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127" name="Text 124"/>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Los bits declarados no se convierten automáticamente en un número fijo de FF mapeados.</a:t>
            </a:r>
            <a:endParaRPr lang="en-US" sz="1550" dirty="0"/>
          </a:p>
        </p:txBody>
      </p:sp>
      <p:sp>
        <p:nvSpPr>
          <p:cNvPr id="128" name="Shape 125"/>
          <p:cNvSpPr/>
          <p:nvPr/>
        </p:nvSpPr>
        <p:spPr>
          <a:xfrm>
            <a:off x="585216" y="6492240"/>
            <a:ext cx="11009376" cy="0"/>
          </a:xfrm>
          <a:prstGeom prst="line">
            <a:avLst/>
          </a:prstGeom>
          <a:noFill/>
          <a:ln w="8890">
            <a:solidFill>
              <a:srgbClr val="D9E2E9"/>
            </a:solidFill>
            <a:prstDash val="solid"/>
            <a:headEnd type="none"/>
            <a:tailEnd type="none"/>
          </a:ln>
        </p:spPr>
      </p:sp>
      <p:sp>
        <p:nvSpPr>
          <p:cNvPr id="129" name="Text 126"/>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infrastructure/designs.py · assets/manifest.json</a:t>
            </a:r>
            <a:endParaRPr lang="en-US" sz="870" dirty="0"/>
          </a:p>
        </p:txBody>
      </p:sp>
      <p:sp>
        <p:nvSpPr>
          <p:cNvPr id="130" name="Text 127"/>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04 / 53</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04 · CIRCUITO MEDIDO</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El wrapper establece la frontera de área y la latencia observable</a:t>
            </a:r>
            <a:endParaRPr lang="en-US" sz="2800" dirty="0"/>
          </a:p>
        </p:txBody>
      </p:sp>
      <p:sp>
        <p:nvSpPr>
          <p:cNvPr id="6" name="Shape 3"/>
          <p:cNvSpPr/>
          <p:nvPr/>
        </p:nvSpPr>
        <p:spPr>
          <a:xfrm>
            <a:off x="713232" y="2267712"/>
            <a:ext cx="3127248" cy="1417320"/>
          </a:xfrm>
          <a:prstGeom prst="roundRect">
            <a:avLst>
              <a:gd name="adj" fmla="val 5161"/>
            </a:avLst>
          </a:prstGeom>
          <a:solidFill>
            <a:srgbClr val="FFFFFF"/>
          </a:solidFill>
          <a:ln w="8255">
            <a:solidFill>
              <a:srgbClr val="D9E2E9"/>
            </a:solidFill>
            <a:prstDash val="solid"/>
          </a:ln>
        </p:spPr>
      </p:sp>
      <p:sp>
        <p:nvSpPr>
          <p:cNvPr id="7" name="Text 4"/>
          <p:cNvSpPr/>
          <p:nvPr/>
        </p:nvSpPr>
        <p:spPr>
          <a:xfrm>
            <a:off x="877824"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80 bits de entrada</a:t>
            </a:r>
            <a:endParaRPr lang="en-US" sz="2050" dirty="0"/>
          </a:p>
        </p:txBody>
      </p:sp>
      <p:sp>
        <p:nvSpPr>
          <p:cNvPr id="8" name="Text 5"/>
          <p:cNvSpPr/>
          <p:nvPr/>
        </p:nvSpPr>
        <p:spPr>
          <a:xfrm>
            <a:off x="868680"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A0…A3, B0…B3 y C0</a:t>
            </a:r>
            <a:endParaRPr lang="en-US" sz="1650" dirty="0"/>
          </a:p>
        </p:txBody>
      </p:sp>
      <p:sp>
        <p:nvSpPr>
          <p:cNvPr id="9" name="Shape 6"/>
          <p:cNvSpPr/>
          <p:nvPr/>
        </p:nvSpPr>
        <p:spPr>
          <a:xfrm>
            <a:off x="3840480" y="2971800"/>
            <a:ext cx="594360" cy="0"/>
          </a:xfrm>
          <a:prstGeom prst="line">
            <a:avLst/>
          </a:prstGeom>
          <a:noFill/>
          <a:ln w="25400">
            <a:solidFill>
              <a:srgbClr val="007C83"/>
            </a:solidFill>
            <a:prstDash val="solid"/>
            <a:headEnd type="none"/>
            <a:tailEnd type="triangle"/>
          </a:ln>
        </p:spPr>
      </p:sp>
      <p:sp>
        <p:nvSpPr>
          <p:cNvPr id="10" name="Shape 7"/>
          <p:cNvSpPr/>
          <p:nvPr/>
        </p:nvSpPr>
        <p:spPr>
          <a:xfrm>
            <a:off x="4526280" y="2267712"/>
            <a:ext cx="3127248" cy="1417320"/>
          </a:xfrm>
          <a:prstGeom prst="roundRect">
            <a:avLst>
              <a:gd name="adj" fmla="val 5161"/>
            </a:avLst>
          </a:prstGeom>
          <a:solidFill>
            <a:srgbClr val="FFFFFF"/>
          </a:solidFill>
          <a:ln w="8255">
            <a:solidFill>
              <a:srgbClr val="D9E2E9"/>
            </a:solidFill>
            <a:prstDash val="solid"/>
          </a:ln>
        </p:spPr>
      </p:sp>
      <p:sp>
        <p:nvSpPr>
          <p:cNvPr id="11" name="Text 8"/>
          <p:cNvSpPr/>
          <p:nvPr/>
        </p:nvSpPr>
        <p:spPr>
          <a:xfrm>
            <a:off x="4690872"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DPU combinacional</a:t>
            </a:r>
            <a:endParaRPr lang="en-US" sz="2050" dirty="0"/>
          </a:p>
        </p:txBody>
      </p:sp>
      <p:sp>
        <p:nvSpPr>
          <p:cNvPr id="12" name="Text 9"/>
          <p:cNvSpPr/>
          <p:nvPr/>
        </p:nvSpPr>
        <p:spPr>
          <a:xfrm>
            <a:off x="4681728"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4 productos + acumulación</a:t>
            </a:r>
            <a:endParaRPr lang="en-US" sz="1650" dirty="0"/>
          </a:p>
        </p:txBody>
      </p:sp>
      <p:sp>
        <p:nvSpPr>
          <p:cNvPr id="13" name="Shape 10"/>
          <p:cNvSpPr/>
          <p:nvPr/>
        </p:nvSpPr>
        <p:spPr>
          <a:xfrm>
            <a:off x="7653528" y="2971800"/>
            <a:ext cx="594360" cy="0"/>
          </a:xfrm>
          <a:prstGeom prst="line">
            <a:avLst/>
          </a:prstGeom>
          <a:noFill/>
          <a:ln w="25400">
            <a:solidFill>
              <a:srgbClr val="007C83"/>
            </a:solidFill>
            <a:prstDash val="solid"/>
            <a:headEnd type="none"/>
            <a:tailEnd type="triangle"/>
          </a:ln>
        </p:spPr>
      </p:sp>
      <p:sp>
        <p:nvSpPr>
          <p:cNvPr id="14" name="Shape 11"/>
          <p:cNvSpPr/>
          <p:nvPr/>
        </p:nvSpPr>
        <p:spPr>
          <a:xfrm>
            <a:off x="8339328" y="2267712"/>
            <a:ext cx="3127248" cy="1417320"/>
          </a:xfrm>
          <a:prstGeom prst="roundRect">
            <a:avLst>
              <a:gd name="adj" fmla="val 5161"/>
            </a:avLst>
          </a:prstGeom>
          <a:solidFill>
            <a:srgbClr val="FFFFFF"/>
          </a:solidFill>
          <a:ln w="8255">
            <a:solidFill>
              <a:srgbClr val="D9E2E9"/>
            </a:solidFill>
            <a:prstDash val="solid"/>
          </a:ln>
        </p:spPr>
      </p:sp>
      <p:sp>
        <p:nvSpPr>
          <p:cNvPr id="15" name="Text 12"/>
          <p:cNvSpPr/>
          <p:nvPr/>
        </p:nvSpPr>
        <p:spPr>
          <a:xfrm>
            <a:off x="8503920"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16 bits de salida</a:t>
            </a:r>
            <a:endParaRPr lang="en-US" sz="2050" dirty="0"/>
          </a:p>
        </p:txBody>
      </p:sp>
      <p:sp>
        <p:nvSpPr>
          <p:cNvPr id="16" name="Text 13"/>
          <p:cNvSpPr/>
          <p:nvPr/>
        </p:nvSpPr>
        <p:spPr>
          <a:xfrm>
            <a:off x="8494776"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R_out registrado</a:t>
            </a:r>
            <a:endParaRPr lang="en-US" sz="1650" dirty="0"/>
          </a:p>
        </p:txBody>
      </p:sp>
      <p:sp>
        <p:nvSpPr>
          <p:cNvPr id="17" name="Shape 14"/>
          <p:cNvSpPr/>
          <p:nvPr/>
        </p:nvSpPr>
        <p:spPr>
          <a:xfrm>
            <a:off x="758952" y="4215384"/>
            <a:ext cx="10698480" cy="841248"/>
          </a:xfrm>
          <a:prstGeom prst="roundRect">
            <a:avLst>
              <a:gd name="adj" fmla="val 8696"/>
            </a:avLst>
          </a:prstGeom>
          <a:solidFill>
            <a:srgbClr val="FFFFFF"/>
          </a:solidFill>
          <a:ln w="8255">
            <a:solidFill>
              <a:srgbClr val="D9E2E9"/>
            </a:solidFill>
            <a:prstDash val="solid"/>
          </a:ln>
        </p:spPr>
      </p:sp>
      <p:sp>
        <p:nvSpPr>
          <p:cNvPr id="18" name="Text 15"/>
          <p:cNvSpPr/>
          <p:nvPr/>
        </p:nvSpPr>
        <p:spPr>
          <a:xfrm>
            <a:off x="932688" y="4453128"/>
            <a:ext cx="10351008" cy="448056"/>
          </a:xfrm>
          <a:prstGeom prst="rect">
            <a:avLst/>
          </a:prstGeom>
          <a:noFill/>
          <a:ln/>
        </p:spPr>
        <p:txBody>
          <a:bodyPr wrap="square" lIns="0" tIns="0" rIns="0" bIns="0" rtlCol="0" anchor="t"/>
          <a:lstStyle/>
          <a:p>
            <a:pPr algn="ctr" indent="0" marL="0">
              <a:buNone/>
            </a:pPr>
            <a:r>
              <a:rPr lang="en-US" sz="2200" b="1" dirty="0">
                <a:solidFill>
                  <a:srgbClr val="007C83"/>
                </a:solidFill>
                <a:latin typeface="Arial" pitchFamily="34" charset="0"/>
                <a:ea typeface="Arial" pitchFamily="34" charset="-122"/>
                <a:cs typeface="Arial" pitchFamily="34" charset="-120"/>
              </a:rPr>
              <a:t>INT8/16: 8 × 8 + 2 × 16 = 96 bits declarados</a:t>
            </a:r>
            <a:endParaRPr lang="en-US" sz="2200" dirty="0"/>
          </a:p>
        </p:txBody>
      </p:sp>
      <p:sp>
        <p:nvSpPr>
          <p:cNvPr id="19" name="Shape 16"/>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20" name="Text 17"/>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Se mide la DPU con su wrapper; no solo la expresión aritmética.</a:t>
            </a:r>
            <a:endParaRPr lang="en-US" sz="1550" dirty="0"/>
          </a:p>
        </p:txBody>
      </p:sp>
      <p:sp>
        <p:nvSpPr>
          <p:cNvPr id="21" name="Shape 18"/>
          <p:cNvSpPr/>
          <p:nvPr/>
        </p:nvSpPr>
        <p:spPr>
          <a:xfrm>
            <a:off x="585216" y="6492240"/>
            <a:ext cx="11009376" cy="0"/>
          </a:xfrm>
          <a:prstGeom prst="line">
            <a:avLst/>
          </a:prstGeom>
          <a:noFill/>
          <a:ln w="8890">
            <a:solidFill>
              <a:srgbClr val="D9E2E9"/>
            </a:solidFill>
            <a:prstDash val="solid"/>
            <a:headEnd type="none"/>
            <a:tailEnd type="none"/>
          </a:ln>
        </p:spPr>
      </p:sp>
      <p:sp>
        <p:nvSpPr>
          <p:cNvPr id="22" name="Text 19"/>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assets/rtl/int8_16/INT8_16_DPU_perf_top.vhd · validation.py</a:t>
            </a:r>
            <a:endParaRPr lang="en-US" sz="870" dirty="0"/>
          </a:p>
        </p:txBody>
      </p:sp>
      <p:sp>
        <p:nvSpPr>
          <p:cNvPr id="23" name="Text 20"/>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05 / 53</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05 · SELECCIÓN DEL EXPERIMENTO</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Diseño y tecnología se eligen antes de crear el trabajo</a:t>
            </a:r>
            <a:endParaRPr lang="en-US" sz="2800" dirty="0"/>
          </a:p>
        </p:txBody>
      </p:sp>
      <p:sp>
        <p:nvSpPr>
          <p:cNvPr id="6" name="Shape 3"/>
          <p:cNvSpPr/>
          <p:nvPr/>
        </p:nvSpPr>
        <p:spPr>
          <a:xfrm>
            <a:off x="713232" y="2267712"/>
            <a:ext cx="3127248" cy="1417320"/>
          </a:xfrm>
          <a:prstGeom prst="roundRect">
            <a:avLst>
              <a:gd name="adj" fmla="val 5161"/>
            </a:avLst>
          </a:prstGeom>
          <a:solidFill>
            <a:srgbClr val="FFFFFF"/>
          </a:solidFill>
          <a:ln w="8255">
            <a:solidFill>
              <a:srgbClr val="D9E2E9"/>
            </a:solidFill>
            <a:prstDash val="solid"/>
          </a:ln>
        </p:spPr>
      </p:sp>
      <p:sp>
        <p:nvSpPr>
          <p:cNvPr id="7" name="Text 4"/>
          <p:cNvSpPr/>
          <p:nvPr/>
        </p:nvSpPr>
        <p:spPr>
          <a:xfrm>
            <a:off x="877824"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Diseño / formato</a:t>
            </a:r>
            <a:endParaRPr lang="en-US" sz="2050" dirty="0"/>
          </a:p>
        </p:txBody>
      </p:sp>
      <p:sp>
        <p:nvSpPr>
          <p:cNvPr id="8" name="Text 5"/>
          <p:cNvSpPr/>
          <p:nvPr/>
        </p:nvSpPr>
        <p:spPr>
          <a:xfrm>
            <a:off x="868680"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Ejemplo: int8_16</a:t>
            </a:r>
            <a:endParaRPr lang="en-US" sz="1650" dirty="0"/>
          </a:p>
        </p:txBody>
      </p:sp>
      <p:sp>
        <p:nvSpPr>
          <p:cNvPr id="9" name="Shape 6"/>
          <p:cNvSpPr/>
          <p:nvPr/>
        </p:nvSpPr>
        <p:spPr>
          <a:xfrm>
            <a:off x="3840480" y="2971800"/>
            <a:ext cx="594360" cy="0"/>
          </a:xfrm>
          <a:prstGeom prst="line">
            <a:avLst/>
          </a:prstGeom>
          <a:noFill/>
          <a:ln w="25400">
            <a:solidFill>
              <a:srgbClr val="007C83"/>
            </a:solidFill>
            <a:prstDash val="solid"/>
            <a:headEnd type="none"/>
            <a:tailEnd type="triangle"/>
          </a:ln>
        </p:spPr>
      </p:sp>
      <p:sp>
        <p:nvSpPr>
          <p:cNvPr id="10" name="Shape 7"/>
          <p:cNvSpPr/>
          <p:nvPr/>
        </p:nvSpPr>
        <p:spPr>
          <a:xfrm>
            <a:off x="4526280" y="2267712"/>
            <a:ext cx="3127248" cy="1417320"/>
          </a:xfrm>
          <a:prstGeom prst="roundRect">
            <a:avLst>
              <a:gd name="adj" fmla="val 5161"/>
            </a:avLst>
          </a:prstGeom>
          <a:solidFill>
            <a:srgbClr val="FFFFFF"/>
          </a:solidFill>
          <a:ln w="8255">
            <a:solidFill>
              <a:srgbClr val="D9E2E9"/>
            </a:solidFill>
            <a:prstDash val="solid"/>
          </a:ln>
        </p:spPr>
      </p:sp>
      <p:sp>
        <p:nvSpPr>
          <p:cNvPr id="11" name="Text 8"/>
          <p:cNvSpPr/>
          <p:nvPr/>
        </p:nvSpPr>
        <p:spPr>
          <a:xfrm>
            <a:off x="4690872" y="2423160"/>
            <a:ext cx="2798064" cy="448056"/>
          </a:xfrm>
          <a:prstGeom prst="rect">
            <a:avLst/>
          </a:prstGeom>
          <a:noFill/>
          <a:ln/>
        </p:spPr>
        <p:txBody>
          <a:bodyPr wrap="square" lIns="0" tIns="0" rIns="0" bIns="0" rtlCol="0" anchor="t"/>
          <a:lstStyle/>
          <a:p>
            <a:pPr algn="ctr" indent="0" marL="0">
              <a:buNone/>
            </a:pPr>
            <a:r>
              <a:rPr lang="en-US" sz="1850" b="1" dirty="0">
                <a:solidFill>
                  <a:srgbClr val="007C83"/>
                </a:solidFill>
                <a:latin typeface="Arial" pitchFamily="34" charset="0"/>
                <a:ea typeface="Arial" pitchFamily="34" charset="-122"/>
                <a:cs typeface="Arial" pitchFamily="34" charset="-120"/>
              </a:rPr>
              <a:t>Tecnología / Liberty</a:t>
            </a:r>
            <a:endParaRPr lang="en-US" sz="1850" dirty="0"/>
          </a:p>
        </p:txBody>
      </p:sp>
      <p:sp>
        <p:nvSpPr>
          <p:cNvPr id="12" name="Text 9"/>
          <p:cNvSpPr/>
          <p:nvPr/>
        </p:nvSpPr>
        <p:spPr>
          <a:xfrm>
            <a:off x="4681728"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Ejemplo: nangate45</a:t>
            </a:r>
            <a:endParaRPr lang="en-US" sz="1650" dirty="0"/>
          </a:p>
        </p:txBody>
      </p:sp>
      <p:sp>
        <p:nvSpPr>
          <p:cNvPr id="13" name="Shape 10"/>
          <p:cNvSpPr/>
          <p:nvPr/>
        </p:nvSpPr>
        <p:spPr>
          <a:xfrm>
            <a:off x="7653528" y="2971800"/>
            <a:ext cx="594360" cy="0"/>
          </a:xfrm>
          <a:prstGeom prst="line">
            <a:avLst/>
          </a:prstGeom>
          <a:noFill/>
          <a:ln w="25400">
            <a:solidFill>
              <a:srgbClr val="007C83"/>
            </a:solidFill>
            <a:prstDash val="solid"/>
            <a:headEnd type="none"/>
            <a:tailEnd type="triangle"/>
          </a:ln>
        </p:spPr>
      </p:sp>
      <p:sp>
        <p:nvSpPr>
          <p:cNvPr id="14" name="Shape 11"/>
          <p:cNvSpPr/>
          <p:nvPr/>
        </p:nvSpPr>
        <p:spPr>
          <a:xfrm>
            <a:off x="8339328" y="2267712"/>
            <a:ext cx="3127248" cy="1417320"/>
          </a:xfrm>
          <a:prstGeom prst="roundRect">
            <a:avLst>
              <a:gd name="adj" fmla="val 5161"/>
            </a:avLst>
          </a:prstGeom>
          <a:solidFill>
            <a:srgbClr val="FFFFFF"/>
          </a:solidFill>
          <a:ln w="8255">
            <a:solidFill>
              <a:srgbClr val="D9E2E9"/>
            </a:solidFill>
            <a:prstDash val="solid"/>
          </a:ln>
        </p:spPr>
      </p:sp>
      <p:sp>
        <p:nvSpPr>
          <p:cNvPr id="15" name="Text 12"/>
          <p:cNvSpPr/>
          <p:nvPr/>
        </p:nvSpPr>
        <p:spPr>
          <a:xfrm>
            <a:off x="8503920"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POST /experiments</a:t>
            </a:r>
            <a:endParaRPr lang="en-US" sz="2050" dirty="0"/>
          </a:p>
        </p:txBody>
      </p:sp>
      <p:sp>
        <p:nvSpPr>
          <p:cNvPr id="16" name="Text 13"/>
          <p:cNvSpPr/>
          <p:nvPr/>
        </p:nvSpPr>
        <p:spPr>
          <a:xfrm>
            <a:off x="8494776"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UUID + estado queued</a:t>
            </a:r>
            <a:endParaRPr lang="en-US" sz="1650" dirty="0"/>
          </a:p>
        </p:txBody>
      </p:sp>
      <p:sp>
        <p:nvSpPr>
          <p:cNvPr id="17" name="Shape 14"/>
          <p:cNvSpPr/>
          <p:nvPr/>
        </p:nvSpPr>
        <p:spPr>
          <a:xfrm>
            <a:off x="758952" y="4123944"/>
            <a:ext cx="10698480" cy="1124712"/>
          </a:xfrm>
          <a:prstGeom prst="roundRect">
            <a:avLst>
              <a:gd name="adj" fmla="val 8130"/>
            </a:avLst>
          </a:prstGeom>
          <a:solidFill>
            <a:srgbClr val="102331"/>
          </a:solidFill>
          <a:ln w="8255">
            <a:solidFill>
              <a:srgbClr val="102331"/>
            </a:solidFill>
            <a:prstDash val="solid"/>
          </a:ln>
        </p:spPr>
      </p:sp>
      <p:sp>
        <p:nvSpPr>
          <p:cNvPr id="18" name="Text 15"/>
          <p:cNvSpPr/>
          <p:nvPr/>
        </p:nvSpPr>
        <p:spPr>
          <a:xfrm>
            <a:off x="932688" y="4325112"/>
            <a:ext cx="10351008" cy="310896"/>
          </a:xfrm>
          <a:prstGeom prst="rect">
            <a:avLst/>
          </a:prstGeom>
          <a:noFill/>
          <a:ln/>
        </p:spPr>
        <p:txBody>
          <a:bodyPr wrap="square" lIns="0" tIns="0" rIns="0" bIns="0" rtlCol="0" anchor="t"/>
          <a:lstStyle/>
          <a:p>
            <a:pPr indent="0" marL="0">
              <a:buNone/>
            </a:pPr>
            <a:r>
              <a:rPr lang="en-US" sz="1240" dirty="0">
                <a:solidFill>
                  <a:srgbClr val="80DDD5"/>
                </a:solidFill>
                <a:latin typeface="Courier New" pitchFamily="34" charset="0"/>
                <a:ea typeface="Courier New" pitchFamily="34" charset="-122"/>
                <a:cs typeface="Courier New" pitchFamily="34" charset="-120"/>
              </a:rPr>
              <a:t>POST /api/v1/experiments</a:t>
            </a:r>
            <a:endParaRPr lang="en-US" sz="1240" dirty="0"/>
          </a:p>
        </p:txBody>
      </p:sp>
      <p:sp>
        <p:nvSpPr>
          <p:cNvPr id="19" name="Text 16"/>
          <p:cNvSpPr/>
          <p:nvPr/>
        </p:nvSpPr>
        <p:spPr>
          <a:xfrm>
            <a:off x="932688" y="4636008"/>
            <a:ext cx="10351008" cy="310896"/>
          </a:xfrm>
          <a:prstGeom prst="rect">
            <a:avLst/>
          </a:prstGeom>
          <a:noFill/>
          <a:ln/>
        </p:spPr>
        <p:txBody>
          <a:bodyPr wrap="square" lIns="0" tIns="0" rIns="0" bIns="0" rtlCol="0" anchor="t"/>
          <a:lstStyle/>
          <a:p>
            <a:pPr indent="0" marL="0">
              <a:buNone/>
            </a:pPr>
            <a:r>
              <a:rPr lang="en-US" sz="1240" dirty="0">
                <a:solidFill>
                  <a:srgbClr val="EAF2F7"/>
                </a:solidFill>
                <a:latin typeface="Courier New" pitchFamily="34" charset="0"/>
                <a:ea typeface="Courier New" pitchFamily="34" charset="-122"/>
                <a:cs typeface="Courier New" pitchFamily="34" charset="-120"/>
              </a:rPr>
              <a:t>{"design_id":"int8_16","technology_id":"nangate45"}</a:t>
            </a:r>
            <a:endParaRPr lang="en-US" sz="1240" dirty="0"/>
          </a:p>
        </p:txBody>
      </p:sp>
      <p:sp>
        <p:nvSpPr>
          <p:cNvPr id="20" name="Shape 17"/>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21" name="Text 18"/>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Un experimento combina un top y un Liberty; no ejecuta todo el barrido automáticamente.</a:t>
            </a:r>
            <a:endParaRPr lang="en-US" sz="1550" dirty="0"/>
          </a:p>
        </p:txBody>
      </p:sp>
      <p:sp>
        <p:nvSpPr>
          <p:cNvPr id="22" name="Shape 19"/>
          <p:cNvSpPr/>
          <p:nvPr/>
        </p:nvSpPr>
        <p:spPr>
          <a:xfrm>
            <a:off x="585216" y="6492240"/>
            <a:ext cx="11009376" cy="0"/>
          </a:xfrm>
          <a:prstGeom prst="line">
            <a:avLst/>
          </a:prstGeom>
          <a:noFill/>
          <a:ln w="8890">
            <a:solidFill>
              <a:srgbClr val="D9E2E9"/>
            </a:solidFill>
            <a:prstDash val="solid"/>
            <a:headEnd type="none"/>
            <a:tailEnd type="none"/>
          </a:ln>
        </p:spPr>
      </p:sp>
      <p:sp>
        <p:nvSpPr>
          <p:cNvPr id="23" name="Text 20"/>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F13 · F14 | ExperimentForm.tsx · api/schemas.py · ExperimentService.submit()</a:t>
            </a:r>
            <a:endParaRPr lang="en-US" sz="870" dirty="0"/>
          </a:p>
        </p:txBody>
      </p:sp>
      <p:sp>
        <p:nvSpPr>
          <p:cNvPr id="24" name="Text 21"/>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06 / 53</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06 · TECNOLOGÍA Y CONDICIONES</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Las tres bibliotecas activas corresponden a condiciones typical</a:t>
            </a:r>
            <a:endParaRPr lang="en-US" sz="2800" dirty="0"/>
          </a:p>
        </p:txBody>
      </p:sp>
      <p:sp>
        <p:nvSpPr>
          <p:cNvPr id="6" name="Shape 3"/>
          <p:cNvSpPr/>
          <p:nvPr/>
        </p:nvSpPr>
        <p:spPr>
          <a:xfrm>
            <a:off x="685800" y="1874520"/>
            <a:ext cx="1920240" cy="429768"/>
          </a:xfrm>
          <a:prstGeom prst="rect">
            <a:avLst/>
          </a:prstGeom>
          <a:solidFill>
            <a:srgbClr val="14293B"/>
          </a:solidFill>
          <a:ln w="8255">
            <a:solidFill>
              <a:srgbClr val="F5F6F8"/>
            </a:solidFill>
            <a:prstDash val="solid"/>
          </a:ln>
        </p:spPr>
      </p:sp>
      <p:sp>
        <p:nvSpPr>
          <p:cNvPr id="7" name="Text 4"/>
          <p:cNvSpPr/>
          <p:nvPr/>
        </p:nvSpPr>
        <p:spPr>
          <a:xfrm>
            <a:off x="777240" y="1938528"/>
            <a:ext cx="173736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ID / nodo</a:t>
            </a:r>
            <a:endParaRPr lang="en-US" sz="1350" dirty="0"/>
          </a:p>
        </p:txBody>
      </p:sp>
      <p:sp>
        <p:nvSpPr>
          <p:cNvPr id="8" name="Shape 5"/>
          <p:cNvSpPr/>
          <p:nvPr/>
        </p:nvSpPr>
        <p:spPr>
          <a:xfrm>
            <a:off x="2606040" y="1874520"/>
            <a:ext cx="1234440" cy="429768"/>
          </a:xfrm>
          <a:prstGeom prst="rect">
            <a:avLst/>
          </a:prstGeom>
          <a:solidFill>
            <a:srgbClr val="14293B"/>
          </a:solidFill>
          <a:ln w="8255">
            <a:solidFill>
              <a:srgbClr val="F5F6F8"/>
            </a:solidFill>
            <a:prstDash val="solid"/>
          </a:ln>
        </p:spPr>
      </p:sp>
      <p:sp>
        <p:nvSpPr>
          <p:cNvPr id="9" name="Text 6"/>
          <p:cNvSpPr/>
          <p:nvPr/>
        </p:nvSpPr>
        <p:spPr>
          <a:xfrm>
            <a:off x="2697480" y="1938528"/>
            <a:ext cx="105156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Voltaje</a:t>
            </a:r>
            <a:endParaRPr lang="en-US" sz="1350" dirty="0"/>
          </a:p>
        </p:txBody>
      </p:sp>
      <p:sp>
        <p:nvSpPr>
          <p:cNvPr id="10" name="Shape 7"/>
          <p:cNvSpPr/>
          <p:nvPr/>
        </p:nvSpPr>
        <p:spPr>
          <a:xfrm>
            <a:off x="3840480" y="1874520"/>
            <a:ext cx="1417320" cy="429768"/>
          </a:xfrm>
          <a:prstGeom prst="rect">
            <a:avLst/>
          </a:prstGeom>
          <a:solidFill>
            <a:srgbClr val="14293B"/>
          </a:solidFill>
          <a:ln w="8255">
            <a:solidFill>
              <a:srgbClr val="F5F6F8"/>
            </a:solidFill>
            <a:prstDash val="solid"/>
          </a:ln>
        </p:spPr>
      </p:sp>
      <p:sp>
        <p:nvSpPr>
          <p:cNvPr id="11" name="Text 8"/>
          <p:cNvSpPr/>
          <p:nvPr/>
        </p:nvSpPr>
        <p:spPr>
          <a:xfrm>
            <a:off x="3931920" y="1938528"/>
            <a:ext cx="123444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Temperatura</a:t>
            </a:r>
            <a:endParaRPr lang="en-US" sz="1350" dirty="0"/>
          </a:p>
        </p:txBody>
      </p:sp>
      <p:sp>
        <p:nvSpPr>
          <p:cNvPr id="12" name="Shape 9"/>
          <p:cNvSpPr/>
          <p:nvPr/>
        </p:nvSpPr>
        <p:spPr>
          <a:xfrm>
            <a:off x="5257800" y="1874520"/>
            <a:ext cx="5715000" cy="429768"/>
          </a:xfrm>
          <a:prstGeom prst="rect">
            <a:avLst/>
          </a:prstGeom>
          <a:solidFill>
            <a:srgbClr val="14293B"/>
          </a:solidFill>
          <a:ln w="8255">
            <a:solidFill>
              <a:srgbClr val="F5F6F8"/>
            </a:solidFill>
            <a:prstDash val="solid"/>
          </a:ln>
        </p:spPr>
      </p:sp>
      <p:sp>
        <p:nvSpPr>
          <p:cNvPr id="13" name="Text 10"/>
          <p:cNvSpPr/>
          <p:nvPr/>
        </p:nvSpPr>
        <p:spPr>
          <a:xfrm>
            <a:off x="5349240" y="1938528"/>
            <a:ext cx="553212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Archivo Liberty activo</a:t>
            </a:r>
            <a:endParaRPr lang="en-US" sz="1350" dirty="0"/>
          </a:p>
        </p:txBody>
      </p:sp>
      <p:sp>
        <p:nvSpPr>
          <p:cNvPr id="14" name="Shape 11"/>
          <p:cNvSpPr/>
          <p:nvPr/>
        </p:nvSpPr>
        <p:spPr>
          <a:xfrm>
            <a:off x="685800" y="2304288"/>
            <a:ext cx="1920240" cy="685800"/>
          </a:xfrm>
          <a:prstGeom prst="rect">
            <a:avLst/>
          </a:prstGeom>
          <a:solidFill>
            <a:srgbClr val="FFFFFF"/>
          </a:solidFill>
          <a:ln w="8255">
            <a:solidFill>
              <a:srgbClr val="F5F6F8"/>
            </a:solidFill>
            <a:prstDash val="solid"/>
          </a:ln>
        </p:spPr>
      </p:sp>
      <p:sp>
        <p:nvSpPr>
          <p:cNvPr id="15" name="Text 12"/>
          <p:cNvSpPr/>
          <p:nvPr/>
        </p:nvSpPr>
        <p:spPr>
          <a:xfrm>
            <a:off x="777240" y="2368296"/>
            <a:ext cx="173736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ihp130 · 130 nm</a:t>
            </a:r>
            <a:endParaRPr lang="en-US" sz="1600" dirty="0"/>
          </a:p>
        </p:txBody>
      </p:sp>
      <p:sp>
        <p:nvSpPr>
          <p:cNvPr id="16" name="Shape 13"/>
          <p:cNvSpPr/>
          <p:nvPr/>
        </p:nvSpPr>
        <p:spPr>
          <a:xfrm>
            <a:off x="2606040" y="2304288"/>
            <a:ext cx="1234440" cy="685800"/>
          </a:xfrm>
          <a:prstGeom prst="rect">
            <a:avLst/>
          </a:prstGeom>
          <a:solidFill>
            <a:srgbClr val="FFFFFF"/>
          </a:solidFill>
          <a:ln w="8255">
            <a:solidFill>
              <a:srgbClr val="F5F6F8"/>
            </a:solidFill>
            <a:prstDash val="solid"/>
          </a:ln>
        </p:spPr>
      </p:sp>
      <p:sp>
        <p:nvSpPr>
          <p:cNvPr id="17" name="Text 14"/>
          <p:cNvSpPr/>
          <p:nvPr/>
        </p:nvSpPr>
        <p:spPr>
          <a:xfrm>
            <a:off x="2697480" y="2368296"/>
            <a:ext cx="10515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1,20 V</a:t>
            </a:r>
            <a:endParaRPr lang="en-US" sz="1600" dirty="0"/>
          </a:p>
        </p:txBody>
      </p:sp>
      <p:sp>
        <p:nvSpPr>
          <p:cNvPr id="18" name="Shape 15"/>
          <p:cNvSpPr/>
          <p:nvPr/>
        </p:nvSpPr>
        <p:spPr>
          <a:xfrm>
            <a:off x="3840480" y="2304288"/>
            <a:ext cx="1417320" cy="685800"/>
          </a:xfrm>
          <a:prstGeom prst="rect">
            <a:avLst/>
          </a:prstGeom>
          <a:solidFill>
            <a:srgbClr val="FFFFFF"/>
          </a:solidFill>
          <a:ln w="8255">
            <a:solidFill>
              <a:srgbClr val="F5F6F8"/>
            </a:solidFill>
            <a:prstDash val="solid"/>
          </a:ln>
        </p:spPr>
      </p:sp>
      <p:sp>
        <p:nvSpPr>
          <p:cNvPr id="19" name="Text 16"/>
          <p:cNvSpPr/>
          <p:nvPr/>
        </p:nvSpPr>
        <p:spPr>
          <a:xfrm>
            <a:off x="3931920" y="2368296"/>
            <a:ext cx="123444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25 °C</a:t>
            </a:r>
            <a:endParaRPr lang="en-US" sz="1600" dirty="0"/>
          </a:p>
        </p:txBody>
      </p:sp>
      <p:sp>
        <p:nvSpPr>
          <p:cNvPr id="20" name="Shape 17"/>
          <p:cNvSpPr/>
          <p:nvPr/>
        </p:nvSpPr>
        <p:spPr>
          <a:xfrm>
            <a:off x="5257800" y="2304288"/>
            <a:ext cx="5715000" cy="685800"/>
          </a:xfrm>
          <a:prstGeom prst="rect">
            <a:avLst/>
          </a:prstGeom>
          <a:solidFill>
            <a:srgbClr val="FFFFFF"/>
          </a:solidFill>
          <a:ln w="8255">
            <a:solidFill>
              <a:srgbClr val="F5F6F8"/>
            </a:solidFill>
            <a:prstDash val="solid"/>
          </a:ln>
        </p:spPr>
      </p:sp>
      <p:sp>
        <p:nvSpPr>
          <p:cNvPr id="21" name="Text 18"/>
          <p:cNvSpPr/>
          <p:nvPr/>
        </p:nvSpPr>
        <p:spPr>
          <a:xfrm>
            <a:off x="5349240" y="2368296"/>
            <a:ext cx="553212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sg13g2_stdcell_typ_1p20V_25C.lib</a:t>
            </a:r>
            <a:endParaRPr lang="en-US" sz="1600" dirty="0"/>
          </a:p>
        </p:txBody>
      </p:sp>
      <p:sp>
        <p:nvSpPr>
          <p:cNvPr id="22" name="Shape 19"/>
          <p:cNvSpPr/>
          <p:nvPr/>
        </p:nvSpPr>
        <p:spPr>
          <a:xfrm>
            <a:off x="685800" y="2990088"/>
            <a:ext cx="1920240" cy="685800"/>
          </a:xfrm>
          <a:prstGeom prst="rect">
            <a:avLst/>
          </a:prstGeom>
          <a:solidFill>
            <a:srgbClr val="EAF0F5"/>
          </a:solidFill>
          <a:ln w="8255">
            <a:solidFill>
              <a:srgbClr val="F5F6F8"/>
            </a:solidFill>
            <a:prstDash val="solid"/>
          </a:ln>
        </p:spPr>
      </p:sp>
      <p:sp>
        <p:nvSpPr>
          <p:cNvPr id="23" name="Text 20"/>
          <p:cNvSpPr/>
          <p:nvPr/>
        </p:nvSpPr>
        <p:spPr>
          <a:xfrm>
            <a:off x="777240" y="3054096"/>
            <a:ext cx="173736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nangate45 · 45 nm</a:t>
            </a:r>
            <a:endParaRPr lang="en-US" sz="1600" dirty="0"/>
          </a:p>
        </p:txBody>
      </p:sp>
      <p:sp>
        <p:nvSpPr>
          <p:cNvPr id="24" name="Shape 21"/>
          <p:cNvSpPr/>
          <p:nvPr/>
        </p:nvSpPr>
        <p:spPr>
          <a:xfrm>
            <a:off x="2606040" y="2990088"/>
            <a:ext cx="1234440" cy="685800"/>
          </a:xfrm>
          <a:prstGeom prst="rect">
            <a:avLst/>
          </a:prstGeom>
          <a:solidFill>
            <a:srgbClr val="EAF0F5"/>
          </a:solidFill>
          <a:ln w="8255">
            <a:solidFill>
              <a:srgbClr val="F5F6F8"/>
            </a:solidFill>
            <a:prstDash val="solid"/>
          </a:ln>
        </p:spPr>
      </p:sp>
      <p:sp>
        <p:nvSpPr>
          <p:cNvPr id="25" name="Text 22"/>
          <p:cNvSpPr/>
          <p:nvPr/>
        </p:nvSpPr>
        <p:spPr>
          <a:xfrm>
            <a:off x="2697480" y="3054096"/>
            <a:ext cx="10515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1,10 V</a:t>
            </a:r>
            <a:endParaRPr lang="en-US" sz="1600" dirty="0"/>
          </a:p>
        </p:txBody>
      </p:sp>
      <p:sp>
        <p:nvSpPr>
          <p:cNvPr id="26" name="Shape 23"/>
          <p:cNvSpPr/>
          <p:nvPr/>
        </p:nvSpPr>
        <p:spPr>
          <a:xfrm>
            <a:off x="3840480" y="2990088"/>
            <a:ext cx="1417320" cy="685800"/>
          </a:xfrm>
          <a:prstGeom prst="rect">
            <a:avLst/>
          </a:prstGeom>
          <a:solidFill>
            <a:srgbClr val="EAF0F5"/>
          </a:solidFill>
          <a:ln w="8255">
            <a:solidFill>
              <a:srgbClr val="F5F6F8"/>
            </a:solidFill>
            <a:prstDash val="solid"/>
          </a:ln>
        </p:spPr>
      </p:sp>
      <p:sp>
        <p:nvSpPr>
          <p:cNvPr id="27" name="Text 24"/>
          <p:cNvSpPr/>
          <p:nvPr/>
        </p:nvSpPr>
        <p:spPr>
          <a:xfrm>
            <a:off x="3931920" y="3054096"/>
            <a:ext cx="123444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25 °C</a:t>
            </a:r>
            <a:endParaRPr lang="en-US" sz="1600" dirty="0"/>
          </a:p>
        </p:txBody>
      </p:sp>
      <p:sp>
        <p:nvSpPr>
          <p:cNvPr id="28" name="Shape 25"/>
          <p:cNvSpPr/>
          <p:nvPr/>
        </p:nvSpPr>
        <p:spPr>
          <a:xfrm>
            <a:off x="5257800" y="2990088"/>
            <a:ext cx="5715000" cy="685800"/>
          </a:xfrm>
          <a:prstGeom prst="rect">
            <a:avLst/>
          </a:prstGeom>
          <a:solidFill>
            <a:srgbClr val="EAF0F5"/>
          </a:solidFill>
          <a:ln w="8255">
            <a:solidFill>
              <a:srgbClr val="F5F6F8"/>
            </a:solidFill>
            <a:prstDash val="solid"/>
          </a:ln>
        </p:spPr>
      </p:sp>
      <p:sp>
        <p:nvSpPr>
          <p:cNvPr id="29" name="Text 26"/>
          <p:cNvSpPr/>
          <p:nvPr/>
        </p:nvSpPr>
        <p:spPr>
          <a:xfrm>
            <a:off x="5349240" y="3054096"/>
            <a:ext cx="553212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NangateOpenCellLibrary_typical.lib</a:t>
            </a:r>
            <a:endParaRPr lang="en-US" sz="1600" dirty="0"/>
          </a:p>
        </p:txBody>
      </p:sp>
      <p:sp>
        <p:nvSpPr>
          <p:cNvPr id="30" name="Shape 27"/>
          <p:cNvSpPr/>
          <p:nvPr/>
        </p:nvSpPr>
        <p:spPr>
          <a:xfrm>
            <a:off x="685800" y="3675888"/>
            <a:ext cx="1920240" cy="685800"/>
          </a:xfrm>
          <a:prstGeom prst="rect">
            <a:avLst/>
          </a:prstGeom>
          <a:solidFill>
            <a:srgbClr val="FFFFFF"/>
          </a:solidFill>
          <a:ln w="8255">
            <a:solidFill>
              <a:srgbClr val="F5F6F8"/>
            </a:solidFill>
            <a:prstDash val="solid"/>
          </a:ln>
        </p:spPr>
      </p:sp>
      <p:sp>
        <p:nvSpPr>
          <p:cNvPr id="31" name="Text 28"/>
          <p:cNvSpPr/>
          <p:nvPr/>
        </p:nvSpPr>
        <p:spPr>
          <a:xfrm>
            <a:off x="777240" y="3739896"/>
            <a:ext cx="173736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nangate15 · 15 nm</a:t>
            </a:r>
            <a:endParaRPr lang="en-US" sz="1600" dirty="0"/>
          </a:p>
        </p:txBody>
      </p:sp>
      <p:sp>
        <p:nvSpPr>
          <p:cNvPr id="32" name="Shape 29"/>
          <p:cNvSpPr/>
          <p:nvPr/>
        </p:nvSpPr>
        <p:spPr>
          <a:xfrm>
            <a:off x="2606040" y="3675888"/>
            <a:ext cx="1234440" cy="685800"/>
          </a:xfrm>
          <a:prstGeom prst="rect">
            <a:avLst/>
          </a:prstGeom>
          <a:solidFill>
            <a:srgbClr val="FFFFFF"/>
          </a:solidFill>
          <a:ln w="8255">
            <a:solidFill>
              <a:srgbClr val="F5F6F8"/>
            </a:solidFill>
            <a:prstDash val="solid"/>
          </a:ln>
        </p:spPr>
      </p:sp>
      <p:sp>
        <p:nvSpPr>
          <p:cNvPr id="33" name="Text 30"/>
          <p:cNvSpPr/>
          <p:nvPr/>
        </p:nvSpPr>
        <p:spPr>
          <a:xfrm>
            <a:off x="2697480" y="3739896"/>
            <a:ext cx="10515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0,80 V</a:t>
            </a:r>
            <a:endParaRPr lang="en-US" sz="1600" dirty="0"/>
          </a:p>
        </p:txBody>
      </p:sp>
      <p:sp>
        <p:nvSpPr>
          <p:cNvPr id="34" name="Shape 31"/>
          <p:cNvSpPr/>
          <p:nvPr/>
        </p:nvSpPr>
        <p:spPr>
          <a:xfrm>
            <a:off x="3840480" y="3675888"/>
            <a:ext cx="1417320" cy="685800"/>
          </a:xfrm>
          <a:prstGeom prst="rect">
            <a:avLst/>
          </a:prstGeom>
          <a:solidFill>
            <a:srgbClr val="FFFFFF"/>
          </a:solidFill>
          <a:ln w="8255">
            <a:solidFill>
              <a:srgbClr val="F5F6F8"/>
            </a:solidFill>
            <a:prstDash val="solid"/>
          </a:ln>
        </p:spPr>
      </p:sp>
      <p:sp>
        <p:nvSpPr>
          <p:cNvPr id="35" name="Text 32"/>
          <p:cNvSpPr/>
          <p:nvPr/>
        </p:nvSpPr>
        <p:spPr>
          <a:xfrm>
            <a:off x="3931920" y="3739896"/>
            <a:ext cx="123444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25 °C</a:t>
            </a:r>
            <a:endParaRPr lang="en-US" sz="1600" dirty="0"/>
          </a:p>
        </p:txBody>
      </p:sp>
      <p:sp>
        <p:nvSpPr>
          <p:cNvPr id="36" name="Shape 33"/>
          <p:cNvSpPr/>
          <p:nvPr/>
        </p:nvSpPr>
        <p:spPr>
          <a:xfrm>
            <a:off x="5257800" y="3675888"/>
            <a:ext cx="5715000" cy="685800"/>
          </a:xfrm>
          <a:prstGeom prst="rect">
            <a:avLst/>
          </a:prstGeom>
          <a:solidFill>
            <a:srgbClr val="FFFFFF"/>
          </a:solidFill>
          <a:ln w="8255">
            <a:solidFill>
              <a:srgbClr val="F5F6F8"/>
            </a:solidFill>
            <a:prstDash val="solid"/>
          </a:ln>
        </p:spPr>
      </p:sp>
      <p:sp>
        <p:nvSpPr>
          <p:cNvPr id="37" name="Text 34"/>
          <p:cNvSpPr/>
          <p:nvPr/>
        </p:nvSpPr>
        <p:spPr>
          <a:xfrm>
            <a:off x="5349240" y="3739896"/>
            <a:ext cx="553212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NanGate_15nm_OCL_typical_conditional_nldm.lib</a:t>
            </a:r>
            <a:endParaRPr lang="en-US" sz="1600" dirty="0"/>
          </a:p>
        </p:txBody>
      </p:sp>
      <p:sp>
        <p:nvSpPr>
          <p:cNvPr id="38" name="Shape 35"/>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39" name="Text 36"/>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Sí: todos los experimentos documentados usan los typical seleccionados.</a:t>
            </a:r>
            <a:endParaRPr lang="en-US" sz="1550" dirty="0"/>
          </a:p>
        </p:txBody>
      </p:sp>
      <p:sp>
        <p:nvSpPr>
          <p:cNvPr id="40" name="Shape 37"/>
          <p:cNvSpPr/>
          <p:nvPr/>
        </p:nvSpPr>
        <p:spPr>
          <a:xfrm>
            <a:off x="585216" y="6492240"/>
            <a:ext cx="11009376" cy="0"/>
          </a:xfrm>
          <a:prstGeom prst="line">
            <a:avLst/>
          </a:prstGeom>
          <a:noFill/>
          <a:ln w="8890">
            <a:solidFill>
              <a:srgbClr val="D9E2E9"/>
            </a:solidFill>
            <a:prstDash val="solid"/>
            <a:headEnd type="none"/>
            <a:tailEnd type="none"/>
          </a:ln>
        </p:spPr>
      </p:sp>
      <p:sp>
        <p:nvSpPr>
          <p:cNvPr id="41" name="Text 38"/>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F08 · F09 · F10 | infrastructure/catalog.py · scripts/prepare_assets.py</a:t>
            </a:r>
            <a:endParaRPr lang="en-US" sz="870" dirty="0"/>
          </a:p>
        </p:txBody>
      </p:sp>
      <p:sp>
        <p:nvSpPr>
          <p:cNvPr id="42" name="Text 39"/>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07 / 53</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07 · QUÉ REPRESENTA CADA BIBLIOTECA</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Un proceso real y un kit predictivo sostienen conclusiones distintas</a:t>
            </a:r>
            <a:endParaRPr lang="en-US" sz="2800" dirty="0"/>
          </a:p>
        </p:txBody>
      </p:sp>
      <p:sp>
        <p:nvSpPr>
          <p:cNvPr id="6" name="Shape 3"/>
          <p:cNvSpPr/>
          <p:nvPr/>
        </p:nvSpPr>
        <p:spPr>
          <a:xfrm>
            <a:off x="621792" y="1975104"/>
            <a:ext cx="3575304" cy="3511296"/>
          </a:xfrm>
          <a:prstGeom prst="rect">
            <a:avLst/>
          </a:prstGeom>
          <a:solidFill>
            <a:srgbClr val="FFFFFF"/>
          </a:solidFill>
          <a:ln w="8255">
            <a:solidFill>
              <a:srgbClr val="D9E2E9"/>
            </a:solidFill>
            <a:prstDash val="solid"/>
          </a:ln>
        </p:spPr>
      </p:sp>
      <p:sp>
        <p:nvSpPr>
          <p:cNvPr id="7" name="Shape 4"/>
          <p:cNvSpPr/>
          <p:nvPr/>
        </p:nvSpPr>
        <p:spPr>
          <a:xfrm>
            <a:off x="621792" y="1975104"/>
            <a:ext cx="50292" cy="3511296"/>
          </a:xfrm>
          <a:prstGeom prst="rect">
            <a:avLst/>
          </a:prstGeom>
          <a:solidFill>
            <a:srgbClr val="007C83"/>
          </a:solidFill>
          <a:ln w="8255">
            <a:solidFill>
              <a:srgbClr val="007C83"/>
            </a:solidFill>
            <a:prstDash val="solid"/>
          </a:ln>
        </p:spPr>
      </p:sp>
      <p:sp>
        <p:nvSpPr>
          <p:cNvPr id="8" name="Text 5"/>
          <p:cNvSpPr/>
          <p:nvPr/>
        </p:nvSpPr>
        <p:spPr>
          <a:xfrm>
            <a:off x="822960"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IHP SG13G2 · 130 nm</a:t>
            </a:r>
            <a:endParaRPr lang="en-US" sz="2200" dirty="0"/>
          </a:p>
        </p:txBody>
      </p:sp>
      <p:sp>
        <p:nvSpPr>
          <p:cNvPr id="9" name="Text 6"/>
          <p:cNvSpPr/>
          <p:nvPr/>
        </p:nvSpPr>
        <p:spPr>
          <a:xfrm>
            <a:off x="822960"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Deriva de un proceso fabricado. El PDK abierto figura como preview.</a:t>
            </a:r>
            <a:endParaRPr lang="en-US" sz="1900" dirty="0"/>
          </a:p>
        </p:txBody>
      </p:sp>
      <p:sp>
        <p:nvSpPr>
          <p:cNvPr id="10" name="Shape 7"/>
          <p:cNvSpPr/>
          <p:nvPr/>
        </p:nvSpPr>
        <p:spPr>
          <a:xfrm>
            <a:off x="4352544" y="1975104"/>
            <a:ext cx="3575304" cy="3511296"/>
          </a:xfrm>
          <a:prstGeom prst="rect">
            <a:avLst/>
          </a:prstGeom>
          <a:solidFill>
            <a:srgbClr val="FFFFFF"/>
          </a:solidFill>
          <a:ln w="8255">
            <a:solidFill>
              <a:srgbClr val="D9E2E9"/>
            </a:solidFill>
            <a:prstDash val="solid"/>
          </a:ln>
        </p:spPr>
      </p:sp>
      <p:sp>
        <p:nvSpPr>
          <p:cNvPr id="11" name="Shape 8"/>
          <p:cNvSpPr/>
          <p:nvPr/>
        </p:nvSpPr>
        <p:spPr>
          <a:xfrm>
            <a:off x="4352544" y="1975104"/>
            <a:ext cx="50292" cy="3511296"/>
          </a:xfrm>
          <a:prstGeom prst="rect">
            <a:avLst/>
          </a:prstGeom>
          <a:solidFill>
            <a:srgbClr val="007C83"/>
          </a:solidFill>
          <a:ln w="8255">
            <a:solidFill>
              <a:srgbClr val="007C83"/>
            </a:solidFill>
            <a:prstDash val="solid"/>
          </a:ln>
        </p:spPr>
      </p:sp>
      <p:sp>
        <p:nvSpPr>
          <p:cNvPr id="12" name="Text 9"/>
          <p:cNvSpPr/>
          <p:nvPr/>
        </p:nvSpPr>
        <p:spPr>
          <a:xfrm>
            <a:off x="4553712"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Nangate / FreePDK45</a:t>
            </a:r>
            <a:endParaRPr lang="en-US" sz="2200" dirty="0"/>
          </a:p>
        </p:txBody>
      </p:sp>
      <p:sp>
        <p:nvSpPr>
          <p:cNvPr id="13" name="Text 10"/>
          <p:cNvSpPr/>
          <p:nvPr/>
        </p:nvSpPr>
        <p:spPr>
          <a:xfrm>
            <a:off x="4553712"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Biblioteca de referencia sobre un proceso genérico predictivo de investigación.</a:t>
            </a:r>
            <a:endParaRPr lang="en-US" sz="1900" dirty="0"/>
          </a:p>
        </p:txBody>
      </p:sp>
      <p:sp>
        <p:nvSpPr>
          <p:cNvPr id="14" name="Shape 11"/>
          <p:cNvSpPr/>
          <p:nvPr/>
        </p:nvSpPr>
        <p:spPr>
          <a:xfrm>
            <a:off x="8083296" y="1975104"/>
            <a:ext cx="3575304" cy="3511296"/>
          </a:xfrm>
          <a:prstGeom prst="rect">
            <a:avLst/>
          </a:prstGeom>
          <a:solidFill>
            <a:srgbClr val="FFFFFF"/>
          </a:solidFill>
          <a:ln w="8255">
            <a:solidFill>
              <a:srgbClr val="D9E2E9"/>
            </a:solidFill>
            <a:prstDash val="solid"/>
          </a:ln>
        </p:spPr>
      </p:sp>
      <p:sp>
        <p:nvSpPr>
          <p:cNvPr id="15" name="Shape 12"/>
          <p:cNvSpPr/>
          <p:nvPr/>
        </p:nvSpPr>
        <p:spPr>
          <a:xfrm>
            <a:off x="8083296" y="1975104"/>
            <a:ext cx="50292" cy="3511296"/>
          </a:xfrm>
          <a:prstGeom prst="rect">
            <a:avLst/>
          </a:prstGeom>
          <a:solidFill>
            <a:srgbClr val="B36A10"/>
          </a:solidFill>
          <a:ln w="8255">
            <a:solidFill>
              <a:srgbClr val="B36A10"/>
            </a:solidFill>
            <a:prstDash val="solid"/>
          </a:ln>
        </p:spPr>
      </p:sp>
      <p:sp>
        <p:nvSpPr>
          <p:cNvPr id="16" name="Text 13"/>
          <p:cNvSpPr/>
          <p:nvPr/>
        </p:nvSpPr>
        <p:spPr>
          <a:xfrm>
            <a:off x="8284464" y="2185416"/>
            <a:ext cx="3172968" cy="658368"/>
          </a:xfrm>
          <a:prstGeom prst="rect">
            <a:avLst/>
          </a:prstGeom>
          <a:noFill/>
          <a:ln/>
        </p:spPr>
        <p:txBody>
          <a:bodyPr wrap="square" lIns="0" tIns="0" rIns="0" bIns="0" rtlCol="0" anchor="t"/>
          <a:lstStyle/>
          <a:p>
            <a:pPr indent="0" marL="0">
              <a:buNone/>
            </a:pPr>
            <a:r>
              <a:rPr lang="en-US" sz="2200" b="1" dirty="0">
                <a:solidFill>
                  <a:srgbClr val="B36A10"/>
                </a:solidFill>
                <a:latin typeface="Arial" pitchFamily="34" charset="0"/>
                <a:ea typeface="Arial" pitchFamily="34" charset="-122"/>
                <a:cs typeface="Arial" pitchFamily="34" charset="-120"/>
              </a:rPr>
              <a:t>Nangate / FreePDK15</a:t>
            </a:r>
            <a:endParaRPr lang="en-US" sz="2200" dirty="0"/>
          </a:p>
        </p:txBody>
      </p:sp>
      <p:sp>
        <p:nvSpPr>
          <p:cNvPr id="17" name="Text 14"/>
          <p:cNvSpPr/>
          <p:nvPr/>
        </p:nvSpPr>
        <p:spPr>
          <a:xfrm>
            <a:off x="8284464"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Referencia predictiva FinFET; no equivale a cualquier nodo comercial de 15 nm.</a:t>
            </a:r>
            <a:endParaRPr lang="en-US" sz="1900" dirty="0"/>
          </a:p>
        </p:txBody>
      </p:sp>
      <p:sp>
        <p:nvSpPr>
          <p:cNvPr id="18" name="Shape 15"/>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19" name="Text 16"/>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La conclusión válida nombra la biblioteca exacta, su corner y su procedencia.</a:t>
            </a:r>
            <a:endParaRPr lang="en-US" sz="1550" dirty="0"/>
          </a:p>
        </p:txBody>
      </p:sp>
      <p:sp>
        <p:nvSpPr>
          <p:cNvPr id="20" name="Shape 17"/>
          <p:cNvSpPr/>
          <p:nvPr/>
        </p:nvSpPr>
        <p:spPr>
          <a:xfrm>
            <a:off x="585216" y="6492240"/>
            <a:ext cx="11009376" cy="0"/>
          </a:xfrm>
          <a:prstGeom prst="line">
            <a:avLst/>
          </a:prstGeom>
          <a:noFill/>
          <a:ln w="8890">
            <a:solidFill>
              <a:srgbClr val="D9E2E9"/>
            </a:solidFill>
            <a:prstDash val="solid"/>
            <a:headEnd type="none"/>
            <a:tailEnd type="none"/>
          </a:ln>
        </p:spPr>
      </p:sp>
      <p:sp>
        <p:nvSpPr>
          <p:cNvPr id="21" name="Text 18"/>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F08 · F09 · F10</a:t>
            </a:r>
            <a:endParaRPr lang="en-US" sz="870" dirty="0"/>
          </a:p>
        </p:txBody>
      </p:sp>
      <p:sp>
        <p:nvSpPr>
          <p:cNvPr id="22" name="Text 19"/>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08 / 53</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08 · MATRIZ EXPERIMENTAL</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El inventario suministrado es mayor que el catálogo habilitado</a:t>
            </a:r>
            <a:endParaRPr lang="en-US" sz="2800" dirty="0"/>
          </a:p>
        </p:txBody>
      </p:sp>
      <p:sp>
        <p:nvSpPr>
          <p:cNvPr id="6" name="Shape 3"/>
          <p:cNvSpPr/>
          <p:nvPr/>
        </p:nvSpPr>
        <p:spPr>
          <a:xfrm>
            <a:off x="621792" y="1975104"/>
            <a:ext cx="3575304" cy="3511296"/>
          </a:xfrm>
          <a:prstGeom prst="rect">
            <a:avLst/>
          </a:prstGeom>
          <a:solidFill>
            <a:srgbClr val="FFFFFF"/>
          </a:solidFill>
          <a:ln w="8255">
            <a:solidFill>
              <a:srgbClr val="D9E2E9"/>
            </a:solidFill>
            <a:prstDash val="solid"/>
          </a:ln>
        </p:spPr>
      </p:sp>
      <p:sp>
        <p:nvSpPr>
          <p:cNvPr id="7" name="Shape 4"/>
          <p:cNvSpPr/>
          <p:nvPr/>
        </p:nvSpPr>
        <p:spPr>
          <a:xfrm>
            <a:off x="621792" y="1975104"/>
            <a:ext cx="50292" cy="3511296"/>
          </a:xfrm>
          <a:prstGeom prst="rect">
            <a:avLst/>
          </a:prstGeom>
          <a:solidFill>
            <a:srgbClr val="007C83"/>
          </a:solidFill>
          <a:ln w="8255">
            <a:solidFill>
              <a:srgbClr val="007C83"/>
            </a:solidFill>
            <a:prstDash val="solid"/>
          </a:ln>
        </p:spPr>
      </p:sp>
      <p:sp>
        <p:nvSpPr>
          <p:cNvPr id="8" name="Text 5"/>
          <p:cNvSpPr/>
          <p:nvPr/>
        </p:nvSpPr>
        <p:spPr>
          <a:xfrm>
            <a:off x="822960"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33 actuales</a:t>
            </a:r>
            <a:endParaRPr lang="en-US" sz="2200" dirty="0"/>
          </a:p>
        </p:txBody>
      </p:sp>
      <p:sp>
        <p:nvSpPr>
          <p:cNvPr id="9" name="Text 6"/>
          <p:cNvSpPr/>
          <p:nvPr/>
        </p:nvSpPr>
        <p:spPr>
          <a:xfrm>
            <a:off x="822960"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11 diseños × 3 Liberty activos; todos typical.</a:t>
            </a:r>
            <a:endParaRPr lang="en-US" sz="1900" dirty="0"/>
          </a:p>
        </p:txBody>
      </p:sp>
      <p:sp>
        <p:nvSpPr>
          <p:cNvPr id="10" name="Shape 7"/>
          <p:cNvSpPr/>
          <p:nvPr/>
        </p:nvSpPr>
        <p:spPr>
          <a:xfrm>
            <a:off x="4352544" y="1975104"/>
            <a:ext cx="3575304" cy="3511296"/>
          </a:xfrm>
          <a:prstGeom prst="rect">
            <a:avLst/>
          </a:prstGeom>
          <a:solidFill>
            <a:srgbClr val="FFFFFF"/>
          </a:solidFill>
          <a:ln w="8255">
            <a:solidFill>
              <a:srgbClr val="D9E2E9"/>
            </a:solidFill>
            <a:prstDash val="solid"/>
          </a:ln>
        </p:spPr>
      </p:sp>
      <p:sp>
        <p:nvSpPr>
          <p:cNvPr id="11" name="Shape 8"/>
          <p:cNvSpPr/>
          <p:nvPr/>
        </p:nvSpPr>
        <p:spPr>
          <a:xfrm>
            <a:off x="4352544" y="1975104"/>
            <a:ext cx="50292" cy="3511296"/>
          </a:xfrm>
          <a:prstGeom prst="rect">
            <a:avLst/>
          </a:prstGeom>
          <a:solidFill>
            <a:srgbClr val="007C83"/>
          </a:solidFill>
          <a:ln w="8255">
            <a:solidFill>
              <a:srgbClr val="007C83"/>
            </a:solidFill>
            <a:prstDash val="solid"/>
          </a:ln>
        </p:spPr>
      </p:sp>
      <p:sp>
        <p:nvSpPr>
          <p:cNvPr id="12" name="Text 9"/>
          <p:cNvSpPr/>
          <p:nvPr/>
        </p:nvSpPr>
        <p:spPr>
          <a:xfrm>
            <a:off x="4553712"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121 propuestas</a:t>
            </a:r>
            <a:endParaRPr lang="en-US" sz="2200" dirty="0"/>
          </a:p>
        </p:txBody>
      </p:sp>
      <p:sp>
        <p:nvSpPr>
          <p:cNvPr id="13" name="Text 10"/>
          <p:cNvSpPr/>
          <p:nvPr/>
        </p:nvSpPr>
        <p:spPr>
          <a:xfrm>
            <a:off x="4553712"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11 diseños × 11 Liberty NLDM base adicionales, sin integrar.</a:t>
            </a:r>
            <a:endParaRPr lang="en-US" sz="1900" dirty="0"/>
          </a:p>
        </p:txBody>
      </p:sp>
      <p:sp>
        <p:nvSpPr>
          <p:cNvPr id="14" name="Shape 11"/>
          <p:cNvSpPr/>
          <p:nvPr/>
        </p:nvSpPr>
        <p:spPr>
          <a:xfrm>
            <a:off x="8083296" y="1975104"/>
            <a:ext cx="3575304" cy="3511296"/>
          </a:xfrm>
          <a:prstGeom prst="rect">
            <a:avLst/>
          </a:prstGeom>
          <a:solidFill>
            <a:srgbClr val="FFFFFF"/>
          </a:solidFill>
          <a:ln w="8255">
            <a:solidFill>
              <a:srgbClr val="D9E2E9"/>
            </a:solidFill>
            <a:prstDash val="solid"/>
          </a:ln>
        </p:spPr>
      </p:sp>
      <p:sp>
        <p:nvSpPr>
          <p:cNvPr id="15" name="Shape 12"/>
          <p:cNvSpPr/>
          <p:nvPr/>
        </p:nvSpPr>
        <p:spPr>
          <a:xfrm>
            <a:off x="8083296" y="1975104"/>
            <a:ext cx="50292" cy="3511296"/>
          </a:xfrm>
          <a:prstGeom prst="rect">
            <a:avLst/>
          </a:prstGeom>
          <a:solidFill>
            <a:srgbClr val="B36A10"/>
          </a:solidFill>
          <a:ln w="8255">
            <a:solidFill>
              <a:srgbClr val="B36A10"/>
            </a:solidFill>
            <a:prstDash val="solid"/>
          </a:ln>
        </p:spPr>
      </p:sp>
      <p:sp>
        <p:nvSpPr>
          <p:cNvPr id="16" name="Text 13"/>
          <p:cNvSpPr/>
          <p:nvPr/>
        </p:nvSpPr>
        <p:spPr>
          <a:xfrm>
            <a:off x="8284464" y="2185416"/>
            <a:ext cx="3172968" cy="658368"/>
          </a:xfrm>
          <a:prstGeom prst="rect">
            <a:avLst/>
          </a:prstGeom>
          <a:noFill/>
          <a:ln/>
        </p:spPr>
        <p:txBody>
          <a:bodyPr wrap="square" lIns="0" tIns="0" rIns="0" bIns="0" rtlCol="0" anchor="t"/>
          <a:lstStyle/>
          <a:p>
            <a:pPr indent="0" marL="0">
              <a:buNone/>
            </a:pPr>
            <a:r>
              <a:rPr lang="en-US" sz="2200" b="1" dirty="0">
                <a:solidFill>
                  <a:srgbClr val="B36A10"/>
                </a:solidFill>
                <a:latin typeface="Arial" pitchFamily="34" charset="0"/>
                <a:ea typeface="Arial" pitchFamily="34" charset="-122"/>
                <a:cs typeface="Arial" pitchFamily="34" charset="-120"/>
              </a:rPr>
              <a:t>53 archivos inventariados</a:t>
            </a:r>
            <a:endParaRPr lang="en-US" sz="2200" dirty="0"/>
          </a:p>
        </p:txBody>
      </p:sp>
      <p:sp>
        <p:nvSpPr>
          <p:cNvPr id="17" name="Text 14"/>
          <p:cNvSpPr/>
          <p:nvPr/>
        </p:nvSpPr>
        <p:spPr>
          <a:xfrm>
            <a:off x="8284464"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NLDM, CCS, ECSM y funcionales; se excluyen ._* de Apple.</a:t>
            </a:r>
            <a:endParaRPr lang="en-US" sz="1900" dirty="0"/>
          </a:p>
        </p:txBody>
      </p:sp>
      <p:sp>
        <p:nvSpPr>
          <p:cNvPr id="18" name="Shape 15"/>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19" name="Text 16"/>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Tener un archivo en syn_libraries no lo habilita automáticamente en la API.</a:t>
            </a:r>
            <a:endParaRPr lang="en-US" sz="1550" dirty="0"/>
          </a:p>
        </p:txBody>
      </p:sp>
      <p:sp>
        <p:nvSpPr>
          <p:cNvPr id="20" name="Shape 17"/>
          <p:cNvSpPr/>
          <p:nvPr/>
        </p:nvSpPr>
        <p:spPr>
          <a:xfrm>
            <a:off x="585216" y="6492240"/>
            <a:ext cx="11009376" cy="0"/>
          </a:xfrm>
          <a:prstGeom prst="line">
            <a:avLst/>
          </a:prstGeom>
          <a:noFill/>
          <a:ln w="8890">
            <a:solidFill>
              <a:srgbClr val="D9E2E9"/>
            </a:solidFill>
            <a:prstDash val="solid"/>
            <a:headEnd type="none"/>
            <a:tailEnd type="none"/>
          </a:ln>
        </p:spPr>
      </p:sp>
      <p:sp>
        <p:nvSpPr>
          <p:cNvPr id="21" name="Text 18"/>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docs/experimentos/Plan_experimentos_DPU_ASIC_2026-10-19.xlsx</a:t>
            </a:r>
            <a:endParaRPr lang="en-US" sz="870" dirty="0"/>
          </a:p>
        </p:txBody>
      </p:sp>
      <p:sp>
        <p:nvSpPr>
          <p:cNvPr id="22" name="Text 19"/>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09 / 53</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09 · ARQUITECTURA LIMPIA</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La aplicación separa decisiones de dominio de herramientas externas</a:t>
            </a:r>
            <a:endParaRPr lang="en-US" sz="2800" dirty="0"/>
          </a:p>
        </p:txBody>
      </p:sp>
      <p:sp>
        <p:nvSpPr>
          <p:cNvPr id="6" name="Shape 3"/>
          <p:cNvSpPr/>
          <p:nvPr/>
        </p:nvSpPr>
        <p:spPr>
          <a:xfrm>
            <a:off x="694944" y="1856232"/>
            <a:ext cx="10780776" cy="3648456"/>
          </a:xfrm>
          <a:prstGeom prst="roundRect">
            <a:avLst>
              <a:gd name="adj" fmla="val 2506"/>
            </a:avLst>
          </a:prstGeom>
          <a:solidFill>
            <a:srgbClr val="FFFFFF"/>
          </a:solidFill>
          <a:ln w="8255">
            <a:solidFill>
              <a:srgbClr val="D9E2E9"/>
            </a:solidFill>
            <a:prstDash val="solid"/>
          </a:ln>
        </p:spPr>
      </p:sp>
      <p:sp>
        <p:nvSpPr>
          <p:cNvPr id="7" name="Shape 4"/>
          <p:cNvSpPr/>
          <p:nvPr/>
        </p:nvSpPr>
        <p:spPr>
          <a:xfrm>
            <a:off x="923544" y="2084832"/>
            <a:ext cx="2926080" cy="1078992"/>
          </a:xfrm>
          <a:prstGeom prst="roundRect">
            <a:avLst>
              <a:gd name="adj" fmla="val 6780"/>
            </a:avLst>
          </a:prstGeom>
          <a:solidFill>
            <a:srgbClr val="FFFFFF"/>
          </a:solidFill>
          <a:ln w="8255">
            <a:solidFill>
              <a:srgbClr val="D9E2E9"/>
            </a:solidFill>
            <a:prstDash val="solid"/>
          </a:ln>
        </p:spPr>
      </p:sp>
      <p:sp>
        <p:nvSpPr>
          <p:cNvPr id="8" name="Text 5"/>
          <p:cNvSpPr/>
          <p:nvPr/>
        </p:nvSpPr>
        <p:spPr>
          <a:xfrm>
            <a:off x="1088136" y="2240280"/>
            <a:ext cx="2596896"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React + Vite</a:t>
            </a:r>
            <a:endParaRPr lang="en-US" sz="2050" dirty="0"/>
          </a:p>
        </p:txBody>
      </p:sp>
      <p:sp>
        <p:nvSpPr>
          <p:cNvPr id="9" name="Text 6"/>
          <p:cNvSpPr/>
          <p:nvPr/>
        </p:nvSpPr>
        <p:spPr>
          <a:xfrm>
            <a:off x="1078992" y="2743200"/>
            <a:ext cx="2615184" cy="347472"/>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Selección y visualización</a:t>
            </a:r>
            <a:endParaRPr lang="en-US" sz="1650" dirty="0"/>
          </a:p>
        </p:txBody>
      </p:sp>
      <p:sp>
        <p:nvSpPr>
          <p:cNvPr id="10" name="Shape 7"/>
          <p:cNvSpPr/>
          <p:nvPr/>
        </p:nvSpPr>
        <p:spPr>
          <a:xfrm>
            <a:off x="4626864" y="2084832"/>
            <a:ext cx="2926080" cy="1078992"/>
          </a:xfrm>
          <a:prstGeom prst="roundRect">
            <a:avLst>
              <a:gd name="adj" fmla="val 6780"/>
            </a:avLst>
          </a:prstGeom>
          <a:solidFill>
            <a:srgbClr val="FFFFFF"/>
          </a:solidFill>
          <a:ln w="8255">
            <a:solidFill>
              <a:srgbClr val="D9E2E9"/>
            </a:solidFill>
            <a:prstDash val="solid"/>
          </a:ln>
        </p:spPr>
      </p:sp>
      <p:sp>
        <p:nvSpPr>
          <p:cNvPr id="11" name="Text 8"/>
          <p:cNvSpPr/>
          <p:nvPr/>
        </p:nvSpPr>
        <p:spPr>
          <a:xfrm>
            <a:off x="4791456" y="2240280"/>
            <a:ext cx="2596896"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FastAPI</a:t>
            </a:r>
            <a:endParaRPr lang="en-US" sz="2050" dirty="0"/>
          </a:p>
        </p:txBody>
      </p:sp>
      <p:sp>
        <p:nvSpPr>
          <p:cNvPr id="12" name="Text 9"/>
          <p:cNvSpPr/>
          <p:nvPr/>
        </p:nvSpPr>
        <p:spPr>
          <a:xfrm>
            <a:off x="4782312" y="2743200"/>
            <a:ext cx="2615184" cy="347472"/>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HTTP y contratos</a:t>
            </a:r>
            <a:endParaRPr lang="en-US" sz="1650" dirty="0"/>
          </a:p>
        </p:txBody>
      </p:sp>
      <p:sp>
        <p:nvSpPr>
          <p:cNvPr id="13" name="Shape 10"/>
          <p:cNvSpPr/>
          <p:nvPr/>
        </p:nvSpPr>
        <p:spPr>
          <a:xfrm>
            <a:off x="8330184" y="2084832"/>
            <a:ext cx="2926080" cy="1078992"/>
          </a:xfrm>
          <a:prstGeom prst="roundRect">
            <a:avLst>
              <a:gd name="adj" fmla="val 6780"/>
            </a:avLst>
          </a:prstGeom>
          <a:solidFill>
            <a:srgbClr val="FFFFFF"/>
          </a:solidFill>
          <a:ln w="8255">
            <a:solidFill>
              <a:srgbClr val="D9E2E9"/>
            </a:solidFill>
            <a:prstDash val="solid"/>
          </a:ln>
        </p:spPr>
      </p:sp>
      <p:sp>
        <p:nvSpPr>
          <p:cNvPr id="14" name="Text 11"/>
          <p:cNvSpPr/>
          <p:nvPr/>
        </p:nvSpPr>
        <p:spPr>
          <a:xfrm>
            <a:off x="8494776" y="2240280"/>
            <a:ext cx="2596896"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ExperimentService</a:t>
            </a:r>
            <a:endParaRPr lang="en-US" sz="2050" dirty="0"/>
          </a:p>
        </p:txBody>
      </p:sp>
      <p:sp>
        <p:nvSpPr>
          <p:cNvPr id="15" name="Text 12"/>
          <p:cNvSpPr/>
          <p:nvPr/>
        </p:nvSpPr>
        <p:spPr>
          <a:xfrm>
            <a:off x="8485632" y="2743200"/>
            <a:ext cx="2615184" cy="347472"/>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Caso de uso + cola</a:t>
            </a:r>
            <a:endParaRPr lang="en-US" sz="1650" dirty="0"/>
          </a:p>
        </p:txBody>
      </p:sp>
      <p:sp>
        <p:nvSpPr>
          <p:cNvPr id="16" name="Shape 13"/>
          <p:cNvSpPr/>
          <p:nvPr/>
        </p:nvSpPr>
        <p:spPr>
          <a:xfrm>
            <a:off x="3849624" y="2624328"/>
            <a:ext cx="713232" cy="0"/>
          </a:xfrm>
          <a:prstGeom prst="line">
            <a:avLst/>
          </a:prstGeom>
          <a:noFill/>
          <a:ln w="19050">
            <a:solidFill>
              <a:srgbClr val="007C83"/>
            </a:solidFill>
            <a:prstDash val="solid"/>
            <a:headEnd type="none"/>
            <a:tailEnd type="triangle"/>
          </a:ln>
        </p:spPr>
      </p:sp>
      <p:sp>
        <p:nvSpPr>
          <p:cNvPr id="17" name="Shape 14"/>
          <p:cNvSpPr/>
          <p:nvPr/>
        </p:nvSpPr>
        <p:spPr>
          <a:xfrm>
            <a:off x="7552944" y="2624328"/>
            <a:ext cx="713232" cy="0"/>
          </a:xfrm>
          <a:prstGeom prst="line">
            <a:avLst/>
          </a:prstGeom>
          <a:noFill/>
          <a:ln w="19050">
            <a:solidFill>
              <a:srgbClr val="007C83"/>
            </a:solidFill>
            <a:prstDash val="solid"/>
            <a:headEnd type="none"/>
            <a:tailEnd type="triangle"/>
          </a:ln>
        </p:spPr>
      </p:sp>
      <p:sp>
        <p:nvSpPr>
          <p:cNvPr id="18" name="Shape 15"/>
          <p:cNvSpPr/>
          <p:nvPr/>
        </p:nvSpPr>
        <p:spPr>
          <a:xfrm>
            <a:off x="3465576" y="3529584"/>
            <a:ext cx="5257800" cy="987552"/>
          </a:xfrm>
          <a:prstGeom prst="roundRect">
            <a:avLst>
              <a:gd name="adj" fmla="val 7407"/>
            </a:avLst>
          </a:prstGeom>
          <a:solidFill>
            <a:srgbClr val="FFFFFF"/>
          </a:solidFill>
          <a:ln w="8255">
            <a:solidFill>
              <a:srgbClr val="D9E2E9"/>
            </a:solidFill>
            <a:prstDash val="solid"/>
          </a:ln>
        </p:spPr>
      </p:sp>
      <p:sp>
        <p:nvSpPr>
          <p:cNvPr id="19" name="Text 16"/>
          <p:cNvSpPr/>
          <p:nvPr/>
        </p:nvSpPr>
        <p:spPr>
          <a:xfrm>
            <a:off x="3630168" y="3685032"/>
            <a:ext cx="4928616"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Dominio / puertos</a:t>
            </a:r>
            <a:endParaRPr lang="en-US" sz="2050" dirty="0"/>
          </a:p>
        </p:txBody>
      </p:sp>
      <p:sp>
        <p:nvSpPr>
          <p:cNvPr id="20" name="Text 17"/>
          <p:cNvSpPr/>
          <p:nvPr/>
        </p:nvSpPr>
        <p:spPr>
          <a:xfrm>
            <a:off x="3621024" y="4187952"/>
            <a:ext cx="4946904" cy="265176"/>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ExperimentRepository + SynthesisGateway</a:t>
            </a:r>
            <a:endParaRPr lang="en-US" sz="1650" dirty="0"/>
          </a:p>
        </p:txBody>
      </p:sp>
      <p:sp>
        <p:nvSpPr>
          <p:cNvPr id="21" name="Shape 18"/>
          <p:cNvSpPr/>
          <p:nvPr/>
        </p:nvSpPr>
        <p:spPr>
          <a:xfrm>
            <a:off x="9793224" y="3163824"/>
            <a:ext cx="0" cy="859536"/>
          </a:xfrm>
          <a:prstGeom prst="line">
            <a:avLst/>
          </a:prstGeom>
          <a:noFill/>
          <a:ln w="19050">
            <a:solidFill>
              <a:srgbClr val="007C83"/>
            </a:solidFill>
            <a:prstDash val="solid"/>
            <a:headEnd type="none"/>
            <a:tailEnd type="none"/>
          </a:ln>
        </p:spPr>
      </p:sp>
      <p:sp>
        <p:nvSpPr>
          <p:cNvPr id="22" name="Shape 19"/>
          <p:cNvSpPr/>
          <p:nvPr/>
        </p:nvSpPr>
        <p:spPr>
          <a:xfrm flipH="1">
            <a:off x="8759952" y="4023360"/>
            <a:ext cx="1033272" cy="0"/>
          </a:xfrm>
          <a:prstGeom prst="line">
            <a:avLst/>
          </a:prstGeom>
          <a:noFill/>
          <a:ln w="19050">
            <a:solidFill>
              <a:srgbClr val="007C83"/>
            </a:solidFill>
            <a:prstDash val="solid"/>
            <a:headEnd type="none"/>
            <a:tailEnd type="triangle"/>
          </a:ln>
        </p:spPr>
      </p:sp>
      <p:sp>
        <p:nvSpPr>
          <p:cNvPr id="23" name="Shape 20"/>
          <p:cNvSpPr/>
          <p:nvPr/>
        </p:nvSpPr>
        <p:spPr>
          <a:xfrm>
            <a:off x="996696" y="4837176"/>
            <a:ext cx="4334256" cy="310896"/>
          </a:xfrm>
          <a:prstGeom prst="roundRect">
            <a:avLst>
              <a:gd name="adj" fmla="val 14706"/>
            </a:avLst>
          </a:prstGeom>
          <a:solidFill>
            <a:srgbClr val="E5F3F3"/>
          </a:solidFill>
          <a:ln w="8255">
            <a:solidFill>
              <a:srgbClr val="E5F3F3"/>
            </a:solidFill>
            <a:prstDash val="solid"/>
          </a:ln>
        </p:spPr>
      </p:sp>
      <p:sp>
        <p:nvSpPr>
          <p:cNvPr id="24" name="Text 21"/>
          <p:cNvSpPr/>
          <p:nvPr/>
        </p:nvSpPr>
        <p:spPr>
          <a:xfrm>
            <a:off x="1078992" y="4892040"/>
            <a:ext cx="4169664" cy="201168"/>
          </a:xfrm>
          <a:prstGeom prst="rect">
            <a:avLst/>
          </a:prstGeom>
          <a:noFill/>
          <a:ln/>
        </p:spPr>
        <p:txBody>
          <a:bodyPr wrap="square" lIns="0" tIns="0" rIns="0" bIns="0" rtlCol="0" anchor="t"/>
          <a:lstStyle/>
          <a:p>
            <a:pPr indent="0" marL="0">
              <a:buNone/>
            </a:pPr>
            <a:r>
              <a:rPr lang="en-US" sz="1040" b="1" dirty="0">
                <a:solidFill>
                  <a:srgbClr val="007C83"/>
                </a:solidFill>
                <a:latin typeface="Arial" pitchFamily="34" charset="0"/>
                <a:ea typeface="Arial" pitchFamily="34" charset="-122"/>
                <a:cs typeface="Arial" pitchFamily="34" charset="-120"/>
              </a:rPr>
              <a:t>SQLite: estado y reportes</a:t>
            </a:r>
            <a:endParaRPr lang="en-US" sz="1040" dirty="0"/>
          </a:p>
        </p:txBody>
      </p:sp>
      <p:sp>
        <p:nvSpPr>
          <p:cNvPr id="25" name="Shape 22"/>
          <p:cNvSpPr/>
          <p:nvPr/>
        </p:nvSpPr>
        <p:spPr>
          <a:xfrm>
            <a:off x="6757416" y="4837176"/>
            <a:ext cx="4334256" cy="310896"/>
          </a:xfrm>
          <a:prstGeom prst="roundRect">
            <a:avLst>
              <a:gd name="adj" fmla="val 14706"/>
            </a:avLst>
          </a:prstGeom>
          <a:solidFill>
            <a:srgbClr val="E5F3F3"/>
          </a:solidFill>
          <a:ln w="8255">
            <a:solidFill>
              <a:srgbClr val="E5F3F3"/>
            </a:solidFill>
            <a:prstDash val="solid"/>
          </a:ln>
        </p:spPr>
      </p:sp>
      <p:sp>
        <p:nvSpPr>
          <p:cNvPr id="26" name="Text 23"/>
          <p:cNvSpPr/>
          <p:nvPr/>
        </p:nvSpPr>
        <p:spPr>
          <a:xfrm>
            <a:off x="6839712" y="4892040"/>
            <a:ext cx="4169664" cy="201168"/>
          </a:xfrm>
          <a:prstGeom prst="rect">
            <a:avLst/>
          </a:prstGeom>
          <a:noFill/>
          <a:ln/>
        </p:spPr>
        <p:txBody>
          <a:bodyPr wrap="square" lIns="0" tIns="0" rIns="0" bIns="0" rtlCol="0" anchor="t"/>
          <a:lstStyle/>
          <a:p>
            <a:pPr indent="0" marL="0">
              <a:buNone/>
            </a:pPr>
            <a:r>
              <a:rPr lang="en-US" sz="1040" b="1" dirty="0">
                <a:solidFill>
                  <a:srgbClr val="007C83"/>
                </a:solidFill>
                <a:latin typeface="Arial" pitchFamily="34" charset="0"/>
                <a:ea typeface="Arial" pitchFamily="34" charset="-122"/>
                <a:cs typeface="Arial" pitchFamily="34" charset="-120"/>
              </a:rPr>
              <a:t>GHDL / Yosys / Icarus: cálculo</a:t>
            </a:r>
            <a:endParaRPr lang="en-US" sz="1040" dirty="0"/>
          </a:p>
        </p:txBody>
      </p:sp>
      <p:sp>
        <p:nvSpPr>
          <p:cNvPr id="27" name="Shape 24"/>
          <p:cNvSpPr/>
          <p:nvPr/>
        </p:nvSpPr>
        <p:spPr>
          <a:xfrm flipH="1">
            <a:off x="3337560" y="4517136"/>
            <a:ext cx="914400" cy="292608"/>
          </a:xfrm>
          <a:prstGeom prst="line">
            <a:avLst/>
          </a:prstGeom>
          <a:noFill/>
          <a:ln w="15240">
            <a:solidFill>
              <a:srgbClr val="007C83"/>
            </a:solidFill>
            <a:prstDash val="solid"/>
            <a:headEnd type="none"/>
            <a:tailEnd type="triangle"/>
          </a:ln>
        </p:spPr>
      </p:sp>
      <p:sp>
        <p:nvSpPr>
          <p:cNvPr id="28" name="Shape 25"/>
          <p:cNvSpPr/>
          <p:nvPr/>
        </p:nvSpPr>
        <p:spPr>
          <a:xfrm>
            <a:off x="7799832" y="4517136"/>
            <a:ext cx="950976" cy="292608"/>
          </a:xfrm>
          <a:prstGeom prst="line">
            <a:avLst/>
          </a:prstGeom>
          <a:noFill/>
          <a:ln w="15240">
            <a:solidFill>
              <a:srgbClr val="007C83"/>
            </a:solidFill>
            <a:prstDash val="solid"/>
            <a:headEnd type="none"/>
            <a:tailEnd type="triangle"/>
          </a:ln>
        </p:spPr>
      </p:sp>
      <p:sp>
        <p:nvSpPr>
          <p:cNvPr id="29" name="Shape 26"/>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30" name="Text 27"/>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El frontend representa datos; el cálculo está en los adaptadores EDA y Liberty.</a:t>
            </a:r>
            <a:endParaRPr lang="en-US" sz="1550" dirty="0"/>
          </a:p>
        </p:txBody>
      </p:sp>
      <p:sp>
        <p:nvSpPr>
          <p:cNvPr id="31" name="Shape 28"/>
          <p:cNvSpPr/>
          <p:nvPr/>
        </p:nvSpPr>
        <p:spPr>
          <a:xfrm>
            <a:off x="585216" y="6492240"/>
            <a:ext cx="11009376" cy="0"/>
          </a:xfrm>
          <a:prstGeom prst="line">
            <a:avLst/>
          </a:prstGeom>
          <a:noFill/>
          <a:ln w="8890">
            <a:solidFill>
              <a:srgbClr val="D9E2E9"/>
            </a:solidFill>
            <a:prstDash val="solid"/>
            <a:headEnd type="none"/>
            <a:tailEnd type="none"/>
          </a:ln>
        </p:spPr>
      </p:sp>
      <p:sp>
        <p:nvSpPr>
          <p:cNvPr id="32" name="Text 29"/>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domain/ports.py · application/services.py · main.py</a:t>
            </a:r>
            <a:endParaRPr lang="en-US" sz="870" dirty="0"/>
          </a:p>
        </p:txBody>
      </p:sp>
      <p:sp>
        <p:nvSpPr>
          <p:cNvPr id="33" name="Text 30"/>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10 / 53</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10 · EJECUCIÓN Y PERSISTENCIA</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Un solo contenedor reúne API, frontend compilado y herramientas EDA</a:t>
            </a:r>
            <a:endParaRPr lang="en-US" sz="2800" dirty="0"/>
          </a:p>
        </p:txBody>
      </p:sp>
      <p:sp>
        <p:nvSpPr>
          <p:cNvPr id="6" name="Shape 3"/>
          <p:cNvSpPr/>
          <p:nvPr/>
        </p:nvSpPr>
        <p:spPr>
          <a:xfrm>
            <a:off x="713232" y="2267712"/>
            <a:ext cx="3127248" cy="1417320"/>
          </a:xfrm>
          <a:prstGeom prst="roundRect">
            <a:avLst>
              <a:gd name="adj" fmla="val 5161"/>
            </a:avLst>
          </a:prstGeom>
          <a:solidFill>
            <a:srgbClr val="FFFFFF"/>
          </a:solidFill>
          <a:ln w="8255">
            <a:solidFill>
              <a:srgbClr val="D9E2E9"/>
            </a:solidFill>
            <a:prstDash val="solid"/>
          </a:ln>
        </p:spPr>
      </p:sp>
      <p:sp>
        <p:nvSpPr>
          <p:cNvPr id="7" name="Text 4"/>
          <p:cNvSpPr/>
          <p:nvPr/>
        </p:nvSpPr>
        <p:spPr>
          <a:xfrm>
            <a:off x="877824"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Node + Vite</a:t>
            </a:r>
            <a:endParaRPr lang="en-US" sz="2050" dirty="0"/>
          </a:p>
        </p:txBody>
      </p:sp>
      <p:sp>
        <p:nvSpPr>
          <p:cNvPr id="8" name="Text 5"/>
          <p:cNvSpPr/>
          <p:nvPr/>
        </p:nvSpPr>
        <p:spPr>
          <a:xfrm>
            <a:off x="868680"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Construye frontend/dist</a:t>
            </a:r>
            <a:endParaRPr lang="en-US" sz="1650" dirty="0"/>
          </a:p>
        </p:txBody>
      </p:sp>
      <p:sp>
        <p:nvSpPr>
          <p:cNvPr id="9" name="Shape 6"/>
          <p:cNvSpPr/>
          <p:nvPr/>
        </p:nvSpPr>
        <p:spPr>
          <a:xfrm>
            <a:off x="3840480" y="2971800"/>
            <a:ext cx="594360" cy="0"/>
          </a:xfrm>
          <a:prstGeom prst="line">
            <a:avLst/>
          </a:prstGeom>
          <a:noFill/>
          <a:ln w="25400">
            <a:solidFill>
              <a:srgbClr val="007C83"/>
            </a:solidFill>
            <a:prstDash val="solid"/>
            <a:headEnd type="none"/>
            <a:tailEnd type="triangle"/>
          </a:ln>
        </p:spPr>
      </p:sp>
      <p:sp>
        <p:nvSpPr>
          <p:cNvPr id="10" name="Shape 7"/>
          <p:cNvSpPr/>
          <p:nvPr/>
        </p:nvSpPr>
        <p:spPr>
          <a:xfrm>
            <a:off x="4526280" y="2267712"/>
            <a:ext cx="3127248" cy="1417320"/>
          </a:xfrm>
          <a:prstGeom prst="roundRect">
            <a:avLst>
              <a:gd name="adj" fmla="val 5161"/>
            </a:avLst>
          </a:prstGeom>
          <a:solidFill>
            <a:srgbClr val="FFFFFF"/>
          </a:solidFill>
          <a:ln w="8255">
            <a:solidFill>
              <a:srgbClr val="D9E2E9"/>
            </a:solidFill>
            <a:prstDash val="solid"/>
          </a:ln>
        </p:spPr>
      </p:sp>
      <p:sp>
        <p:nvSpPr>
          <p:cNvPr id="11" name="Text 8"/>
          <p:cNvSpPr/>
          <p:nvPr/>
        </p:nvSpPr>
        <p:spPr>
          <a:xfrm>
            <a:off x="4690872"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OSS CAD Suite</a:t>
            </a:r>
            <a:endParaRPr lang="en-US" sz="2050" dirty="0"/>
          </a:p>
        </p:txBody>
      </p:sp>
      <p:sp>
        <p:nvSpPr>
          <p:cNvPr id="12" name="Text 9"/>
          <p:cNvSpPr/>
          <p:nvPr/>
        </p:nvSpPr>
        <p:spPr>
          <a:xfrm>
            <a:off x="4681728"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Release y SHA fijados</a:t>
            </a:r>
            <a:endParaRPr lang="en-US" sz="1650" dirty="0"/>
          </a:p>
        </p:txBody>
      </p:sp>
      <p:sp>
        <p:nvSpPr>
          <p:cNvPr id="13" name="Shape 10"/>
          <p:cNvSpPr/>
          <p:nvPr/>
        </p:nvSpPr>
        <p:spPr>
          <a:xfrm>
            <a:off x="7653528" y="2971800"/>
            <a:ext cx="594360" cy="0"/>
          </a:xfrm>
          <a:prstGeom prst="line">
            <a:avLst/>
          </a:prstGeom>
          <a:noFill/>
          <a:ln w="25400">
            <a:solidFill>
              <a:srgbClr val="007C83"/>
            </a:solidFill>
            <a:prstDash val="solid"/>
            <a:headEnd type="none"/>
            <a:tailEnd type="triangle"/>
          </a:ln>
        </p:spPr>
      </p:sp>
      <p:sp>
        <p:nvSpPr>
          <p:cNvPr id="14" name="Shape 11"/>
          <p:cNvSpPr/>
          <p:nvPr/>
        </p:nvSpPr>
        <p:spPr>
          <a:xfrm>
            <a:off x="8339328" y="2267712"/>
            <a:ext cx="3127248" cy="1417320"/>
          </a:xfrm>
          <a:prstGeom prst="roundRect">
            <a:avLst>
              <a:gd name="adj" fmla="val 5161"/>
            </a:avLst>
          </a:prstGeom>
          <a:solidFill>
            <a:srgbClr val="FFFFFF"/>
          </a:solidFill>
          <a:ln w="8255">
            <a:solidFill>
              <a:srgbClr val="D9E2E9"/>
            </a:solidFill>
            <a:prstDash val="solid"/>
          </a:ln>
        </p:spPr>
      </p:sp>
      <p:sp>
        <p:nvSpPr>
          <p:cNvPr id="15" name="Text 12"/>
          <p:cNvSpPr/>
          <p:nvPr/>
        </p:nvSpPr>
        <p:spPr>
          <a:xfrm>
            <a:off x="8503920"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Python + FastAPI</a:t>
            </a:r>
            <a:endParaRPr lang="en-US" sz="2050" dirty="0"/>
          </a:p>
        </p:txBody>
      </p:sp>
      <p:sp>
        <p:nvSpPr>
          <p:cNvPr id="16" name="Text 13"/>
          <p:cNvSpPr/>
          <p:nvPr/>
        </p:nvSpPr>
        <p:spPr>
          <a:xfrm>
            <a:off x="8494776"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Sirve UI, API y worker</a:t>
            </a:r>
            <a:endParaRPr lang="en-US" sz="1650" dirty="0"/>
          </a:p>
        </p:txBody>
      </p:sp>
      <p:sp>
        <p:nvSpPr>
          <p:cNvPr id="17" name="Shape 14"/>
          <p:cNvSpPr/>
          <p:nvPr/>
        </p:nvSpPr>
        <p:spPr>
          <a:xfrm>
            <a:off x="758952" y="4215384"/>
            <a:ext cx="10698480" cy="841248"/>
          </a:xfrm>
          <a:prstGeom prst="roundRect">
            <a:avLst>
              <a:gd name="adj" fmla="val 8696"/>
            </a:avLst>
          </a:prstGeom>
          <a:solidFill>
            <a:srgbClr val="FFFFFF"/>
          </a:solidFill>
          <a:ln w="8255">
            <a:solidFill>
              <a:srgbClr val="D9E2E9"/>
            </a:solidFill>
            <a:prstDash val="solid"/>
          </a:ln>
        </p:spPr>
      </p:sp>
      <p:sp>
        <p:nvSpPr>
          <p:cNvPr id="18" name="Text 15"/>
          <p:cNvSpPr/>
          <p:nvPr/>
        </p:nvSpPr>
        <p:spPr>
          <a:xfrm>
            <a:off x="932688" y="4453128"/>
            <a:ext cx="10351008" cy="448056"/>
          </a:xfrm>
          <a:prstGeom prst="rect">
            <a:avLst/>
          </a:prstGeom>
          <a:noFill/>
          <a:ln/>
        </p:spPr>
        <p:txBody>
          <a:bodyPr wrap="square" lIns="0" tIns="0" rIns="0" bIns="0" rtlCol="0" anchor="t"/>
          <a:lstStyle/>
          <a:p>
            <a:pPr algn="ctr" indent="0" marL="0">
              <a:buNone/>
            </a:pPr>
            <a:r>
              <a:rPr lang="en-US" sz="2200" b="1" dirty="0">
                <a:solidFill>
                  <a:srgbClr val="007C83"/>
                </a:solidFill>
                <a:latin typeface="Arial" pitchFamily="34" charset="0"/>
                <a:ea typeface="Arial" pitchFamily="34" charset="-122"/>
                <a:cs typeface="Arial" pitchFamily="34" charset="-120"/>
              </a:rPr>
              <a:t>Volumen /app/data = experiments.sqlite3 + runs/&lt;UUID&gt;/</a:t>
            </a:r>
            <a:endParaRPr lang="en-US" sz="2200" dirty="0"/>
          </a:p>
        </p:txBody>
      </p:sp>
      <p:sp>
        <p:nvSpPr>
          <p:cNvPr id="19" name="Shape 16"/>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20" name="Text 17"/>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Un contenedor; SQLite embebido; un worker EDA. No se necesita PostgreSQL para este alcance.</a:t>
            </a:r>
            <a:endParaRPr lang="en-US" sz="1550" dirty="0"/>
          </a:p>
        </p:txBody>
      </p:sp>
      <p:sp>
        <p:nvSpPr>
          <p:cNvPr id="21" name="Shape 18"/>
          <p:cNvSpPr/>
          <p:nvPr/>
        </p:nvSpPr>
        <p:spPr>
          <a:xfrm>
            <a:off x="585216" y="6492240"/>
            <a:ext cx="11009376" cy="0"/>
          </a:xfrm>
          <a:prstGeom prst="line">
            <a:avLst/>
          </a:prstGeom>
          <a:noFill/>
          <a:ln w="8890">
            <a:solidFill>
              <a:srgbClr val="D9E2E9"/>
            </a:solidFill>
            <a:prstDash val="solid"/>
            <a:headEnd type="none"/>
            <a:tailEnd type="none"/>
          </a:ln>
        </p:spPr>
      </p:sp>
      <p:sp>
        <p:nvSpPr>
          <p:cNvPr id="22" name="Text 19"/>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F12 · F15 · F16 · F17 | Dockerfile · compose.yaml · main.py</a:t>
            </a:r>
            <a:endParaRPr lang="en-US" sz="870" dirty="0"/>
          </a:p>
        </p:txBody>
      </p:sp>
      <p:sp>
        <p:nvSpPr>
          <p:cNvPr id="23" name="Text 20"/>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11 / 53</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11 · CICLO DE VIDA</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El trabajo avanza por estados y publica el área al terminar los controles</a:t>
            </a:r>
            <a:endParaRPr lang="en-US" sz="2800" dirty="0"/>
          </a:p>
        </p:txBody>
      </p:sp>
      <p:sp>
        <p:nvSpPr>
          <p:cNvPr id="6" name="Shape 3"/>
          <p:cNvSpPr/>
          <p:nvPr/>
        </p:nvSpPr>
        <p:spPr>
          <a:xfrm>
            <a:off x="713232" y="2267712"/>
            <a:ext cx="3127248" cy="1417320"/>
          </a:xfrm>
          <a:prstGeom prst="roundRect">
            <a:avLst>
              <a:gd name="adj" fmla="val 5161"/>
            </a:avLst>
          </a:prstGeom>
          <a:solidFill>
            <a:srgbClr val="FFFFFF"/>
          </a:solidFill>
          <a:ln w="8255">
            <a:solidFill>
              <a:srgbClr val="D9E2E9"/>
            </a:solidFill>
            <a:prstDash val="solid"/>
          </a:ln>
        </p:spPr>
      </p:sp>
      <p:sp>
        <p:nvSpPr>
          <p:cNvPr id="7" name="Text 4"/>
          <p:cNvSpPr/>
          <p:nvPr/>
        </p:nvSpPr>
        <p:spPr>
          <a:xfrm>
            <a:off x="877824"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queued</a:t>
            </a:r>
            <a:endParaRPr lang="en-US" sz="2050" dirty="0"/>
          </a:p>
        </p:txBody>
      </p:sp>
      <p:sp>
        <p:nvSpPr>
          <p:cNvPr id="8" name="Text 5"/>
          <p:cNvSpPr/>
          <p:nvPr/>
        </p:nvSpPr>
        <p:spPr>
          <a:xfrm>
            <a:off x="868680"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UUID persistido</a:t>
            </a:r>
            <a:endParaRPr lang="en-US" sz="1650" dirty="0"/>
          </a:p>
        </p:txBody>
      </p:sp>
      <p:sp>
        <p:nvSpPr>
          <p:cNvPr id="9" name="Shape 6"/>
          <p:cNvSpPr/>
          <p:nvPr/>
        </p:nvSpPr>
        <p:spPr>
          <a:xfrm>
            <a:off x="3840480" y="2971800"/>
            <a:ext cx="594360" cy="0"/>
          </a:xfrm>
          <a:prstGeom prst="line">
            <a:avLst/>
          </a:prstGeom>
          <a:noFill/>
          <a:ln w="25400">
            <a:solidFill>
              <a:srgbClr val="007C83"/>
            </a:solidFill>
            <a:prstDash val="solid"/>
            <a:headEnd type="none"/>
            <a:tailEnd type="triangle"/>
          </a:ln>
        </p:spPr>
      </p:sp>
      <p:sp>
        <p:nvSpPr>
          <p:cNvPr id="10" name="Shape 7"/>
          <p:cNvSpPr/>
          <p:nvPr/>
        </p:nvSpPr>
        <p:spPr>
          <a:xfrm>
            <a:off x="4526280" y="2267712"/>
            <a:ext cx="3127248" cy="1417320"/>
          </a:xfrm>
          <a:prstGeom prst="roundRect">
            <a:avLst>
              <a:gd name="adj" fmla="val 5161"/>
            </a:avLst>
          </a:prstGeom>
          <a:solidFill>
            <a:srgbClr val="FFFFFF"/>
          </a:solidFill>
          <a:ln w="8255">
            <a:solidFill>
              <a:srgbClr val="D9E2E9"/>
            </a:solidFill>
            <a:prstDash val="solid"/>
          </a:ln>
        </p:spPr>
      </p:sp>
      <p:sp>
        <p:nvSpPr>
          <p:cNvPr id="11" name="Text 8"/>
          <p:cNvSpPr/>
          <p:nvPr/>
        </p:nvSpPr>
        <p:spPr>
          <a:xfrm>
            <a:off x="4690872"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running</a:t>
            </a:r>
            <a:endParaRPr lang="en-US" sz="2050" dirty="0"/>
          </a:p>
        </p:txBody>
      </p:sp>
      <p:sp>
        <p:nvSpPr>
          <p:cNvPr id="12" name="Text 9"/>
          <p:cNvSpPr/>
          <p:nvPr/>
        </p:nvSpPr>
        <p:spPr>
          <a:xfrm>
            <a:off x="4681728"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Validación + síntesis</a:t>
            </a:r>
            <a:endParaRPr lang="en-US" sz="1650" dirty="0"/>
          </a:p>
        </p:txBody>
      </p:sp>
      <p:sp>
        <p:nvSpPr>
          <p:cNvPr id="13" name="Shape 10"/>
          <p:cNvSpPr/>
          <p:nvPr/>
        </p:nvSpPr>
        <p:spPr>
          <a:xfrm>
            <a:off x="7653528" y="2971800"/>
            <a:ext cx="594360" cy="0"/>
          </a:xfrm>
          <a:prstGeom prst="line">
            <a:avLst/>
          </a:prstGeom>
          <a:noFill/>
          <a:ln w="25400">
            <a:solidFill>
              <a:srgbClr val="007C83"/>
            </a:solidFill>
            <a:prstDash val="solid"/>
            <a:headEnd type="none"/>
            <a:tailEnd type="triangle"/>
          </a:ln>
        </p:spPr>
      </p:sp>
      <p:sp>
        <p:nvSpPr>
          <p:cNvPr id="14" name="Shape 11"/>
          <p:cNvSpPr/>
          <p:nvPr/>
        </p:nvSpPr>
        <p:spPr>
          <a:xfrm>
            <a:off x="8339328" y="2267712"/>
            <a:ext cx="3127248" cy="1417320"/>
          </a:xfrm>
          <a:prstGeom prst="roundRect">
            <a:avLst>
              <a:gd name="adj" fmla="val 5161"/>
            </a:avLst>
          </a:prstGeom>
          <a:solidFill>
            <a:srgbClr val="FFFFFF"/>
          </a:solidFill>
          <a:ln w="8255">
            <a:solidFill>
              <a:srgbClr val="D9E2E9"/>
            </a:solidFill>
            <a:prstDash val="solid"/>
          </a:ln>
        </p:spPr>
      </p:sp>
      <p:sp>
        <p:nvSpPr>
          <p:cNvPr id="15" name="Text 12"/>
          <p:cNvSpPr/>
          <p:nvPr/>
        </p:nvSpPr>
        <p:spPr>
          <a:xfrm>
            <a:off x="8503920"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succeeded / failed</a:t>
            </a:r>
            <a:endParaRPr lang="en-US" sz="2050" dirty="0"/>
          </a:p>
        </p:txBody>
      </p:sp>
      <p:sp>
        <p:nvSpPr>
          <p:cNvPr id="16" name="Text 13"/>
          <p:cNvSpPr/>
          <p:nvPr/>
        </p:nvSpPr>
        <p:spPr>
          <a:xfrm>
            <a:off x="8494776"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Reporte o diagnóstico</a:t>
            </a:r>
            <a:endParaRPr lang="en-US" sz="1650" dirty="0"/>
          </a:p>
        </p:txBody>
      </p:sp>
      <p:sp>
        <p:nvSpPr>
          <p:cNvPr id="17" name="Shape 14"/>
          <p:cNvSpPr/>
          <p:nvPr/>
        </p:nvSpPr>
        <p:spPr>
          <a:xfrm>
            <a:off x="758952" y="4123944"/>
            <a:ext cx="10698480" cy="1124712"/>
          </a:xfrm>
          <a:prstGeom prst="roundRect">
            <a:avLst>
              <a:gd name="adj" fmla="val 8130"/>
            </a:avLst>
          </a:prstGeom>
          <a:solidFill>
            <a:srgbClr val="102331"/>
          </a:solidFill>
          <a:ln w="8255">
            <a:solidFill>
              <a:srgbClr val="102331"/>
            </a:solidFill>
            <a:prstDash val="solid"/>
          </a:ln>
        </p:spPr>
      </p:sp>
      <p:sp>
        <p:nvSpPr>
          <p:cNvPr id="18" name="Text 15"/>
          <p:cNvSpPr/>
          <p:nvPr/>
        </p:nvSpPr>
        <p:spPr>
          <a:xfrm>
            <a:off x="932688" y="4325112"/>
            <a:ext cx="10351008" cy="310896"/>
          </a:xfrm>
          <a:prstGeom prst="rect">
            <a:avLst/>
          </a:prstGeom>
          <a:noFill/>
          <a:ln/>
        </p:spPr>
        <p:txBody>
          <a:bodyPr wrap="square" lIns="0" tIns="0" rIns="0" bIns="0" rtlCol="0" anchor="t"/>
          <a:lstStyle/>
          <a:p>
            <a:pPr indent="0" marL="0">
              <a:buNone/>
            </a:pPr>
            <a:r>
              <a:rPr lang="en-US" sz="1240" dirty="0">
                <a:solidFill>
                  <a:srgbClr val="EAF2F7"/>
                </a:solidFill>
                <a:latin typeface="Courier New" pitchFamily="34" charset="0"/>
                <a:ea typeface="Courier New" pitchFamily="34" charset="-122"/>
                <a:cs typeface="Courier New" pitchFamily="34" charset="-120"/>
              </a:rPr>
              <a:t>preparing → analyzing → validating_rtl → converting</a:t>
            </a:r>
            <a:endParaRPr lang="en-US" sz="1240" dirty="0"/>
          </a:p>
        </p:txBody>
      </p:sp>
      <p:sp>
        <p:nvSpPr>
          <p:cNvPr id="19" name="Text 16"/>
          <p:cNvSpPr/>
          <p:nvPr/>
        </p:nvSpPr>
        <p:spPr>
          <a:xfrm>
            <a:off x="932688" y="4636008"/>
            <a:ext cx="10351008" cy="310896"/>
          </a:xfrm>
          <a:prstGeom prst="rect">
            <a:avLst/>
          </a:prstGeom>
          <a:noFill/>
          <a:ln/>
        </p:spPr>
        <p:txBody>
          <a:bodyPr wrap="square" lIns="0" tIns="0" rIns="0" bIns="0" rtlCol="0" anchor="t"/>
          <a:lstStyle/>
          <a:p>
            <a:pPr indent="0" marL="0">
              <a:buNone/>
            </a:pPr>
            <a:r>
              <a:rPr lang="en-US" sz="1240" dirty="0">
                <a:solidFill>
                  <a:srgbClr val="EAF2F7"/>
                </a:solidFill>
                <a:latin typeface="Courier New" pitchFamily="34" charset="0"/>
                <a:ea typeface="Courier New" pitchFamily="34" charset="-122"/>
                <a:cs typeface="Courier New" pitchFamily="34" charset="-120"/>
              </a:rPr>
              <a:t>→ mapping → checking → validating_mapped → reporting</a:t>
            </a:r>
            <a:endParaRPr lang="en-US" sz="1240" dirty="0"/>
          </a:p>
        </p:txBody>
      </p:sp>
      <p:sp>
        <p:nvSpPr>
          <p:cNvPr id="20" name="Shape 17"/>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21" name="Text 18"/>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Un exit code correcto de una herramienta no basta para publicar un reporte válido.</a:t>
            </a:r>
            <a:endParaRPr lang="en-US" sz="1550" dirty="0"/>
          </a:p>
        </p:txBody>
      </p:sp>
      <p:sp>
        <p:nvSpPr>
          <p:cNvPr id="22" name="Shape 19"/>
          <p:cNvSpPr/>
          <p:nvPr/>
        </p:nvSpPr>
        <p:spPr>
          <a:xfrm>
            <a:off x="585216" y="6492240"/>
            <a:ext cx="11009376" cy="0"/>
          </a:xfrm>
          <a:prstGeom prst="line">
            <a:avLst/>
          </a:prstGeom>
          <a:noFill/>
          <a:ln w="8890">
            <a:solidFill>
              <a:srgbClr val="D9E2E9"/>
            </a:solidFill>
            <a:prstDash val="solid"/>
            <a:headEnd type="none"/>
            <a:tailEnd type="none"/>
          </a:ln>
        </p:spPr>
      </p:sp>
      <p:sp>
        <p:nvSpPr>
          <p:cNvPr id="23" name="Text 20"/>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ExperimentService.work() / _execute() · sqlite_repository.py · api/routes.py</a:t>
            </a:r>
            <a:endParaRPr lang="en-US" sz="870" dirty="0"/>
          </a:p>
        </p:txBody>
      </p:sp>
      <p:sp>
        <p:nvSpPr>
          <p:cNvPr id="24" name="Text 21"/>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12 / 53</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11B · PIPELINE COMPLETO</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Una ejecución conecta entradas, referencia RTL, mapeo y reporte</a:t>
            </a:r>
            <a:endParaRPr lang="en-US" sz="2800" dirty="0"/>
          </a:p>
        </p:txBody>
      </p:sp>
      <p:sp>
        <p:nvSpPr>
          <p:cNvPr id="6" name="Shape 3"/>
          <p:cNvSpPr/>
          <p:nvPr/>
        </p:nvSpPr>
        <p:spPr>
          <a:xfrm>
            <a:off x="704088" y="2176272"/>
            <a:ext cx="1645920" cy="1078992"/>
          </a:xfrm>
          <a:prstGeom prst="roundRect">
            <a:avLst>
              <a:gd name="adj" fmla="val 5085"/>
            </a:avLst>
          </a:prstGeom>
          <a:solidFill>
            <a:srgbClr val="FFFFFF"/>
          </a:solidFill>
          <a:ln w="8255">
            <a:solidFill>
              <a:srgbClr val="D9E2E9"/>
            </a:solidFill>
            <a:prstDash val="solid"/>
          </a:ln>
        </p:spPr>
      </p:sp>
      <p:sp>
        <p:nvSpPr>
          <p:cNvPr id="7" name="Text 4"/>
          <p:cNvSpPr/>
          <p:nvPr/>
        </p:nvSpPr>
        <p:spPr>
          <a:xfrm>
            <a:off x="786384" y="2340864"/>
            <a:ext cx="1481328" cy="310896"/>
          </a:xfrm>
          <a:prstGeom prst="rect">
            <a:avLst/>
          </a:prstGeom>
          <a:noFill/>
          <a:ln/>
        </p:spPr>
        <p:txBody>
          <a:bodyPr wrap="square" lIns="0" tIns="0" rIns="0" bIns="0" rtlCol="0" anchor="t"/>
          <a:lstStyle/>
          <a:p>
            <a:pPr algn="ctr" indent="0" marL="0">
              <a:buNone/>
            </a:pPr>
            <a:r>
              <a:rPr lang="en-US" sz="1520" b="1" dirty="0">
                <a:solidFill>
                  <a:srgbClr val="007C83"/>
                </a:solidFill>
                <a:latin typeface="Arial" pitchFamily="34" charset="0"/>
                <a:ea typeface="Arial" pitchFamily="34" charset="-122"/>
                <a:cs typeface="Arial" pitchFamily="34" charset="-120"/>
              </a:rPr>
              <a:t>01 · Seleccionar</a:t>
            </a:r>
            <a:endParaRPr lang="en-US" sz="1520" dirty="0"/>
          </a:p>
        </p:txBody>
      </p:sp>
      <p:sp>
        <p:nvSpPr>
          <p:cNvPr id="8" name="Text 5"/>
          <p:cNvSpPr/>
          <p:nvPr/>
        </p:nvSpPr>
        <p:spPr>
          <a:xfrm>
            <a:off x="786384" y="2807208"/>
            <a:ext cx="1481328" cy="310896"/>
          </a:xfrm>
          <a:prstGeom prst="rect">
            <a:avLst/>
          </a:prstGeom>
          <a:noFill/>
          <a:ln/>
        </p:spPr>
        <p:txBody>
          <a:bodyPr wrap="square" lIns="0" tIns="0" rIns="0" bIns="0" rtlCol="0" anchor="t"/>
          <a:lstStyle/>
          <a:p>
            <a:pPr algn="ctr" indent="0" marL="0">
              <a:buNone/>
            </a:pPr>
            <a:r>
              <a:rPr lang="en-US" sz="1230" dirty="0">
                <a:solidFill>
                  <a:srgbClr val="526474"/>
                </a:solidFill>
                <a:latin typeface="Arial" pitchFamily="34" charset="0"/>
                <a:ea typeface="Arial" pitchFamily="34" charset="-122"/>
                <a:cs typeface="Arial" pitchFamily="34" charset="-120"/>
              </a:rPr>
              <a:t>DPU + Liberty</a:t>
            </a:r>
            <a:endParaRPr lang="en-US" sz="1230" dirty="0"/>
          </a:p>
        </p:txBody>
      </p:sp>
      <p:sp>
        <p:nvSpPr>
          <p:cNvPr id="9" name="Shape 6"/>
          <p:cNvSpPr/>
          <p:nvPr/>
        </p:nvSpPr>
        <p:spPr>
          <a:xfrm>
            <a:off x="704088" y="4160520"/>
            <a:ext cx="1645920" cy="1078992"/>
          </a:xfrm>
          <a:prstGeom prst="roundRect">
            <a:avLst>
              <a:gd name="adj" fmla="val 5085"/>
            </a:avLst>
          </a:prstGeom>
          <a:solidFill>
            <a:srgbClr val="FFFFFF"/>
          </a:solidFill>
          <a:ln w="8255">
            <a:solidFill>
              <a:srgbClr val="D9E2E9"/>
            </a:solidFill>
            <a:prstDash val="solid"/>
          </a:ln>
        </p:spPr>
      </p:sp>
      <p:sp>
        <p:nvSpPr>
          <p:cNvPr id="10" name="Text 7"/>
          <p:cNvSpPr/>
          <p:nvPr/>
        </p:nvSpPr>
        <p:spPr>
          <a:xfrm>
            <a:off x="786384" y="4325112"/>
            <a:ext cx="1481328" cy="310896"/>
          </a:xfrm>
          <a:prstGeom prst="rect">
            <a:avLst/>
          </a:prstGeom>
          <a:noFill/>
          <a:ln/>
        </p:spPr>
        <p:txBody>
          <a:bodyPr wrap="square" lIns="0" tIns="0" rIns="0" bIns="0" rtlCol="0" anchor="t"/>
          <a:lstStyle/>
          <a:p>
            <a:pPr algn="ctr" indent="0" marL="0">
              <a:buNone/>
            </a:pPr>
            <a:r>
              <a:rPr lang="en-US" sz="1520" b="1" dirty="0">
                <a:solidFill>
                  <a:srgbClr val="007C83"/>
                </a:solidFill>
                <a:latin typeface="Arial" pitchFamily="34" charset="0"/>
                <a:ea typeface="Arial" pitchFamily="34" charset="-122"/>
                <a:cs typeface="Arial" pitchFamily="34" charset="-120"/>
              </a:rPr>
              <a:t>10 · Reportar</a:t>
            </a:r>
            <a:endParaRPr lang="en-US" sz="1520" dirty="0"/>
          </a:p>
        </p:txBody>
      </p:sp>
      <p:sp>
        <p:nvSpPr>
          <p:cNvPr id="11" name="Text 8"/>
          <p:cNvSpPr/>
          <p:nvPr/>
        </p:nvSpPr>
        <p:spPr>
          <a:xfrm>
            <a:off x="786384" y="4791456"/>
            <a:ext cx="1481328" cy="310896"/>
          </a:xfrm>
          <a:prstGeom prst="rect">
            <a:avLst/>
          </a:prstGeom>
          <a:noFill/>
          <a:ln/>
        </p:spPr>
        <p:txBody>
          <a:bodyPr wrap="square" lIns="0" tIns="0" rIns="0" bIns="0" rtlCol="0" anchor="t"/>
          <a:lstStyle/>
          <a:p>
            <a:pPr algn="ctr" indent="0" marL="0">
              <a:buNone/>
            </a:pPr>
            <a:r>
              <a:rPr lang="en-US" sz="1230" dirty="0">
                <a:solidFill>
                  <a:srgbClr val="526474"/>
                </a:solidFill>
                <a:latin typeface="Arial" pitchFamily="34" charset="0"/>
                <a:ea typeface="Arial" pitchFamily="34" charset="-122"/>
                <a:cs typeface="Arial" pitchFamily="34" charset="-120"/>
              </a:rPr>
              <a:t>JSON / CSV / ZIP</a:t>
            </a:r>
            <a:endParaRPr lang="en-US" sz="1230" dirty="0"/>
          </a:p>
        </p:txBody>
      </p:sp>
      <p:sp>
        <p:nvSpPr>
          <p:cNvPr id="12" name="Shape 9"/>
          <p:cNvSpPr/>
          <p:nvPr/>
        </p:nvSpPr>
        <p:spPr>
          <a:xfrm>
            <a:off x="2350008" y="2715768"/>
            <a:ext cx="576072" cy="0"/>
          </a:xfrm>
          <a:prstGeom prst="line">
            <a:avLst/>
          </a:prstGeom>
          <a:noFill/>
          <a:ln w="19050">
            <a:solidFill>
              <a:srgbClr val="007C83"/>
            </a:solidFill>
            <a:prstDash val="solid"/>
            <a:headEnd type="none"/>
            <a:tailEnd type="triangle"/>
          </a:ln>
        </p:spPr>
      </p:sp>
      <p:sp>
        <p:nvSpPr>
          <p:cNvPr id="13" name="Shape 10"/>
          <p:cNvSpPr/>
          <p:nvPr/>
        </p:nvSpPr>
        <p:spPr>
          <a:xfrm flipH="1">
            <a:off x="2423160" y="4700016"/>
            <a:ext cx="576072" cy="0"/>
          </a:xfrm>
          <a:prstGeom prst="line">
            <a:avLst/>
          </a:prstGeom>
          <a:noFill/>
          <a:ln w="19050">
            <a:solidFill>
              <a:srgbClr val="007C83"/>
            </a:solidFill>
            <a:prstDash val="solid"/>
            <a:headEnd type="none"/>
            <a:tailEnd type="triangle"/>
          </a:ln>
        </p:spPr>
      </p:sp>
      <p:sp>
        <p:nvSpPr>
          <p:cNvPr id="14" name="Shape 11"/>
          <p:cNvSpPr/>
          <p:nvPr/>
        </p:nvSpPr>
        <p:spPr>
          <a:xfrm>
            <a:off x="2999232" y="2176272"/>
            <a:ext cx="1645920" cy="1078992"/>
          </a:xfrm>
          <a:prstGeom prst="roundRect">
            <a:avLst>
              <a:gd name="adj" fmla="val 5085"/>
            </a:avLst>
          </a:prstGeom>
          <a:solidFill>
            <a:srgbClr val="FFFFFF"/>
          </a:solidFill>
          <a:ln w="8255">
            <a:solidFill>
              <a:srgbClr val="D9E2E9"/>
            </a:solidFill>
            <a:prstDash val="solid"/>
          </a:ln>
        </p:spPr>
      </p:sp>
      <p:sp>
        <p:nvSpPr>
          <p:cNvPr id="15" name="Text 12"/>
          <p:cNvSpPr/>
          <p:nvPr/>
        </p:nvSpPr>
        <p:spPr>
          <a:xfrm>
            <a:off x="3081528" y="2340864"/>
            <a:ext cx="1481328" cy="310896"/>
          </a:xfrm>
          <a:prstGeom prst="rect">
            <a:avLst/>
          </a:prstGeom>
          <a:noFill/>
          <a:ln/>
        </p:spPr>
        <p:txBody>
          <a:bodyPr wrap="square" lIns="0" tIns="0" rIns="0" bIns="0" rtlCol="0" anchor="t"/>
          <a:lstStyle/>
          <a:p>
            <a:pPr algn="ctr" indent="0" marL="0">
              <a:buNone/>
            </a:pPr>
            <a:r>
              <a:rPr lang="en-US" sz="1520" b="1" dirty="0">
                <a:solidFill>
                  <a:srgbClr val="007C83"/>
                </a:solidFill>
                <a:latin typeface="Arial" pitchFamily="34" charset="0"/>
                <a:ea typeface="Arial" pitchFamily="34" charset="-122"/>
                <a:cs typeface="Arial" pitchFamily="34" charset="-120"/>
              </a:rPr>
              <a:t>02 · Capturar</a:t>
            </a:r>
            <a:endParaRPr lang="en-US" sz="1520" dirty="0"/>
          </a:p>
        </p:txBody>
      </p:sp>
      <p:sp>
        <p:nvSpPr>
          <p:cNvPr id="16" name="Text 13"/>
          <p:cNvSpPr/>
          <p:nvPr/>
        </p:nvSpPr>
        <p:spPr>
          <a:xfrm>
            <a:off x="3081528" y="2807208"/>
            <a:ext cx="1481328" cy="310896"/>
          </a:xfrm>
          <a:prstGeom prst="rect">
            <a:avLst/>
          </a:prstGeom>
          <a:noFill/>
          <a:ln/>
        </p:spPr>
        <p:txBody>
          <a:bodyPr wrap="square" lIns="0" tIns="0" rIns="0" bIns="0" rtlCol="0" anchor="t"/>
          <a:lstStyle/>
          <a:p>
            <a:pPr algn="ctr" indent="0" marL="0">
              <a:buNone/>
            </a:pPr>
            <a:r>
              <a:rPr lang="en-US" sz="1230" dirty="0">
                <a:solidFill>
                  <a:srgbClr val="526474"/>
                </a:solidFill>
                <a:latin typeface="Arial" pitchFamily="34" charset="0"/>
                <a:ea typeface="Arial" pitchFamily="34" charset="-122"/>
                <a:cs typeface="Arial" pitchFamily="34" charset="-120"/>
              </a:rPr>
              <a:t>Fuentes + hashes</a:t>
            </a:r>
            <a:endParaRPr lang="en-US" sz="1230" dirty="0"/>
          </a:p>
        </p:txBody>
      </p:sp>
      <p:sp>
        <p:nvSpPr>
          <p:cNvPr id="17" name="Shape 14"/>
          <p:cNvSpPr/>
          <p:nvPr/>
        </p:nvSpPr>
        <p:spPr>
          <a:xfrm>
            <a:off x="2999232" y="4160520"/>
            <a:ext cx="1645920" cy="1078992"/>
          </a:xfrm>
          <a:prstGeom prst="roundRect">
            <a:avLst>
              <a:gd name="adj" fmla="val 5085"/>
            </a:avLst>
          </a:prstGeom>
          <a:solidFill>
            <a:srgbClr val="FFFFFF"/>
          </a:solidFill>
          <a:ln w="8255">
            <a:solidFill>
              <a:srgbClr val="D9E2E9"/>
            </a:solidFill>
            <a:prstDash val="solid"/>
          </a:ln>
        </p:spPr>
      </p:sp>
      <p:sp>
        <p:nvSpPr>
          <p:cNvPr id="18" name="Text 15"/>
          <p:cNvSpPr/>
          <p:nvPr/>
        </p:nvSpPr>
        <p:spPr>
          <a:xfrm>
            <a:off x="3081528" y="4325112"/>
            <a:ext cx="1481328" cy="310896"/>
          </a:xfrm>
          <a:prstGeom prst="rect">
            <a:avLst/>
          </a:prstGeom>
          <a:noFill/>
          <a:ln/>
        </p:spPr>
        <p:txBody>
          <a:bodyPr wrap="square" lIns="0" tIns="0" rIns="0" bIns="0" rtlCol="0" anchor="t"/>
          <a:lstStyle/>
          <a:p>
            <a:pPr algn="ctr" indent="0" marL="0">
              <a:buNone/>
            </a:pPr>
            <a:r>
              <a:rPr lang="en-US" sz="1520" b="1" dirty="0">
                <a:solidFill>
                  <a:srgbClr val="007C83"/>
                </a:solidFill>
                <a:latin typeface="Arial" pitchFamily="34" charset="0"/>
                <a:ea typeface="Arial" pitchFamily="34" charset="-122"/>
                <a:cs typeface="Arial" pitchFamily="34" charset="-120"/>
              </a:rPr>
              <a:t>09 · Aceptar</a:t>
            </a:r>
            <a:endParaRPr lang="en-US" sz="1520" dirty="0"/>
          </a:p>
        </p:txBody>
      </p:sp>
      <p:sp>
        <p:nvSpPr>
          <p:cNvPr id="19" name="Text 16"/>
          <p:cNvSpPr/>
          <p:nvPr/>
        </p:nvSpPr>
        <p:spPr>
          <a:xfrm>
            <a:off x="3081528" y="4791456"/>
            <a:ext cx="1481328" cy="310896"/>
          </a:xfrm>
          <a:prstGeom prst="rect">
            <a:avLst/>
          </a:prstGeom>
          <a:noFill/>
          <a:ln/>
        </p:spPr>
        <p:txBody>
          <a:bodyPr wrap="square" lIns="0" tIns="0" rIns="0" bIns="0" rtlCol="0" anchor="t"/>
          <a:lstStyle/>
          <a:p>
            <a:pPr algn="ctr" indent="0" marL="0">
              <a:buNone/>
            </a:pPr>
            <a:r>
              <a:rPr lang="en-US" sz="1230" dirty="0">
                <a:solidFill>
                  <a:srgbClr val="526474"/>
                </a:solidFill>
                <a:latin typeface="Arial" pitchFamily="34" charset="0"/>
                <a:ea typeface="Arial" pitchFamily="34" charset="-122"/>
                <a:cs typeface="Arial" pitchFamily="34" charset="-120"/>
              </a:rPr>
              <a:t>O fallar con log</a:t>
            </a:r>
            <a:endParaRPr lang="en-US" sz="1230" dirty="0"/>
          </a:p>
        </p:txBody>
      </p:sp>
      <p:sp>
        <p:nvSpPr>
          <p:cNvPr id="20" name="Shape 17"/>
          <p:cNvSpPr/>
          <p:nvPr/>
        </p:nvSpPr>
        <p:spPr>
          <a:xfrm>
            <a:off x="4645152" y="2715768"/>
            <a:ext cx="576072" cy="0"/>
          </a:xfrm>
          <a:prstGeom prst="line">
            <a:avLst/>
          </a:prstGeom>
          <a:noFill/>
          <a:ln w="19050">
            <a:solidFill>
              <a:srgbClr val="007C83"/>
            </a:solidFill>
            <a:prstDash val="solid"/>
            <a:headEnd type="none"/>
            <a:tailEnd type="triangle"/>
          </a:ln>
        </p:spPr>
      </p:sp>
      <p:sp>
        <p:nvSpPr>
          <p:cNvPr id="21" name="Shape 18"/>
          <p:cNvSpPr/>
          <p:nvPr/>
        </p:nvSpPr>
        <p:spPr>
          <a:xfrm flipH="1">
            <a:off x="4718304" y="4700016"/>
            <a:ext cx="576072" cy="0"/>
          </a:xfrm>
          <a:prstGeom prst="line">
            <a:avLst/>
          </a:prstGeom>
          <a:noFill/>
          <a:ln w="19050">
            <a:solidFill>
              <a:srgbClr val="007C83"/>
            </a:solidFill>
            <a:prstDash val="solid"/>
            <a:headEnd type="none"/>
            <a:tailEnd type="triangle"/>
          </a:ln>
        </p:spPr>
      </p:sp>
      <p:sp>
        <p:nvSpPr>
          <p:cNvPr id="22" name="Shape 19"/>
          <p:cNvSpPr/>
          <p:nvPr/>
        </p:nvSpPr>
        <p:spPr>
          <a:xfrm>
            <a:off x="5294376" y="2176272"/>
            <a:ext cx="1645920" cy="1078992"/>
          </a:xfrm>
          <a:prstGeom prst="roundRect">
            <a:avLst>
              <a:gd name="adj" fmla="val 5085"/>
            </a:avLst>
          </a:prstGeom>
          <a:solidFill>
            <a:srgbClr val="FFFFFF"/>
          </a:solidFill>
          <a:ln w="8255">
            <a:solidFill>
              <a:srgbClr val="D9E2E9"/>
            </a:solidFill>
            <a:prstDash val="solid"/>
          </a:ln>
        </p:spPr>
      </p:sp>
      <p:sp>
        <p:nvSpPr>
          <p:cNvPr id="23" name="Text 20"/>
          <p:cNvSpPr/>
          <p:nvPr/>
        </p:nvSpPr>
        <p:spPr>
          <a:xfrm>
            <a:off x="5376672" y="2340864"/>
            <a:ext cx="1481328" cy="310896"/>
          </a:xfrm>
          <a:prstGeom prst="rect">
            <a:avLst/>
          </a:prstGeom>
          <a:noFill/>
          <a:ln/>
        </p:spPr>
        <p:txBody>
          <a:bodyPr wrap="square" lIns="0" tIns="0" rIns="0" bIns="0" rtlCol="0" anchor="t"/>
          <a:lstStyle/>
          <a:p>
            <a:pPr algn="ctr" indent="0" marL="0">
              <a:buNone/>
            </a:pPr>
            <a:r>
              <a:rPr lang="en-US" sz="1520" b="1" dirty="0">
                <a:solidFill>
                  <a:srgbClr val="007C83"/>
                </a:solidFill>
                <a:latin typeface="Arial" pitchFamily="34" charset="0"/>
                <a:ea typeface="Arial" pitchFamily="34" charset="-122"/>
                <a:cs typeface="Arial" pitchFamily="34" charset="-120"/>
              </a:rPr>
              <a:t>03 · GHDL RTL</a:t>
            </a:r>
            <a:endParaRPr lang="en-US" sz="1520" dirty="0"/>
          </a:p>
        </p:txBody>
      </p:sp>
      <p:sp>
        <p:nvSpPr>
          <p:cNvPr id="24" name="Text 21"/>
          <p:cNvSpPr/>
          <p:nvPr/>
        </p:nvSpPr>
        <p:spPr>
          <a:xfrm>
            <a:off x="5376672" y="2807208"/>
            <a:ext cx="1481328" cy="310896"/>
          </a:xfrm>
          <a:prstGeom prst="rect">
            <a:avLst/>
          </a:prstGeom>
          <a:noFill/>
          <a:ln/>
        </p:spPr>
        <p:txBody>
          <a:bodyPr wrap="square" lIns="0" tIns="0" rIns="0" bIns="0" rtlCol="0" anchor="t"/>
          <a:lstStyle/>
          <a:p>
            <a:pPr algn="ctr" indent="0" marL="0">
              <a:buNone/>
            </a:pPr>
            <a:r>
              <a:rPr lang="en-US" sz="1230" dirty="0">
                <a:solidFill>
                  <a:srgbClr val="526474"/>
                </a:solidFill>
                <a:latin typeface="Arial" pitchFamily="34" charset="0"/>
                <a:ea typeface="Arial" pitchFamily="34" charset="-122"/>
                <a:cs typeface="Arial" pitchFamily="34" charset="-120"/>
              </a:rPr>
              <a:t>256 esperados</a:t>
            </a:r>
            <a:endParaRPr lang="en-US" sz="1230" dirty="0"/>
          </a:p>
        </p:txBody>
      </p:sp>
      <p:sp>
        <p:nvSpPr>
          <p:cNvPr id="25" name="Shape 22"/>
          <p:cNvSpPr/>
          <p:nvPr/>
        </p:nvSpPr>
        <p:spPr>
          <a:xfrm>
            <a:off x="5294376" y="4160520"/>
            <a:ext cx="1645920" cy="1078992"/>
          </a:xfrm>
          <a:prstGeom prst="roundRect">
            <a:avLst>
              <a:gd name="adj" fmla="val 5085"/>
            </a:avLst>
          </a:prstGeom>
          <a:solidFill>
            <a:srgbClr val="FFFFFF"/>
          </a:solidFill>
          <a:ln w="8255">
            <a:solidFill>
              <a:srgbClr val="D9E2E9"/>
            </a:solidFill>
            <a:prstDash val="solid"/>
          </a:ln>
        </p:spPr>
      </p:sp>
      <p:sp>
        <p:nvSpPr>
          <p:cNvPr id="26" name="Text 23"/>
          <p:cNvSpPr/>
          <p:nvPr/>
        </p:nvSpPr>
        <p:spPr>
          <a:xfrm>
            <a:off x="5376672" y="4325112"/>
            <a:ext cx="1481328" cy="310896"/>
          </a:xfrm>
          <a:prstGeom prst="rect">
            <a:avLst/>
          </a:prstGeom>
          <a:noFill/>
          <a:ln/>
        </p:spPr>
        <p:txBody>
          <a:bodyPr wrap="square" lIns="0" tIns="0" rIns="0" bIns="0" rtlCol="0" anchor="t"/>
          <a:lstStyle/>
          <a:p>
            <a:pPr algn="ctr" indent="0" marL="0">
              <a:buNone/>
            </a:pPr>
            <a:r>
              <a:rPr lang="en-US" sz="1520" b="1" dirty="0">
                <a:solidFill>
                  <a:srgbClr val="007C83"/>
                </a:solidFill>
                <a:latin typeface="Arial" pitchFamily="34" charset="0"/>
                <a:ea typeface="Arial" pitchFamily="34" charset="-122"/>
                <a:cs typeface="Arial" pitchFamily="34" charset="-120"/>
              </a:rPr>
              <a:t>08 · Simular</a:t>
            </a:r>
            <a:endParaRPr lang="en-US" sz="1520" dirty="0"/>
          </a:p>
        </p:txBody>
      </p:sp>
      <p:sp>
        <p:nvSpPr>
          <p:cNvPr id="27" name="Text 24"/>
          <p:cNvSpPr/>
          <p:nvPr/>
        </p:nvSpPr>
        <p:spPr>
          <a:xfrm>
            <a:off x="5376672" y="4791456"/>
            <a:ext cx="1481328" cy="310896"/>
          </a:xfrm>
          <a:prstGeom prst="rect">
            <a:avLst/>
          </a:prstGeom>
          <a:noFill/>
          <a:ln/>
        </p:spPr>
        <p:txBody>
          <a:bodyPr wrap="square" lIns="0" tIns="0" rIns="0" bIns="0" rtlCol="0" anchor="t"/>
          <a:lstStyle/>
          <a:p>
            <a:pPr algn="ctr" indent="0" marL="0">
              <a:buNone/>
            </a:pPr>
            <a:r>
              <a:rPr lang="en-US" sz="1230" dirty="0">
                <a:solidFill>
                  <a:srgbClr val="526474"/>
                </a:solidFill>
                <a:latin typeface="Arial" pitchFamily="34" charset="0"/>
                <a:ea typeface="Arial" pitchFamily="34" charset="-122"/>
                <a:cs typeface="Arial" pitchFamily="34" charset="-120"/>
              </a:rPr>
              <a:t>Netlist vs RTL</a:t>
            </a:r>
            <a:endParaRPr lang="en-US" sz="1230" dirty="0"/>
          </a:p>
        </p:txBody>
      </p:sp>
      <p:sp>
        <p:nvSpPr>
          <p:cNvPr id="28" name="Shape 25"/>
          <p:cNvSpPr/>
          <p:nvPr/>
        </p:nvSpPr>
        <p:spPr>
          <a:xfrm>
            <a:off x="6940296" y="2715768"/>
            <a:ext cx="576072" cy="0"/>
          </a:xfrm>
          <a:prstGeom prst="line">
            <a:avLst/>
          </a:prstGeom>
          <a:noFill/>
          <a:ln w="19050">
            <a:solidFill>
              <a:srgbClr val="007C83"/>
            </a:solidFill>
            <a:prstDash val="solid"/>
            <a:headEnd type="none"/>
            <a:tailEnd type="triangle"/>
          </a:ln>
        </p:spPr>
      </p:sp>
      <p:sp>
        <p:nvSpPr>
          <p:cNvPr id="29" name="Shape 26"/>
          <p:cNvSpPr/>
          <p:nvPr/>
        </p:nvSpPr>
        <p:spPr>
          <a:xfrm flipH="1">
            <a:off x="7013448" y="4700016"/>
            <a:ext cx="576072" cy="0"/>
          </a:xfrm>
          <a:prstGeom prst="line">
            <a:avLst/>
          </a:prstGeom>
          <a:noFill/>
          <a:ln w="19050">
            <a:solidFill>
              <a:srgbClr val="007C83"/>
            </a:solidFill>
            <a:prstDash val="solid"/>
            <a:headEnd type="none"/>
            <a:tailEnd type="triangle"/>
          </a:ln>
        </p:spPr>
      </p:sp>
      <p:sp>
        <p:nvSpPr>
          <p:cNvPr id="30" name="Shape 27"/>
          <p:cNvSpPr/>
          <p:nvPr/>
        </p:nvSpPr>
        <p:spPr>
          <a:xfrm>
            <a:off x="7589520" y="2176272"/>
            <a:ext cx="1645920" cy="1078992"/>
          </a:xfrm>
          <a:prstGeom prst="roundRect">
            <a:avLst>
              <a:gd name="adj" fmla="val 5085"/>
            </a:avLst>
          </a:prstGeom>
          <a:solidFill>
            <a:srgbClr val="FFFFFF"/>
          </a:solidFill>
          <a:ln w="8255">
            <a:solidFill>
              <a:srgbClr val="D9E2E9"/>
            </a:solidFill>
            <a:prstDash val="solid"/>
          </a:ln>
        </p:spPr>
      </p:sp>
      <p:sp>
        <p:nvSpPr>
          <p:cNvPr id="31" name="Text 28"/>
          <p:cNvSpPr/>
          <p:nvPr/>
        </p:nvSpPr>
        <p:spPr>
          <a:xfrm>
            <a:off x="7671816" y="2340864"/>
            <a:ext cx="1481328" cy="310896"/>
          </a:xfrm>
          <a:prstGeom prst="rect">
            <a:avLst/>
          </a:prstGeom>
          <a:noFill/>
          <a:ln/>
        </p:spPr>
        <p:txBody>
          <a:bodyPr wrap="square" lIns="0" tIns="0" rIns="0" bIns="0" rtlCol="0" anchor="t"/>
          <a:lstStyle/>
          <a:p>
            <a:pPr algn="ctr" indent="0" marL="0">
              <a:buNone/>
            </a:pPr>
            <a:r>
              <a:rPr lang="en-US" sz="1520" b="1" dirty="0">
                <a:solidFill>
                  <a:srgbClr val="007C83"/>
                </a:solidFill>
                <a:latin typeface="Arial" pitchFamily="34" charset="0"/>
                <a:ea typeface="Arial" pitchFamily="34" charset="-122"/>
                <a:cs typeface="Arial" pitchFamily="34" charset="-120"/>
              </a:rPr>
              <a:t>04 · Convertir</a:t>
            </a:r>
            <a:endParaRPr lang="en-US" sz="1520" dirty="0"/>
          </a:p>
        </p:txBody>
      </p:sp>
      <p:sp>
        <p:nvSpPr>
          <p:cNvPr id="32" name="Text 29"/>
          <p:cNvSpPr/>
          <p:nvPr/>
        </p:nvSpPr>
        <p:spPr>
          <a:xfrm>
            <a:off x="7671816" y="2807208"/>
            <a:ext cx="1481328" cy="310896"/>
          </a:xfrm>
          <a:prstGeom prst="rect">
            <a:avLst/>
          </a:prstGeom>
          <a:noFill/>
          <a:ln/>
        </p:spPr>
        <p:txBody>
          <a:bodyPr wrap="square" lIns="0" tIns="0" rIns="0" bIns="0" rtlCol="0" anchor="t"/>
          <a:lstStyle/>
          <a:p>
            <a:pPr algn="ctr" indent="0" marL="0">
              <a:buNone/>
            </a:pPr>
            <a:r>
              <a:rPr lang="en-US" sz="1230" dirty="0">
                <a:solidFill>
                  <a:srgbClr val="526474"/>
                </a:solidFill>
                <a:latin typeface="Arial" pitchFamily="34" charset="0"/>
                <a:ea typeface="Arial" pitchFamily="34" charset="-122"/>
                <a:cs typeface="Arial" pitchFamily="34" charset="-120"/>
              </a:rPr>
              <a:t>VHDL → Verilog</a:t>
            </a:r>
            <a:endParaRPr lang="en-US" sz="1230" dirty="0"/>
          </a:p>
        </p:txBody>
      </p:sp>
      <p:sp>
        <p:nvSpPr>
          <p:cNvPr id="33" name="Shape 30"/>
          <p:cNvSpPr/>
          <p:nvPr/>
        </p:nvSpPr>
        <p:spPr>
          <a:xfrm>
            <a:off x="7589520" y="4160520"/>
            <a:ext cx="1645920" cy="1078992"/>
          </a:xfrm>
          <a:prstGeom prst="roundRect">
            <a:avLst>
              <a:gd name="adj" fmla="val 5085"/>
            </a:avLst>
          </a:prstGeom>
          <a:solidFill>
            <a:srgbClr val="FFFFFF"/>
          </a:solidFill>
          <a:ln w="8255">
            <a:solidFill>
              <a:srgbClr val="D9E2E9"/>
            </a:solidFill>
            <a:prstDash val="solid"/>
          </a:ln>
        </p:spPr>
      </p:sp>
      <p:sp>
        <p:nvSpPr>
          <p:cNvPr id="34" name="Text 31"/>
          <p:cNvSpPr/>
          <p:nvPr/>
        </p:nvSpPr>
        <p:spPr>
          <a:xfrm>
            <a:off x="7671816" y="4325112"/>
            <a:ext cx="1481328" cy="310896"/>
          </a:xfrm>
          <a:prstGeom prst="rect">
            <a:avLst/>
          </a:prstGeom>
          <a:noFill/>
          <a:ln/>
        </p:spPr>
        <p:txBody>
          <a:bodyPr wrap="square" lIns="0" tIns="0" rIns="0" bIns="0" rtlCol="0" anchor="t"/>
          <a:lstStyle/>
          <a:p>
            <a:pPr algn="ctr" indent="0" marL="0">
              <a:buNone/>
            </a:pPr>
            <a:r>
              <a:rPr lang="en-US" sz="1520" b="1" dirty="0">
                <a:solidFill>
                  <a:srgbClr val="007C83"/>
                </a:solidFill>
                <a:latin typeface="Arial" pitchFamily="34" charset="0"/>
                <a:ea typeface="Arial" pitchFamily="34" charset="-122"/>
                <a:cs typeface="Arial" pitchFamily="34" charset="-120"/>
              </a:rPr>
              <a:t>07 · Contar</a:t>
            </a:r>
            <a:endParaRPr lang="en-US" sz="1520" dirty="0"/>
          </a:p>
        </p:txBody>
      </p:sp>
      <p:sp>
        <p:nvSpPr>
          <p:cNvPr id="35" name="Text 32"/>
          <p:cNvSpPr/>
          <p:nvPr/>
        </p:nvSpPr>
        <p:spPr>
          <a:xfrm>
            <a:off x="7671816" y="4791456"/>
            <a:ext cx="1481328" cy="310896"/>
          </a:xfrm>
          <a:prstGeom prst="rect">
            <a:avLst/>
          </a:prstGeom>
          <a:noFill/>
          <a:ln/>
        </p:spPr>
        <p:txBody>
          <a:bodyPr wrap="square" lIns="0" tIns="0" rIns="0" bIns="0" rtlCol="0" anchor="t"/>
          <a:lstStyle/>
          <a:p>
            <a:pPr algn="ctr" indent="0" marL="0">
              <a:buNone/>
            </a:pPr>
            <a:r>
              <a:rPr lang="en-US" sz="1230" dirty="0">
                <a:solidFill>
                  <a:srgbClr val="526474"/>
                </a:solidFill>
                <a:latin typeface="Arial" pitchFamily="34" charset="0"/>
                <a:ea typeface="Arial" pitchFamily="34" charset="-122"/>
                <a:cs typeface="Arial" pitchFamily="34" charset="-120"/>
              </a:rPr>
              <a:t>Área + FF + stat</a:t>
            </a:r>
            <a:endParaRPr lang="en-US" sz="1230" dirty="0"/>
          </a:p>
        </p:txBody>
      </p:sp>
      <p:sp>
        <p:nvSpPr>
          <p:cNvPr id="36" name="Shape 33"/>
          <p:cNvSpPr/>
          <p:nvPr/>
        </p:nvSpPr>
        <p:spPr>
          <a:xfrm>
            <a:off x="9235440" y="2715768"/>
            <a:ext cx="576072" cy="0"/>
          </a:xfrm>
          <a:prstGeom prst="line">
            <a:avLst/>
          </a:prstGeom>
          <a:noFill/>
          <a:ln w="19050">
            <a:solidFill>
              <a:srgbClr val="007C83"/>
            </a:solidFill>
            <a:prstDash val="solid"/>
            <a:headEnd type="none"/>
            <a:tailEnd type="triangle"/>
          </a:ln>
        </p:spPr>
      </p:sp>
      <p:sp>
        <p:nvSpPr>
          <p:cNvPr id="37" name="Shape 34"/>
          <p:cNvSpPr/>
          <p:nvPr/>
        </p:nvSpPr>
        <p:spPr>
          <a:xfrm flipH="1">
            <a:off x="9308592" y="4700016"/>
            <a:ext cx="576072" cy="0"/>
          </a:xfrm>
          <a:prstGeom prst="line">
            <a:avLst/>
          </a:prstGeom>
          <a:noFill/>
          <a:ln w="19050">
            <a:solidFill>
              <a:srgbClr val="007C83"/>
            </a:solidFill>
            <a:prstDash val="solid"/>
            <a:headEnd type="none"/>
            <a:tailEnd type="triangle"/>
          </a:ln>
        </p:spPr>
      </p:sp>
      <p:sp>
        <p:nvSpPr>
          <p:cNvPr id="38" name="Shape 35"/>
          <p:cNvSpPr/>
          <p:nvPr/>
        </p:nvSpPr>
        <p:spPr>
          <a:xfrm>
            <a:off x="9884664" y="2176272"/>
            <a:ext cx="1645920" cy="1078992"/>
          </a:xfrm>
          <a:prstGeom prst="roundRect">
            <a:avLst>
              <a:gd name="adj" fmla="val 5085"/>
            </a:avLst>
          </a:prstGeom>
          <a:solidFill>
            <a:srgbClr val="FFFFFF"/>
          </a:solidFill>
          <a:ln w="8255">
            <a:solidFill>
              <a:srgbClr val="D9E2E9"/>
            </a:solidFill>
            <a:prstDash val="solid"/>
          </a:ln>
        </p:spPr>
      </p:sp>
      <p:sp>
        <p:nvSpPr>
          <p:cNvPr id="39" name="Text 36"/>
          <p:cNvSpPr/>
          <p:nvPr/>
        </p:nvSpPr>
        <p:spPr>
          <a:xfrm>
            <a:off x="9966960" y="2340864"/>
            <a:ext cx="1481328" cy="310896"/>
          </a:xfrm>
          <a:prstGeom prst="rect">
            <a:avLst/>
          </a:prstGeom>
          <a:noFill/>
          <a:ln/>
        </p:spPr>
        <p:txBody>
          <a:bodyPr wrap="square" lIns="0" tIns="0" rIns="0" bIns="0" rtlCol="0" anchor="t"/>
          <a:lstStyle/>
          <a:p>
            <a:pPr algn="ctr" indent="0" marL="0">
              <a:buNone/>
            </a:pPr>
            <a:r>
              <a:rPr lang="en-US" sz="1520" b="1" dirty="0">
                <a:solidFill>
                  <a:srgbClr val="007C83"/>
                </a:solidFill>
                <a:latin typeface="Arial" pitchFamily="34" charset="0"/>
                <a:ea typeface="Arial" pitchFamily="34" charset="-122"/>
                <a:cs typeface="Arial" pitchFamily="34" charset="-120"/>
              </a:rPr>
              <a:t>05 · Yosys</a:t>
            </a:r>
            <a:endParaRPr lang="en-US" sz="1520" dirty="0"/>
          </a:p>
        </p:txBody>
      </p:sp>
      <p:sp>
        <p:nvSpPr>
          <p:cNvPr id="40" name="Text 37"/>
          <p:cNvSpPr/>
          <p:nvPr/>
        </p:nvSpPr>
        <p:spPr>
          <a:xfrm>
            <a:off x="9966960" y="2807208"/>
            <a:ext cx="1481328" cy="310896"/>
          </a:xfrm>
          <a:prstGeom prst="rect">
            <a:avLst/>
          </a:prstGeom>
          <a:noFill/>
          <a:ln/>
        </p:spPr>
        <p:txBody>
          <a:bodyPr wrap="square" lIns="0" tIns="0" rIns="0" bIns="0" rtlCol="0" anchor="t"/>
          <a:lstStyle/>
          <a:p>
            <a:pPr algn="ctr" indent="0" marL="0">
              <a:buNone/>
            </a:pPr>
            <a:r>
              <a:rPr lang="en-US" sz="1230" dirty="0">
                <a:solidFill>
                  <a:srgbClr val="526474"/>
                </a:solidFill>
                <a:latin typeface="Arial" pitchFamily="34" charset="0"/>
                <a:ea typeface="Arial" pitchFamily="34" charset="-122"/>
                <a:cs typeface="Arial" pitchFamily="34" charset="-120"/>
              </a:rPr>
              <a:t>Síntesis + mapeo</a:t>
            </a:r>
            <a:endParaRPr lang="en-US" sz="1230" dirty="0"/>
          </a:p>
        </p:txBody>
      </p:sp>
      <p:sp>
        <p:nvSpPr>
          <p:cNvPr id="41" name="Shape 38"/>
          <p:cNvSpPr/>
          <p:nvPr/>
        </p:nvSpPr>
        <p:spPr>
          <a:xfrm>
            <a:off x="9884664" y="4160520"/>
            <a:ext cx="1645920" cy="1078992"/>
          </a:xfrm>
          <a:prstGeom prst="roundRect">
            <a:avLst>
              <a:gd name="adj" fmla="val 5085"/>
            </a:avLst>
          </a:prstGeom>
          <a:solidFill>
            <a:srgbClr val="FFFFFF"/>
          </a:solidFill>
          <a:ln w="8255">
            <a:solidFill>
              <a:srgbClr val="D9E2E9"/>
            </a:solidFill>
            <a:prstDash val="solid"/>
          </a:ln>
        </p:spPr>
      </p:sp>
      <p:sp>
        <p:nvSpPr>
          <p:cNvPr id="42" name="Text 39"/>
          <p:cNvSpPr/>
          <p:nvPr/>
        </p:nvSpPr>
        <p:spPr>
          <a:xfrm>
            <a:off x="9966960" y="4325112"/>
            <a:ext cx="1481328" cy="310896"/>
          </a:xfrm>
          <a:prstGeom prst="rect">
            <a:avLst/>
          </a:prstGeom>
          <a:noFill/>
          <a:ln/>
        </p:spPr>
        <p:txBody>
          <a:bodyPr wrap="square" lIns="0" tIns="0" rIns="0" bIns="0" rtlCol="0" anchor="t"/>
          <a:lstStyle/>
          <a:p>
            <a:pPr algn="ctr" indent="0" marL="0">
              <a:buNone/>
            </a:pPr>
            <a:r>
              <a:rPr lang="en-US" sz="1520" b="1" dirty="0">
                <a:solidFill>
                  <a:srgbClr val="007C83"/>
                </a:solidFill>
                <a:latin typeface="Arial" pitchFamily="34" charset="0"/>
                <a:ea typeface="Arial" pitchFamily="34" charset="-122"/>
                <a:cs typeface="Arial" pitchFamily="34" charset="-120"/>
              </a:rPr>
              <a:t>06 · Netlist</a:t>
            </a:r>
            <a:endParaRPr lang="en-US" sz="1520" dirty="0"/>
          </a:p>
        </p:txBody>
      </p:sp>
      <p:sp>
        <p:nvSpPr>
          <p:cNvPr id="43" name="Text 40"/>
          <p:cNvSpPr/>
          <p:nvPr/>
        </p:nvSpPr>
        <p:spPr>
          <a:xfrm>
            <a:off x="9966960" y="4791456"/>
            <a:ext cx="1481328" cy="310896"/>
          </a:xfrm>
          <a:prstGeom prst="rect">
            <a:avLst/>
          </a:prstGeom>
          <a:noFill/>
          <a:ln/>
        </p:spPr>
        <p:txBody>
          <a:bodyPr wrap="square" lIns="0" tIns="0" rIns="0" bIns="0" rtlCol="0" anchor="t"/>
          <a:lstStyle/>
          <a:p>
            <a:pPr algn="ctr" indent="0" marL="0">
              <a:buNone/>
            </a:pPr>
            <a:r>
              <a:rPr lang="en-US" sz="1230" dirty="0">
                <a:solidFill>
                  <a:srgbClr val="526474"/>
                </a:solidFill>
                <a:latin typeface="Arial" pitchFamily="34" charset="0"/>
                <a:ea typeface="Arial" pitchFamily="34" charset="-122"/>
                <a:cs typeface="Arial" pitchFamily="34" charset="-120"/>
              </a:rPr>
              <a:t>Celdas concretas</a:t>
            </a:r>
            <a:endParaRPr lang="en-US" sz="1230" dirty="0"/>
          </a:p>
        </p:txBody>
      </p:sp>
      <p:sp>
        <p:nvSpPr>
          <p:cNvPr id="44" name="Shape 41"/>
          <p:cNvSpPr/>
          <p:nvPr/>
        </p:nvSpPr>
        <p:spPr>
          <a:xfrm>
            <a:off x="10707624" y="3255264"/>
            <a:ext cx="0" cy="841248"/>
          </a:xfrm>
          <a:prstGeom prst="line">
            <a:avLst/>
          </a:prstGeom>
          <a:noFill/>
          <a:ln w="19050">
            <a:solidFill>
              <a:srgbClr val="007C83"/>
            </a:solidFill>
            <a:prstDash val="solid"/>
            <a:headEnd type="none"/>
            <a:tailEnd type="triangle"/>
          </a:ln>
        </p:spPr>
      </p:sp>
      <p:sp>
        <p:nvSpPr>
          <p:cNvPr id="45" name="Shape 42"/>
          <p:cNvSpPr/>
          <p:nvPr/>
        </p:nvSpPr>
        <p:spPr>
          <a:xfrm>
            <a:off x="6117336" y="3255264"/>
            <a:ext cx="0" cy="841248"/>
          </a:xfrm>
          <a:prstGeom prst="line">
            <a:avLst/>
          </a:prstGeom>
          <a:noFill/>
          <a:ln w="15240">
            <a:solidFill>
              <a:srgbClr val="B36A10"/>
            </a:solidFill>
            <a:prstDash val="solid"/>
            <a:headEnd type="none"/>
            <a:tailEnd type="triangle"/>
          </a:ln>
        </p:spPr>
      </p:sp>
      <p:sp>
        <p:nvSpPr>
          <p:cNvPr id="46" name="Text 43"/>
          <p:cNvSpPr/>
          <p:nvPr/>
        </p:nvSpPr>
        <p:spPr>
          <a:xfrm>
            <a:off x="6227064" y="3566160"/>
            <a:ext cx="2011680" cy="246888"/>
          </a:xfrm>
          <a:prstGeom prst="rect">
            <a:avLst/>
          </a:prstGeom>
          <a:noFill/>
          <a:ln/>
        </p:spPr>
        <p:txBody>
          <a:bodyPr wrap="square" lIns="0" tIns="0" rIns="0" bIns="0" rtlCol="0" anchor="t"/>
          <a:lstStyle/>
          <a:p>
            <a:pPr indent="0" marL="0">
              <a:buNone/>
            </a:pPr>
            <a:r>
              <a:rPr lang="en-US" sz="1100" b="1" dirty="0">
                <a:solidFill>
                  <a:srgbClr val="B36A10"/>
                </a:solidFill>
                <a:latin typeface="Arial" pitchFamily="34" charset="0"/>
                <a:ea typeface="Arial" pitchFamily="34" charset="-122"/>
                <a:cs typeface="Arial" pitchFamily="34" charset="-120"/>
              </a:rPr>
              <a:t>Referencia RTL</a:t>
            </a:r>
            <a:endParaRPr lang="en-US" sz="1100" dirty="0"/>
          </a:p>
        </p:txBody>
      </p:sp>
      <p:sp>
        <p:nvSpPr>
          <p:cNvPr id="47" name="Shape 44"/>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48" name="Text 45"/>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El reporte se publica tras comprobar estructura, cuenta y comportamiento en los estímulos seleccionados.</a:t>
            </a:r>
            <a:endParaRPr lang="en-US" sz="1550" dirty="0"/>
          </a:p>
        </p:txBody>
      </p:sp>
      <p:sp>
        <p:nvSpPr>
          <p:cNvPr id="49" name="Shape 46"/>
          <p:cNvSpPr/>
          <p:nvPr/>
        </p:nvSpPr>
        <p:spPr>
          <a:xfrm>
            <a:off x="585216" y="6492240"/>
            <a:ext cx="11009376" cy="0"/>
          </a:xfrm>
          <a:prstGeom prst="line">
            <a:avLst/>
          </a:prstGeom>
          <a:noFill/>
          <a:ln w="8890">
            <a:solidFill>
              <a:srgbClr val="D9E2E9"/>
            </a:solidFill>
            <a:prstDash val="solid"/>
            <a:headEnd type="none"/>
            <a:tailEnd type="none"/>
          </a:ln>
        </p:spPr>
      </p:sp>
      <p:sp>
        <p:nvSpPr>
          <p:cNvPr id="50" name="Text 47"/>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F01 · F02 · F04 · F07 | GhdlYosysSynthesis.run() · validation.py · liberty.py</a:t>
            </a:r>
            <a:endParaRPr lang="en-US" sz="870" dirty="0"/>
          </a:p>
        </p:txBody>
      </p:sp>
      <p:sp>
        <p:nvSpPr>
          <p:cNvPr id="51" name="Text 48"/>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13 / 53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12 · DATOS QUE GOBIERNAN EL PIPELINE</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El perfil del diseño evita seleccionar archivos o anchos a mano</a:t>
            </a:r>
            <a:endParaRPr lang="en-US" sz="2800" dirty="0"/>
          </a:p>
        </p:txBody>
      </p:sp>
      <p:sp>
        <p:nvSpPr>
          <p:cNvPr id="6" name="Shape 3"/>
          <p:cNvSpPr/>
          <p:nvPr/>
        </p:nvSpPr>
        <p:spPr>
          <a:xfrm>
            <a:off x="685800" y="1920240"/>
            <a:ext cx="6903720" cy="3767328"/>
          </a:xfrm>
          <a:prstGeom prst="roundRect">
            <a:avLst>
              <a:gd name="adj" fmla="val 2427"/>
            </a:avLst>
          </a:prstGeom>
          <a:solidFill>
            <a:srgbClr val="102331"/>
          </a:solidFill>
          <a:ln w="8255">
            <a:solidFill>
              <a:srgbClr val="102331"/>
            </a:solidFill>
            <a:prstDash val="solid"/>
          </a:ln>
        </p:spPr>
      </p:sp>
      <p:sp>
        <p:nvSpPr>
          <p:cNvPr id="7" name="Text 4"/>
          <p:cNvSpPr/>
          <p:nvPr/>
        </p:nvSpPr>
        <p:spPr>
          <a:xfrm>
            <a:off x="859536" y="2121408"/>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id="int8_16"</a:t>
            </a:r>
            <a:endParaRPr lang="en-US" sz="1360" dirty="0"/>
          </a:p>
        </p:txBody>
      </p:sp>
      <p:sp>
        <p:nvSpPr>
          <p:cNvPr id="8" name="Text 5"/>
          <p:cNvSpPr/>
          <p:nvPr/>
        </p:nvSpPr>
        <p:spPr>
          <a:xfrm>
            <a:off x="859536" y="2432304"/>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top="INT8_16_DPU_perf_top"</a:t>
            </a:r>
            <a:endParaRPr lang="en-US" sz="1360" dirty="0"/>
          </a:p>
        </p:txBody>
      </p:sp>
      <p:sp>
        <p:nvSpPr>
          <p:cNvPr id="9" name="Text 6"/>
          <p:cNvSpPr/>
          <p:nvPr/>
        </p:nvSpPr>
        <p:spPr>
          <a:xfrm>
            <a:off x="859536" y="2743200"/>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library="int8_16_lib"</a:t>
            </a:r>
            <a:endParaRPr lang="en-US" sz="1360" dirty="0"/>
          </a:p>
        </p:txBody>
      </p:sp>
      <p:sp>
        <p:nvSpPr>
          <p:cNvPr id="10" name="Text 7"/>
          <p:cNvSpPr/>
          <p:nvPr/>
        </p:nvSpPr>
        <p:spPr>
          <a:xfrm>
            <a:off x="859536" y="3054096"/>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operand_bits=8; result_bits=16</a:t>
            </a:r>
            <a:endParaRPr lang="en-US" sz="1360" dirty="0"/>
          </a:p>
        </p:txBody>
      </p:sp>
      <p:sp>
        <p:nvSpPr>
          <p:cNvPr id="11" name="Text 8"/>
          <p:cNvSpPr/>
          <p:nvPr/>
        </p:nvSpPr>
        <p:spPr>
          <a:xfrm>
            <a:off x="859536" y="3364992"/>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declared_register_bits=96</a:t>
            </a:r>
            <a:endParaRPr lang="en-US" sz="1360" dirty="0"/>
          </a:p>
        </p:txBody>
      </p:sp>
      <p:sp>
        <p:nvSpPr>
          <p:cNvPr id="12" name="Text 9"/>
          <p:cNvSpPr/>
          <p:nvPr/>
        </p:nvSpPr>
        <p:spPr>
          <a:xfrm>
            <a:off x="859536" y="3675888"/>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reference="signed_dot_modulo"</a:t>
            </a:r>
            <a:endParaRPr lang="en-US" sz="1360" dirty="0"/>
          </a:p>
        </p:txBody>
      </p:sp>
      <p:sp>
        <p:nvSpPr>
          <p:cNvPr id="13" name="Text 10"/>
          <p:cNvSpPr/>
          <p:nvPr/>
        </p:nvSpPr>
        <p:spPr>
          <a:xfrm>
            <a:off x="859536" y="3986784"/>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expected_flip_flops=96</a:t>
            </a:r>
            <a:endParaRPr lang="en-US" sz="1360" dirty="0"/>
          </a:p>
        </p:txBody>
      </p:sp>
      <p:sp>
        <p:nvSpPr>
          <p:cNvPr id="14" name="Text 11"/>
          <p:cNvSpPr/>
          <p:nvPr/>
        </p:nvSpPr>
        <p:spPr>
          <a:xfrm>
            <a:off x="859536" y="4297680"/>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compilation="files"</a:t>
            </a:r>
            <a:endParaRPr lang="en-US" sz="1360" dirty="0"/>
          </a:p>
        </p:txBody>
      </p:sp>
      <p:sp>
        <p:nvSpPr>
          <p:cNvPr id="15" name="Shape 12"/>
          <p:cNvSpPr/>
          <p:nvPr/>
        </p:nvSpPr>
        <p:spPr>
          <a:xfrm>
            <a:off x="7845552" y="1920240"/>
            <a:ext cx="3657600" cy="3767328"/>
          </a:xfrm>
          <a:prstGeom prst="roundRect">
            <a:avLst>
              <a:gd name="adj" fmla="val 2000"/>
            </a:avLst>
          </a:prstGeom>
          <a:solidFill>
            <a:srgbClr val="FFFFFF"/>
          </a:solidFill>
          <a:ln w="8255">
            <a:solidFill>
              <a:srgbClr val="D9E2E9"/>
            </a:solidFill>
            <a:prstDash val="solid"/>
          </a:ln>
        </p:spPr>
      </p:sp>
      <p:sp>
        <p:nvSpPr>
          <p:cNvPr id="16" name="Text 13"/>
          <p:cNvSpPr/>
          <p:nvPr/>
        </p:nvSpPr>
        <p:spPr>
          <a:xfrm>
            <a:off x="8074152" y="2148840"/>
            <a:ext cx="3218688" cy="320040"/>
          </a:xfrm>
          <a:prstGeom prst="rect">
            <a:avLst/>
          </a:prstGeom>
          <a:noFill/>
          <a:ln/>
        </p:spPr>
        <p:txBody>
          <a:bodyPr wrap="square" lIns="0" tIns="0" rIns="0" bIns="0" rtlCol="0" anchor="t"/>
          <a:lstStyle/>
          <a:p>
            <a:pPr indent="0" marL="0">
              <a:buNone/>
            </a:pPr>
            <a:r>
              <a:rPr lang="en-US" sz="1200" b="1" spc="70" kern="0" dirty="0">
                <a:solidFill>
                  <a:srgbClr val="007C83"/>
                </a:solidFill>
                <a:latin typeface="Arial" pitchFamily="34" charset="0"/>
                <a:ea typeface="Arial" pitchFamily="34" charset="-122"/>
                <a:cs typeface="Arial" pitchFamily="34" charset="-120"/>
              </a:rPr>
              <a:t>CÓMO INTERPRETARLO</a:t>
            </a:r>
            <a:endParaRPr lang="en-US" sz="1200" dirty="0"/>
          </a:p>
        </p:txBody>
      </p:sp>
      <p:sp>
        <p:nvSpPr>
          <p:cNvPr id="17" name="Text 14"/>
          <p:cNvSpPr/>
          <p:nvPr/>
        </p:nvSpPr>
        <p:spPr>
          <a:xfrm>
            <a:off x="8074152" y="2743200"/>
            <a:ext cx="3182112" cy="2688336"/>
          </a:xfrm>
          <a:prstGeom prst="rect">
            <a:avLst/>
          </a:prstGeom>
          <a:noFill/>
          <a:ln/>
        </p:spPr>
        <p:txBody>
          <a:bodyPr wrap="square" lIns="0" tIns="0" rIns="0" bIns="0" rtlCol="0" anchor="t"/>
          <a:lstStyle/>
          <a:p>
            <a:pPr indent="0" marL="0">
              <a:buNone/>
            </a:pPr>
            <a:r>
              <a:rPr lang="en-US" sz="1700" dirty="0">
                <a:solidFill>
                  <a:srgbClr val="14293B"/>
                </a:solidFill>
                <a:latin typeface="Arial" pitchFamily="34" charset="0"/>
                <a:ea typeface="Arial" pitchFamily="34" charset="-122"/>
                <a:cs typeface="Arial" pitchFamily="34" charset="-120"/>
              </a:rPr>
              <a:t>Un único perfil determina:</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 El RTL y el wrapper.</a:t>
            </a: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 El orden de análisis.</a:t>
            </a: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 Los anchos del testbench.</a:t>
            </a: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 El control de registros.</a:t>
            </a: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 La referencia funcional.</a:t>
            </a:r>
            <a:endParaRPr lang="en-US" sz="1700" dirty="0"/>
          </a:p>
        </p:txBody>
      </p:sp>
      <p:sp>
        <p:nvSpPr>
          <p:cNvPr id="18" name="Shape 15"/>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19" name="Text 16"/>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El programa mide variantes revisadas del repositorio; no cualquier VHDL arbitrario.</a:t>
            </a:r>
            <a:endParaRPr lang="en-US" sz="1550" dirty="0"/>
          </a:p>
        </p:txBody>
      </p:sp>
      <p:sp>
        <p:nvSpPr>
          <p:cNvPr id="20" name="Shape 17"/>
          <p:cNvSpPr/>
          <p:nvPr/>
        </p:nvSpPr>
        <p:spPr>
          <a:xfrm>
            <a:off x="585216" y="6492240"/>
            <a:ext cx="11009376" cy="0"/>
          </a:xfrm>
          <a:prstGeom prst="line">
            <a:avLst/>
          </a:prstGeom>
          <a:noFill/>
          <a:ln w="8890">
            <a:solidFill>
              <a:srgbClr val="D9E2E9"/>
            </a:solidFill>
            <a:prstDash val="solid"/>
            <a:headEnd type="none"/>
            <a:tailEnd type="none"/>
          </a:ln>
        </p:spPr>
      </p:sp>
      <p:sp>
        <p:nvSpPr>
          <p:cNvPr id="21" name="Text 18"/>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infrastructure/designs.py · domain/models.py</a:t>
            </a:r>
            <a:endParaRPr lang="en-US" sz="870" dirty="0"/>
          </a:p>
        </p:txBody>
      </p:sp>
      <p:sp>
        <p:nvSpPr>
          <p:cNvPr id="22" name="Text 19"/>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14 / 53</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13 · PROCEDENCIA Y HASHES</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Cada ejecución conserva la identidad de sus entradas</a:t>
            </a:r>
            <a:endParaRPr lang="en-US" sz="2800" dirty="0"/>
          </a:p>
        </p:txBody>
      </p:sp>
      <p:sp>
        <p:nvSpPr>
          <p:cNvPr id="6" name="Shape 3"/>
          <p:cNvSpPr/>
          <p:nvPr/>
        </p:nvSpPr>
        <p:spPr>
          <a:xfrm>
            <a:off x="713232" y="2267712"/>
            <a:ext cx="3127248" cy="1417320"/>
          </a:xfrm>
          <a:prstGeom prst="roundRect">
            <a:avLst>
              <a:gd name="adj" fmla="val 5161"/>
            </a:avLst>
          </a:prstGeom>
          <a:solidFill>
            <a:srgbClr val="FFFFFF"/>
          </a:solidFill>
          <a:ln w="8255">
            <a:solidFill>
              <a:srgbClr val="D9E2E9"/>
            </a:solidFill>
            <a:prstDash val="solid"/>
          </a:ln>
        </p:spPr>
      </p:sp>
      <p:sp>
        <p:nvSpPr>
          <p:cNvPr id="7" name="Text 4"/>
          <p:cNvSpPr/>
          <p:nvPr/>
        </p:nvSpPr>
        <p:spPr>
          <a:xfrm>
            <a:off x="877824"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Originales</a:t>
            </a:r>
            <a:endParaRPr lang="en-US" sz="2050" dirty="0"/>
          </a:p>
        </p:txBody>
      </p:sp>
      <p:sp>
        <p:nvSpPr>
          <p:cNvPr id="8" name="Text 5"/>
          <p:cNvSpPr/>
          <p:nvPr/>
        </p:nvSpPr>
        <p:spPr>
          <a:xfrm>
            <a:off x="868680"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RTL + Liberty suministrados</a:t>
            </a:r>
            <a:endParaRPr lang="en-US" sz="1650" dirty="0"/>
          </a:p>
        </p:txBody>
      </p:sp>
      <p:sp>
        <p:nvSpPr>
          <p:cNvPr id="9" name="Shape 6"/>
          <p:cNvSpPr/>
          <p:nvPr/>
        </p:nvSpPr>
        <p:spPr>
          <a:xfrm>
            <a:off x="3840480" y="2971800"/>
            <a:ext cx="594360" cy="0"/>
          </a:xfrm>
          <a:prstGeom prst="line">
            <a:avLst/>
          </a:prstGeom>
          <a:noFill/>
          <a:ln w="25400">
            <a:solidFill>
              <a:srgbClr val="007C83"/>
            </a:solidFill>
            <a:prstDash val="solid"/>
            <a:headEnd type="none"/>
            <a:tailEnd type="triangle"/>
          </a:ln>
        </p:spPr>
      </p:sp>
      <p:sp>
        <p:nvSpPr>
          <p:cNvPr id="10" name="Shape 7"/>
          <p:cNvSpPr/>
          <p:nvPr/>
        </p:nvSpPr>
        <p:spPr>
          <a:xfrm>
            <a:off x="4526280" y="2267712"/>
            <a:ext cx="3127248" cy="1417320"/>
          </a:xfrm>
          <a:prstGeom prst="roundRect">
            <a:avLst>
              <a:gd name="adj" fmla="val 5161"/>
            </a:avLst>
          </a:prstGeom>
          <a:solidFill>
            <a:srgbClr val="FFFFFF"/>
          </a:solidFill>
          <a:ln w="8255">
            <a:solidFill>
              <a:srgbClr val="D9E2E9"/>
            </a:solidFill>
            <a:prstDash val="solid"/>
          </a:ln>
        </p:spPr>
      </p:sp>
      <p:sp>
        <p:nvSpPr>
          <p:cNvPr id="11" name="Text 8"/>
          <p:cNvSpPr/>
          <p:nvPr/>
        </p:nvSpPr>
        <p:spPr>
          <a:xfrm>
            <a:off x="4690872"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assets/</a:t>
            </a:r>
            <a:endParaRPr lang="en-US" sz="2050" dirty="0"/>
          </a:p>
        </p:txBody>
      </p:sp>
      <p:sp>
        <p:nvSpPr>
          <p:cNvPr id="12" name="Text 9"/>
          <p:cNvSpPr/>
          <p:nvPr/>
        </p:nvSpPr>
        <p:spPr>
          <a:xfrm>
            <a:off x="4681728"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Snapshots y SHA-256</a:t>
            </a:r>
            <a:endParaRPr lang="en-US" sz="1650" dirty="0"/>
          </a:p>
        </p:txBody>
      </p:sp>
      <p:sp>
        <p:nvSpPr>
          <p:cNvPr id="13" name="Shape 10"/>
          <p:cNvSpPr/>
          <p:nvPr/>
        </p:nvSpPr>
        <p:spPr>
          <a:xfrm>
            <a:off x="7653528" y="2971800"/>
            <a:ext cx="594360" cy="0"/>
          </a:xfrm>
          <a:prstGeom prst="line">
            <a:avLst/>
          </a:prstGeom>
          <a:noFill/>
          <a:ln w="25400">
            <a:solidFill>
              <a:srgbClr val="007C83"/>
            </a:solidFill>
            <a:prstDash val="solid"/>
            <a:headEnd type="none"/>
            <a:tailEnd type="triangle"/>
          </a:ln>
        </p:spPr>
      </p:sp>
      <p:sp>
        <p:nvSpPr>
          <p:cNvPr id="14" name="Shape 11"/>
          <p:cNvSpPr/>
          <p:nvPr/>
        </p:nvSpPr>
        <p:spPr>
          <a:xfrm>
            <a:off x="8339328" y="2267712"/>
            <a:ext cx="3127248" cy="1417320"/>
          </a:xfrm>
          <a:prstGeom prst="roundRect">
            <a:avLst>
              <a:gd name="adj" fmla="val 5161"/>
            </a:avLst>
          </a:prstGeom>
          <a:solidFill>
            <a:srgbClr val="FFFFFF"/>
          </a:solidFill>
          <a:ln w="8255">
            <a:solidFill>
              <a:srgbClr val="D9E2E9"/>
            </a:solidFill>
            <a:prstDash val="solid"/>
          </a:ln>
        </p:spPr>
      </p:sp>
      <p:sp>
        <p:nvSpPr>
          <p:cNvPr id="15" name="Text 12"/>
          <p:cNvSpPr/>
          <p:nvPr/>
        </p:nvSpPr>
        <p:spPr>
          <a:xfrm>
            <a:off x="8503920"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runs/&lt;UUID&gt;/</a:t>
            </a:r>
            <a:endParaRPr lang="en-US" sz="2050" dirty="0"/>
          </a:p>
        </p:txBody>
      </p:sp>
      <p:sp>
        <p:nvSpPr>
          <p:cNvPr id="16" name="Text 13"/>
          <p:cNvSpPr/>
          <p:nvPr/>
        </p:nvSpPr>
        <p:spPr>
          <a:xfrm>
            <a:off x="8494776"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Entradas y manifiesto del caso</a:t>
            </a:r>
            <a:endParaRPr lang="en-US" sz="1650" dirty="0"/>
          </a:p>
        </p:txBody>
      </p:sp>
      <p:sp>
        <p:nvSpPr>
          <p:cNvPr id="17" name="Shape 14"/>
          <p:cNvSpPr/>
          <p:nvPr/>
        </p:nvSpPr>
        <p:spPr>
          <a:xfrm>
            <a:off x="758952" y="4215384"/>
            <a:ext cx="10698480" cy="841248"/>
          </a:xfrm>
          <a:prstGeom prst="roundRect">
            <a:avLst>
              <a:gd name="adj" fmla="val 8696"/>
            </a:avLst>
          </a:prstGeom>
          <a:solidFill>
            <a:srgbClr val="FFFFFF"/>
          </a:solidFill>
          <a:ln w="8255">
            <a:solidFill>
              <a:srgbClr val="D9E2E9"/>
            </a:solidFill>
            <a:prstDash val="solid"/>
          </a:ln>
        </p:spPr>
      </p:sp>
      <p:sp>
        <p:nvSpPr>
          <p:cNvPr id="18" name="Text 15"/>
          <p:cNvSpPr/>
          <p:nvPr/>
        </p:nvSpPr>
        <p:spPr>
          <a:xfrm>
            <a:off x="932688" y="4453128"/>
            <a:ext cx="10351008" cy="448056"/>
          </a:xfrm>
          <a:prstGeom prst="rect">
            <a:avLst/>
          </a:prstGeom>
          <a:noFill/>
          <a:ln/>
        </p:spPr>
        <p:txBody>
          <a:bodyPr wrap="square" lIns="0" tIns="0" rIns="0" bIns="0" rtlCol="0" anchor="t"/>
          <a:lstStyle/>
          <a:p>
            <a:pPr algn="ctr" indent="0" marL="0">
              <a:buNone/>
            </a:pPr>
            <a:r>
              <a:rPr lang="en-US" sz="2200" b="1" dirty="0">
                <a:solidFill>
                  <a:srgbClr val="007C83"/>
                </a:solidFill>
                <a:latin typeface="Arial" pitchFamily="34" charset="0"/>
                <a:ea typeface="Arial" pitchFamily="34" charset="-122"/>
                <a:cs typeface="Arial" pitchFamily="34" charset="-120"/>
              </a:rPr>
              <a:t>Auditoría actual: 44 archivos originales ↔ snapshots, hashes coincidentes</a:t>
            </a:r>
            <a:endParaRPr lang="en-US" sz="2200" dirty="0"/>
          </a:p>
        </p:txBody>
      </p:sp>
      <p:sp>
        <p:nvSpPr>
          <p:cNvPr id="19" name="Shape 16"/>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20" name="Text 17"/>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La trazabilidad explica qué se midió; no prueba por sí sola que el RTL sea correcto.</a:t>
            </a:r>
            <a:endParaRPr lang="en-US" sz="1550" dirty="0"/>
          </a:p>
        </p:txBody>
      </p:sp>
      <p:sp>
        <p:nvSpPr>
          <p:cNvPr id="21" name="Shape 18"/>
          <p:cNvSpPr/>
          <p:nvPr/>
        </p:nvSpPr>
        <p:spPr>
          <a:xfrm>
            <a:off x="585216" y="6492240"/>
            <a:ext cx="11009376" cy="0"/>
          </a:xfrm>
          <a:prstGeom prst="line">
            <a:avLst/>
          </a:prstGeom>
          <a:noFill/>
          <a:ln w="8890">
            <a:solidFill>
              <a:srgbClr val="D9E2E9"/>
            </a:solidFill>
            <a:prstDash val="solid"/>
            <a:headEnd type="none"/>
            <a:tailEnd type="none"/>
          </a:ln>
        </p:spPr>
      </p:sp>
      <p:sp>
        <p:nvSpPr>
          <p:cNvPr id="22" name="Text 19"/>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prepare_assets.py · synthesis.py · manifest.json</a:t>
            </a:r>
            <a:endParaRPr lang="en-US" sz="870" dirty="0"/>
          </a:p>
        </p:txBody>
      </p:sp>
      <p:sp>
        <p:nvSpPr>
          <p:cNvPr id="23" name="Text 20"/>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15 / 53</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14 · PREPARACIÓN VHDL</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GHDL analiza las dependencias y el wrapper en bibliotecas separadas</a:t>
            </a:r>
            <a:endParaRPr lang="en-US" sz="2800" dirty="0"/>
          </a:p>
        </p:txBody>
      </p:sp>
      <p:sp>
        <p:nvSpPr>
          <p:cNvPr id="6" name="Shape 3"/>
          <p:cNvSpPr/>
          <p:nvPr/>
        </p:nvSpPr>
        <p:spPr>
          <a:xfrm>
            <a:off x="685800" y="1920240"/>
            <a:ext cx="6903720" cy="3767328"/>
          </a:xfrm>
          <a:prstGeom prst="roundRect">
            <a:avLst>
              <a:gd name="adj" fmla="val 2427"/>
            </a:avLst>
          </a:prstGeom>
          <a:solidFill>
            <a:srgbClr val="102331"/>
          </a:solidFill>
          <a:ln w="8255">
            <a:solidFill>
              <a:srgbClr val="102331"/>
            </a:solidFill>
            <a:prstDash val="solid"/>
          </a:ln>
        </p:spPr>
      </p:sp>
      <p:sp>
        <p:nvSpPr>
          <p:cNvPr id="7" name="Text 4"/>
          <p:cNvSpPr/>
          <p:nvPr/>
        </p:nvSpPr>
        <p:spPr>
          <a:xfrm>
            <a:off x="859536" y="2121408"/>
            <a:ext cx="6556248" cy="310896"/>
          </a:xfrm>
          <a:prstGeom prst="rect">
            <a:avLst/>
          </a:prstGeom>
          <a:noFill/>
          <a:ln/>
        </p:spPr>
        <p:txBody>
          <a:bodyPr wrap="square" lIns="0" tIns="0" rIns="0" bIns="0" rtlCol="0" anchor="t"/>
          <a:lstStyle/>
          <a:p>
            <a:pPr indent="0" marL="0">
              <a:buNone/>
            </a:pPr>
            <a:r>
              <a:rPr lang="en-US" sz="1360" dirty="0">
                <a:solidFill>
                  <a:srgbClr val="80DDD5"/>
                </a:solidFill>
                <a:latin typeface="Courier New" pitchFamily="34" charset="0"/>
                <a:ea typeface="Courier New" pitchFamily="34" charset="-122"/>
                <a:cs typeface="Courier New" pitchFamily="34" charset="-120"/>
              </a:rPr>
              <a:t>ghdl -a --std=08 -fsynopsys -fexplicit \</a:t>
            </a:r>
            <a:endParaRPr lang="en-US" sz="1360" dirty="0"/>
          </a:p>
        </p:txBody>
      </p:sp>
      <p:sp>
        <p:nvSpPr>
          <p:cNvPr id="8" name="Text 5"/>
          <p:cNvSpPr/>
          <p:nvPr/>
        </p:nvSpPr>
        <p:spPr>
          <a:xfrm>
            <a:off x="859536" y="2432304"/>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  --work=int8_16_lib &lt;fuentes ordenadas&gt;</a:t>
            </a:r>
            <a:endParaRPr lang="en-US" sz="1360" dirty="0"/>
          </a:p>
        </p:txBody>
      </p:sp>
      <p:sp>
        <p:nvSpPr>
          <p:cNvPr id="9" name="Text 6"/>
          <p:cNvSpPr/>
          <p:nvPr/>
        </p:nvSpPr>
        <p:spPr>
          <a:xfrm>
            <a:off x="859536" y="2743200"/>
            <a:ext cx="6556248" cy="310896"/>
          </a:xfrm>
          <a:prstGeom prst="rect">
            <a:avLst/>
          </a:prstGeom>
          <a:noFill/>
          <a:ln/>
        </p:spPr>
        <p:txBody>
          <a:bodyPr wrap="square" lIns="0" tIns="0" rIns="0" bIns="0" rtlCol="0" anchor="t"/>
          <a:lstStyle/>
          <a:p>
            <a:pPr indent="0" marL="0">
              <a:buNone/>
            </a:pPr>
            <a:endParaRPr lang="en-US" sz="1360" dirty="0"/>
          </a:p>
        </p:txBody>
      </p:sp>
      <p:sp>
        <p:nvSpPr>
          <p:cNvPr id="10" name="Text 7"/>
          <p:cNvSpPr/>
          <p:nvPr/>
        </p:nvSpPr>
        <p:spPr>
          <a:xfrm>
            <a:off x="859536" y="3054096"/>
            <a:ext cx="6556248" cy="310896"/>
          </a:xfrm>
          <a:prstGeom prst="rect">
            <a:avLst/>
          </a:prstGeom>
          <a:noFill/>
          <a:ln/>
        </p:spPr>
        <p:txBody>
          <a:bodyPr wrap="square" lIns="0" tIns="0" rIns="0" bIns="0" rtlCol="0" anchor="t"/>
          <a:lstStyle/>
          <a:p>
            <a:pPr indent="0" marL="0">
              <a:buNone/>
            </a:pPr>
            <a:r>
              <a:rPr lang="en-US" sz="1360" dirty="0">
                <a:solidFill>
                  <a:srgbClr val="80DDD5"/>
                </a:solidFill>
                <a:latin typeface="Courier New" pitchFamily="34" charset="0"/>
                <a:ea typeface="Courier New" pitchFamily="34" charset="-122"/>
                <a:cs typeface="Courier New" pitchFamily="34" charset="-120"/>
              </a:rPr>
              <a:t>ghdl -a --std=08 -fsynopsys -fexplicit \</a:t>
            </a:r>
            <a:endParaRPr lang="en-US" sz="1360" dirty="0"/>
          </a:p>
        </p:txBody>
      </p:sp>
      <p:sp>
        <p:nvSpPr>
          <p:cNvPr id="11" name="Text 8"/>
          <p:cNvSpPr/>
          <p:nvPr/>
        </p:nvSpPr>
        <p:spPr>
          <a:xfrm>
            <a:off x="859536" y="3364992"/>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  sources/rtl/int8_16/INT8_16_DPU_perf_top.vhd</a:t>
            </a:r>
            <a:endParaRPr lang="en-US" sz="1360" dirty="0"/>
          </a:p>
        </p:txBody>
      </p:sp>
      <p:sp>
        <p:nvSpPr>
          <p:cNvPr id="12" name="Shape 9"/>
          <p:cNvSpPr/>
          <p:nvPr/>
        </p:nvSpPr>
        <p:spPr>
          <a:xfrm>
            <a:off x="7845552" y="1920240"/>
            <a:ext cx="3657600" cy="3767328"/>
          </a:xfrm>
          <a:prstGeom prst="roundRect">
            <a:avLst>
              <a:gd name="adj" fmla="val 2000"/>
            </a:avLst>
          </a:prstGeom>
          <a:solidFill>
            <a:srgbClr val="FFFFFF"/>
          </a:solidFill>
          <a:ln w="8255">
            <a:solidFill>
              <a:srgbClr val="D9E2E9"/>
            </a:solidFill>
            <a:prstDash val="solid"/>
          </a:ln>
        </p:spPr>
      </p:sp>
      <p:sp>
        <p:nvSpPr>
          <p:cNvPr id="13" name="Text 10"/>
          <p:cNvSpPr/>
          <p:nvPr/>
        </p:nvSpPr>
        <p:spPr>
          <a:xfrm>
            <a:off x="8074152" y="2148840"/>
            <a:ext cx="3218688" cy="320040"/>
          </a:xfrm>
          <a:prstGeom prst="rect">
            <a:avLst/>
          </a:prstGeom>
          <a:noFill/>
          <a:ln/>
        </p:spPr>
        <p:txBody>
          <a:bodyPr wrap="square" lIns="0" tIns="0" rIns="0" bIns="0" rtlCol="0" anchor="t"/>
          <a:lstStyle/>
          <a:p>
            <a:pPr indent="0" marL="0">
              <a:buNone/>
            </a:pPr>
            <a:r>
              <a:rPr lang="en-US" sz="1200" b="1" spc="70" kern="0" dirty="0">
                <a:solidFill>
                  <a:srgbClr val="007C83"/>
                </a:solidFill>
                <a:latin typeface="Arial" pitchFamily="34" charset="0"/>
                <a:ea typeface="Arial" pitchFamily="34" charset="-122"/>
                <a:cs typeface="Arial" pitchFamily="34" charset="-120"/>
              </a:rPr>
              <a:t>CÓMO INTERPRETARLO</a:t>
            </a:r>
            <a:endParaRPr lang="en-US" sz="1200" dirty="0"/>
          </a:p>
        </p:txBody>
      </p:sp>
      <p:sp>
        <p:nvSpPr>
          <p:cNvPr id="14" name="Text 11"/>
          <p:cNvSpPr/>
          <p:nvPr/>
        </p:nvSpPr>
        <p:spPr>
          <a:xfrm>
            <a:off x="8074152" y="2743200"/>
            <a:ext cx="3182112" cy="2688336"/>
          </a:xfrm>
          <a:prstGeom prst="rect">
            <a:avLst/>
          </a:prstGeom>
          <a:noFill/>
          <a:ln/>
        </p:spPr>
        <p:txBody>
          <a:bodyPr wrap="square" lIns="0" tIns="0" rIns="0" bIns="0" rtlCol="0" anchor="t"/>
          <a:lstStyle/>
          <a:p>
            <a:pPr indent="0" marL="0">
              <a:buNone/>
            </a:pPr>
            <a:r>
              <a:rPr lang="en-US" sz="1700" dirty="0">
                <a:solidFill>
                  <a:srgbClr val="14293B"/>
                </a:solidFill>
                <a:latin typeface="Arial" pitchFamily="34" charset="0"/>
                <a:ea typeface="Arial" pitchFamily="34" charset="-122"/>
                <a:cs typeface="Arial" pitchFamily="34" charset="-120"/>
              </a:rPr>
              <a:t>Primero: operadores y DPU.</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Después: wrapper en work.</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Cada caso usa su carpeta y sus bibliotecas compiladas.</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Las rutas completas quedan en run.log.</a:t>
            </a:r>
            <a:endParaRPr lang="en-US" sz="1700" dirty="0"/>
          </a:p>
        </p:txBody>
      </p:sp>
      <p:sp>
        <p:nvSpPr>
          <p:cNvPr id="15" name="Shape 12"/>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16" name="Text 13"/>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Los comandos se muestran para INT8; las fuentes se sustituyen por las del perfil elegido.</a:t>
            </a:r>
            <a:endParaRPr lang="en-US" sz="1550" dirty="0"/>
          </a:p>
        </p:txBody>
      </p:sp>
      <p:sp>
        <p:nvSpPr>
          <p:cNvPr id="17" name="Shape 14"/>
          <p:cNvSpPr/>
          <p:nvPr/>
        </p:nvSpPr>
        <p:spPr>
          <a:xfrm>
            <a:off x="585216" y="6492240"/>
            <a:ext cx="11009376" cy="0"/>
          </a:xfrm>
          <a:prstGeom prst="line">
            <a:avLst/>
          </a:prstGeom>
          <a:noFill/>
          <a:ln w="8890">
            <a:solidFill>
              <a:srgbClr val="D9E2E9"/>
            </a:solidFill>
            <a:prstDash val="solid"/>
            <a:headEnd type="none"/>
            <a:tailEnd type="none"/>
          </a:ln>
        </p:spPr>
      </p:sp>
      <p:sp>
        <p:nvSpPr>
          <p:cNvPr id="18" name="Text 15"/>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F01 | infrastructure/vhdl.py · synthesis.py</a:t>
            </a:r>
            <a:endParaRPr lang="en-US" sz="870" dirty="0"/>
          </a:p>
        </p:txBody>
      </p:sp>
      <p:sp>
        <p:nvSpPr>
          <p:cNvPr id="19" name="Text 16"/>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16 / 53</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15 · CASO ESPECIAL DE COMPILACIÓN</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Posit16 y Posit32 requieren resolver helpers duplicados sin alterar su RTL</a:t>
            </a:r>
            <a:endParaRPr lang="en-US" sz="2800" dirty="0"/>
          </a:p>
        </p:txBody>
      </p:sp>
      <p:sp>
        <p:nvSpPr>
          <p:cNvPr id="6" name="Shape 3"/>
          <p:cNvSpPr/>
          <p:nvPr/>
        </p:nvSpPr>
        <p:spPr>
          <a:xfrm>
            <a:off x="713232" y="2267712"/>
            <a:ext cx="3127248" cy="1417320"/>
          </a:xfrm>
          <a:prstGeom prst="roundRect">
            <a:avLst>
              <a:gd name="adj" fmla="val 5161"/>
            </a:avLst>
          </a:prstGeom>
          <a:solidFill>
            <a:srgbClr val="FFFFFF"/>
          </a:solidFill>
          <a:ln w="8255">
            <a:solidFill>
              <a:srgbClr val="D9E2E9"/>
            </a:solidFill>
            <a:prstDash val="solid"/>
          </a:ln>
        </p:spPr>
      </p:sp>
      <p:sp>
        <p:nvSpPr>
          <p:cNvPr id="7" name="Text 4"/>
          <p:cNvSpPr/>
          <p:nvPr/>
        </p:nvSpPr>
        <p:spPr>
          <a:xfrm>
            <a:off x="877824" y="2423160"/>
            <a:ext cx="2798064" cy="448056"/>
          </a:xfrm>
          <a:prstGeom prst="rect">
            <a:avLst/>
          </a:prstGeom>
          <a:noFill/>
          <a:ln/>
        </p:spPr>
        <p:txBody>
          <a:bodyPr wrap="square" lIns="0" tIns="0" rIns="0" bIns="0" rtlCol="0" anchor="t"/>
          <a:lstStyle/>
          <a:p>
            <a:pPr algn="ctr" indent="0" marL="0">
              <a:buNone/>
            </a:pPr>
            <a:r>
              <a:rPr lang="en-US" sz="1850" b="1" dirty="0">
                <a:solidFill>
                  <a:srgbClr val="007C83"/>
                </a:solidFill>
                <a:latin typeface="Arial" pitchFamily="34" charset="0"/>
                <a:ea typeface="Arial" pitchFamily="34" charset="-122"/>
                <a:cs typeface="Arial" pitchFamily="34" charset="-120"/>
              </a:rPr>
              <a:t>Suma + multiplicación</a:t>
            </a:r>
            <a:endParaRPr lang="en-US" sz="1850" dirty="0"/>
          </a:p>
        </p:txBody>
      </p:sp>
      <p:sp>
        <p:nvSpPr>
          <p:cNvPr id="8" name="Text 5"/>
          <p:cNvSpPr/>
          <p:nvPr/>
        </p:nvSpPr>
        <p:spPr>
          <a:xfrm>
            <a:off x="868680"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Contienen helpers repetidos</a:t>
            </a:r>
            <a:endParaRPr lang="en-US" sz="1650" dirty="0"/>
          </a:p>
        </p:txBody>
      </p:sp>
      <p:sp>
        <p:nvSpPr>
          <p:cNvPr id="9" name="Shape 6"/>
          <p:cNvSpPr/>
          <p:nvPr/>
        </p:nvSpPr>
        <p:spPr>
          <a:xfrm>
            <a:off x="3840480" y="2971800"/>
            <a:ext cx="594360" cy="0"/>
          </a:xfrm>
          <a:prstGeom prst="line">
            <a:avLst/>
          </a:prstGeom>
          <a:noFill/>
          <a:ln w="25400">
            <a:solidFill>
              <a:srgbClr val="007C83"/>
            </a:solidFill>
            <a:prstDash val="solid"/>
            <a:headEnd type="none"/>
            <a:tailEnd type="triangle"/>
          </a:ln>
        </p:spPr>
      </p:sp>
      <p:sp>
        <p:nvSpPr>
          <p:cNvPr id="10" name="Shape 7"/>
          <p:cNvSpPr/>
          <p:nvPr/>
        </p:nvSpPr>
        <p:spPr>
          <a:xfrm>
            <a:off x="4526280" y="2267712"/>
            <a:ext cx="3127248" cy="1417320"/>
          </a:xfrm>
          <a:prstGeom prst="roundRect">
            <a:avLst>
              <a:gd name="adj" fmla="val 5161"/>
            </a:avLst>
          </a:prstGeom>
          <a:solidFill>
            <a:srgbClr val="FFFFFF"/>
          </a:solidFill>
          <a:ln w="8255">
            <a:solidFill>
              <a:srgbClr val="D9E2E9"/>
            </a:solidFill>
            <a:prstDash val="solid"/>
          </a:ln>
        </p:spPr>
      </p:sp>
      <p:sp>
        <p:nvSpPr>
          <p:cNvPr id="11" name="Text 8"/>
          <p:cNvSpPr/>
          <p:nvPr/>
        </p:nvSpPr>
        <p:spPr>
          <a:xfrm>
            <a:off x="4690872"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ghdl --chop</a:t>
            </a:r>
            <a:endParaRPr lang="en-US" sz="2050" dirty="0"/>
          </a:p>
        </p:txBody>
      </p:sp>
      <p:sp>
        <p:nvSpPr>
          <p:cNvPr id="12" name="Text 9"/>
          <p:cNvSpPr/>
          <p:nvPr/>
        </p:nvSpPr>
        <p:spPr>
          <a:xfrm>
            <a:off x="4681728"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Unidades con nombre y hash</a:t>
            </a:r>
            <a:endParaRPr lang="en-US" sz="1650" dirty="0"/>
          </a:p>
        </p:txBody>
      </p:sp>
      <p:sp>
        <p:nvSpPr>
          <p:cNvPr id="13" name="Shape 10"/>
          <p:cNvSpPr/>
          <p:nvPr/>
        </p:nvSpPr>
        <p:spPr>
          <a:xfrm>
            <a:off x="7653528" y="2971800"/>
            <a:ext cx="594360" cy="0"/>
          </a:xfrm>
          <a:prstGeom prst="line">
            <a:avLst/>
          </a:prstGeom>
          <a:noFill/>
          <a:ln w="25400">
            <a:solidFill>
              <a:srgbClr val="007C83"/>
            </a:solidFill>
            <a:prstDash val="solid"/>
            <a:headEnd type="none"/>
            <a:tailEnd type="triangle"/>
          </a:ln>
        </p:spPr>
      </p:sp>
      <p:sp>
        <p:nvSpPr>
          <p:cNvPr id="14" name="Shape 11"/>
          <p:cNvSpPr/>
          <p:nvPr/>
        </p:nvSpPr>
        <p:spPr>
          <a:xfrm>
            <a:off x="8339328" y="2267712"/>
            <a:ext cx="3127248" cy="1417320"/>
          </a:xfrm>
          <a:prstGeom prst="roundRect">
            <a:avLst>
              <a:gd name="adj" fmla="val 5161"/>
            </a:avLst>
          </a:prstGeom>
          <a:solidFill>
            <a:srgbClr val="FFFFFF"/>
          </a:solidFill>
          <a:ln w="8255">
            <a:solidFill>
              <a:srgbClr val="D9E2E9"/>
            </a:solidFill>
            <a:prstDash val="solid"/>
          </a:ln>
        </p:spPr>
      </p:sp>
      <p:sp>
        <p:nvSpPr>
          <p:cNvPr id="15" name="Text 12"/>
          <p:cNvSpPr/>
          <p:nvPr/>
        </p:nvSpPr>
        <p:spPr>
          <a:xfrm>
            <a:off x="8503920" y="2423160"/>
            <a:ext cx="2798064" cy="448056"/>
          </a:xfrm>
          <a:prstGeom prst="rect">
            <a:avLst/>
          </a:prstGeom>
          <a:noFill/>
          <a:ln/>
        </p:spPr>
        <p:txBody>
          <a:bodyPr wrap="square" lIns="0" tIns="0" rIns="0" bIns="0" rtlCol="0" anchor="t"/>
          <a:lstStyle/>
          <a:p>
            <a:pPr algn="ctr" indent="0" marL="0">
              <a:buNone/>
            </a:pPr>
            <a:r>
              <a:rPr lang="en-US" sz="1850" b="1" dirty="0">
                <a:solidFill>
                  <a:srgbClr val="007C83"/>
                </a:solidFill>
                <a:latin typeface="Arial" pitchFamily="34" charset="0"/>
                <a:ea typeface="Arial" pitchFamily="34" charset="-122"/>
                <a:cs typeface="Arial" pitchFamily="34" charset="-120"/>
              </a:rPr>
              <a:t>Comparar y analizar</a:t>
            </a:r>
            <a:endParaRPr lang="en-US" sz="1850" dirty="0"/>
          </a:p>
        </p:txBody>
      </p:sp>
      <p:sp>
        <p:nvSpPr>
          <p:cNvPr id="16" name="Text 13"/>
          <p:cNvSpPr/>
          <p:nvPr/>
        </p:nvSpPr>
        <p:spPr>
          <a:xfrm>
            <a:off x="8494776"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Solo reutilizar bytes idénticos</a:t>
            </a:r>
            <a:endParaRPr lang="en-US" sz="1650" dirty="0"/>
          </a:p>
        </p:txBody>
      </p:sp>
      <p:sp>
        <p:nvSpPr>
          <p:cNvPr id="17" name="Shape 14"/>
          <p:cNvSpPr/>
          <p:nvPr/>
        </p:nvSpPr>
        <p:spPr>
          <a:xfrm>
            <a:off x="758952" y="4215384"/>
            <a:ext cx="10698480" cy="841248"/>
          </a:xfrm>
          <a:prstGeom prst="roundRect">
            <a:avLst>
              <a:gd name="adj" fmla="val 8696"/>
            </a:avLst>
          </a:prstGeom>
          <a:solidFill>
            <a:srgbClr val="FFFFFF"/>
          </a:solidFill>
          <a:ln w="8255">
            <a:solidFill>
              <a:srgbClr val="D9E2E9"/>
            </a:solidFill>
            <a:prstDash val="solid"/>
          </a:ln>
        </p:spPr>
      </p:sp>
      <p:sp>
        <p:nvSpPr>
          <p:cNvPr id="18" name="Text 15"/>
          <p:cNvSpPr/>
          <p:nvPr/>
        </p:nvSpPr>
        <p:spPr>
          <a:xfrm>
            <a:off x="932688" y="4453128"/>
            <a:ext cx="10351008" cy="448056"/>
          </a:xfrm>
          <a:prstGeom prst="rect">
            <a:avLst/>
          </a:prstGeom>
          <a:noFill/>
          <a:ln/>
        </p:spPr>
        <p:txBody>
          <a:bodyPr wrap="square" lIns="0" tIns="0" rIns="0" bIns="0" rtlCol="0" anchor="t"/>
          <a:lstStyle/>
          <a:p>
            <a:pPr algn="ctr" indent="0" marL="0">
              <a:buNone/>
            </a:pPr>
            <a:r>
              <a:rPr lang="en-US" sz="2200" b="1" dirty="0">
                <a:solidFill>
                  <a:srgbClr val="007C83"/>
                </a:solidFill>
                <a:latin typeface="Arial" pitchFamily="34" charset="0"/>
                <a:ea typeface="Arial" pitchFamily="34" charset="-122"/>
                <a:cs typeface="Arial" pitchFamily="34" charset="-120"/>
              </a:rPr>
              <a:t>Mismo nombre + contenido distinto → PipelineFailure</a:t>
            </a:r>
            <a:endParaRPr lang="en-US" sz="2200" dirty="0"/>
          </a:p>
        </p:txBody>
      </p:sp>
      <p:sp>
        <p:nvSpPr>
          <p:cNvPr id="19" name="Shape 16"/>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20" name="Text 17"/>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Posit16 usa es=1 según sus operadores, aunque sus archivos se llamen posit16_0_*.</a:t>
            </a:r>
            <a:endParaRPr lang="en-US" sz="1550" dirty="0"/>
          </a:p>
        </p:txBody>
      </p:sp>
      <p:sp>
        <p:nvSpPr>
          <p:cNvPr id="21" name="Shape 18"/>
          <p:cNvSpPr/>
          <p:nvPr/>
        </p:nvSpPr>
        <p:spPr>
          <a:xfrm>
            <a:off x="585216" y="6492240"/>
            <a:ext cx="11009376" cy="0"/>
          </a:xfrm>
          <a:prstGeom prst="line">
            <a:avLst/>
          </a:prstGeom>
          <a:noFill/>
          <a:ln w="8890">
            <a:solidFill>
              <a:srgbClr val="D9E2E9"/>
            </a:solidFill>
            <a:prstDash val="solid"/>
            <a:headEnd type="none"/>
            <a:tailEnd type="none"/>
          </a:ln>
        </p:spPr>
      </p:sp>
      <p:sp>
        <p:nvSpPr>
          <p:cNvPr id="22" name="Text 19"/>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infrastructure/vhdl.py · compilation/*.vhdl · manifiestos Posit16/32</a:t>
            </a:r>
            <a:endParaRPr lang="en-US" sz="870" dirty="0"/>
          </a:p>
        </p:txBody>
      </p:sp>
      <p:sp>
        <p:nvSpPr>
          <p:cNvPr id="23" name="Text 20"/>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17 / 53</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16 · ESTÍMULOS Y SIGNIFICADO DE LA PRUEBA</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El RTL produce la referencia y los enteros tienen un oráculo adicional</a:t>
            </a:r>
            <a:endParaRPr lang="en-US" sz="2800" dirty="0"/>
          </a:p>
        </p:txBody>
      </p:sp>
      <p:sp>
        <p:nvSpPr>
          <p:cNvPr id="6" name="Shape 3"/>
          <p:cNvSpPr/>
          <p:nvPr/>
        </p:nvSpPr>
        <p:spPr>
          <a:xfrm>
            <a:off x="621792" y="1975104"/>
            <a:ext cx="3575304" cy="3511296"/>
          </a:xfrm>
          <a:prstGeom prst="rect">
            <a:avLst/>
          </a:prstGeom>
          <a:solidFill>
            <a:srgbClr val="FFFFFF"/>
          </a:solidFill>
          <a:ln w="8255">
            <a:solidFill>
              <a:srgbClr val="D9E2E9"/>
            </a:solidFill>
            <a:prstDash val="solid"/>
          </a:ln>
        </p:spPr>
      </p:sp>
      <p:sp>
        <p:nvSpPr>
          <p:cNvPr id="7" name="Shape 4"/>
          <p:cNvSpPr/>
          <p:nvPr/>
        </p:nvSpPr>
        <p:spPr>
          <a:xfrm>
            <a:off x="621792" y="1975104"/>
            <a:ext cx="50292" cy="3511296"/>
          </a:xfrm>
          <a:prstGeom prst="rect">
            <a:avLst/>
          </a:prstGeom>
          <a:solidFill>
            <a:srgbClr val="007C83"/>
          </a:solidFill>
          <a:ln w="8255">
            <a:solidFill>
              <a:srgbClr val="007C83"/>
            </a:solidFill>
            <a:prstDash val="solid"/>
          </a:ln>
        </p:spPr>
      </p:sp>
      <p:sp>
        <p:nvSpPr>
          <p:cNvPr id="8" name="Text 5"/>
          <p:cNvSpPr/>
          <p:nvPr/>
        </p:nvSpPr>
        <p:spPr>
          <a:xfrm>
            <a:off x="822960"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Casos reproducibles</a:t>
            </a:r>
            <a:endParaRPr lang="en-US" sz="2200" dirty="0"/>
          </a:p>
        </p:txBody>
      </p:sp>
      <p:sp>
        <p:nvSpPr>
          <p:cNvPr id="9" name="Text 6"/>
          <p:cNvSpPr/>
          <p:nvPr/>
        </p:nvSpPr>
        <p:spPr>
          <a:xfrm>
            <a:off x="822960"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256 estímulos por perfil. Semilla 20261005, casos dirigidos y palabras crudas.</a:t>
            </a:r>
            <a:endParaRPr lang="en-US" sz="1900" dirty="0"/>
          </a:p>
        </p:txBody>
      </p:sp>
      <p:sp>
        <p:nvSpPr>
          <p:cNvPr id="10" name="Shape 7"/>
          <p:cNvSpPr/>
          <p:nvPr/>
        </p:nvSpPr>
        <p:spPr>
          <a:xfrm>
            <a:off x="4352544" y="1975104"/>
            <a:ext cx="3575304" cy="3511296"/>
          </a:xfrm>
          <a:prstGeom prst="rect">
            <a:avLst/>
          </a:prstGeom>
          <a:solidFill>
            <a:srgbClr val="FFFFFF"/>
          </a:solidFill>
          <a:ln w="8255">
            <a:solidFill>
              <a:srgbClr val="D9E2E9"/>
            </a:solidFill>
            <a:prstDash val="solid"/>
          </a:ln>
        </p:spPr>
      </p:sp>
      <p:sp>
        <p:nvSpPr>
          <p:cNvPr id="11" name="Shape 8"/>
          <p:cNvSpPr/>
          <p:nvPr/>
        </p:nvSpPr>
        <p:spPr>
          <a:xfrm>
            <a:off x="4352544" y="1975104"/>
            <a:ext cx="50292" cy="3511296"/>
          </a:xfrm>
          <a:prstGeom prst="rect">
            <a:avLst/>
          </a:prstGeom>
          <a:solidFill>
            <a:srgbClr val="007C83"/>
          </a:solidFill>
          <a:ln w="8255">
            <a:solidFill>
              <a:srgbClr val="007C83"/>
            </a:solidFill>
            <a:prstDash val="solid"/>
          </a:ln>
        </p:spPr>
      </p:sp>
      <p:sp>
        <p:nvSpPr>
          <p:cNvPr id="12" name="Text 9"/>
          <p:cNvSpPr/>
          <p:nvPr/>
        </p:nvSpPr>
        <p:spPr>
          <a:xfrm>
            <a:off x="4553712"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INT8 / INT16</a:t>
            </a:r>
            <a:endParaRPr lang="en-US" sz="2200" dirty="0"/>
          </a:p>
        </p:txBody>
      </p:sp>
      <p:sp>
        <p:nvSpPr>
          <p:cNvPr id="13" name="Text 10"/>
          <p:cNvSpPr/>
          <p:nvPr/>
        </p:nvSpPr>
        <p:spPr>
          <a:xfrm>
            <a:off x="4553712"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Oráculo independiente de producto punto firmado módulo 2^bits(R).</a:t>
            </a:r>
            <a:endParaRPr lang="en-US" sz="1900" dirty="0"/>
          </a:p>
        </p:txBody>
      </p:sp>
      <p:sp>
        <p:nvSpPr>
          <p:cNvPr id="14" name="Shape 11"/>
          <p:cNvSpPr/>
          <p:nvPr/>
        </p:nvSpPr>
        <p:spPr>
          <a:xfrm>
            <a:off x="8083296" y="1975104"/>
            <a:ext cx="3575304" cy="3511296"/>
          </a:xfrm>
          <a:prstGeom prst="rect">
            <a:avLst/>
          </a:prstGeom>
          <a:solidFill>
            <a:srgbClr val="FFFFFF"/>
          </a:solidFill>
          <a:ln w="8255">
            <a:solidFill>
              <a:srgbClr val="D9E2E9"/>
            </a:solidFill>
            <a:prstDash val="solid"/>
          </a:ln>
        </p:spPr>
      </p:sp>
      <p:sp>
        <p:nvSpPr>
          <p:cNvPr id="15" name="Shape 12"/>
          <p:cNvSpPr/>
          <p:nvPr/>
        </p:nvSpPr>
        <p:spPr>
          <a:xfrm>
            <a:off x="8083296" y="1975104"/>
            <a:ext cx="50292" cy="3511296"/>
          </a:xfrm>
          <a:prstGeom prst="rect">
            <a:avLst/>
          </a:prstGeom>
          <a:solidFill>
            <a:srgbClr val="B36A10"/>
          </a:solidFill>
          <a:ln w="8255">
            <a:solidFill>
              <a:srgbClr val="B36A10"/>
            </a:solidFill>
            <a:prstDash val="solid"/>
          </a:ln>
        </p:spPr>
      </p:sp>
      <p:sp>
        <p:nvSpPr>
          <p:cNvPr id="16" name="Text 13"/>
          <p:cNvSpPr/>
          <p:nvPr/>
        </p:nvSpPr>
        <p:spPr>
          <a:xfrm>
            <a:off x="8284464" y="2185416"/>
            <a:ext cx="3172968" cy="658368"/>
          </a:xfrm>
          <a:prstGeom prst="rect">
            <a:avLst/>
          </a:prstGeom>
          <a:noFill/>
          <a:ln/>
        </p:spPr>
        <p:txBody>
          <a:bodyPr wrap="square" lIns="0" tIns="0" rIns="0" bIns="0" rtlCol="0" anchor="t"/>
          <a:lstStyle/>
          <a:p>
            <a:pPr indent="0" marL="0">
              <a:buNone/>
            </a:pPr>
            <a:r>
              <a:rPr lang="en-US" sz="2200" b="1" dirty="0">
                <a:solidFill>
                  <a:srgbClr val="B36A10"/>
                </a:solidFill>
                <a:latin typeface="Arial" pitchFamily="34" charset="0"/>
                <a:ea typeface="Arial" pitchFamily="34" charset="-122"/>
                <a:cs typeface="Arial" pitchFamily="34" charset="-120"/>
              </a:rPr>
              <a:t>FXP / FP / Posit / LNS</a:t>
            </a:r>
            <a:endParaRPr lang="en-US" sz="2200" dirty="0"/>
          </a:p>
        </p:txBody>
      </p:sp>
      <p:sp>
        <p:nvSpPr>
          <p:cNvPr id="17" name="Text 14"/>
          <p:cNvSpPr/>
          <p:nvPr/>
        </p:nvSpPr>
        <p:spPr>
          <a:xfrm>
            <a:off x="8284464"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Oráculo del propio RTL. Comparación bit a bit; precisión matemática no evaluada.</a:t>
            </a:r>
            <a:endParaRPr lang="en-US" sz="1900" dirty="0"/>
          </a:p>
        </p:txBody>
      </p:sp>
      <p:sp>
        <p:nvSpPr>
          <p:cNvPr id="18" name="Shape 15"/>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19" name="Text 16"/>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La prueba adicional de enteros no se extiende automáticamente a las otras aritméticas.</a:t>
            </a:r>
            <a:endParaRPr lang="en-US" sz="1550" dirty="0"/>
          </a:p>
        </p:txBody>
      </p:sp>
      <p:sp>
        <p:nvSpPr>
          <p:cNvPr id="20" name="Shape 17"/>
          <p:cNvSpPr/>
          <p:nvPr/>
        </p:nvSpPr>
        <p:spPr>
          <a:xfrm>
            <a:off x="585216" y="6492240"/>
            <a:ext cx="11009376" cy="0"/>
          </a:xfrm>
          <a:prstGeom prst="line">
            <a:avLst/>
          </a:prstGeom>
          <a:noFill/>
          <a:ln w="8890">
            <a:solidFill>
              <a:srgbClr val="D9E2E9"/>
            </a:solidFill>
            <a:prstDash val="solid"/>
            <a:headEnd type="none"/>
            <a:tailEnd type="none"/>
          </a:ln>
        </p:spPr>
      </p:sp>
      <p:sp>
        <p:nvSpPr>
          <p:cNvPr id="21" name="Text 18"/>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validation.py · write_vectors() / check_rtl_results()</a:t>
            </a:r>
            <a:endParaRPr lang="en-US" sz="870" dirty="0"/>
          </a:p>
        </p:txBody>
      </p:sp>
      <p:sp>
        <p:nvSpPr>
          <p:cNvPr id="22" name="Text 19"/>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18 / 53</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17 · SIMULACIÓN ORIGINAL</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Dos flancos por estímulo respetan el wrapper registrado</a:t>
            </a:r>
            <a:endParaRPr lang="en-US" sz="2800" dirty="0"/>
          </a:p>
        </p:txBody>
      </p:sp>
      <p:sp>
        <p:nvSpPr>
          <p:cNvPr id="6" name="Shape 3"/>
          <p:cNvSpPr/>
          <p:nvPr/>
        </p:nvSpPr>
        <p:spPr>
          <a:xfrm>
            <a:off x="713232" y="2267712"/>
            <a:ext cx="3127248" cy="1417320"/>
          </a:xfrm>
          <a:prstGeom prst="roundRect">
            <a:avLst>
              <a:gd name="adj" fmla="val 5161"/>
            </a:avLst>
          </a:prstGeom>
          <a:solidFill>
            <a:srgbClr val="FFFFFF"/>
          </a:solidFill>
          <a:ln w="8255">
            <a:solidFill>
              <a:srgbClr val="D9E2E9"/>
            </a:solidFill>
            <a:prstDash val="solid"/>
          </a:ln>
        </p:spPr>
      </p:sp>
      <p:sp>
        <p:nvSpPr>
          <p:cNvPr id="7" name="Text 4"/>
          <p:cNvSpPr/>
          <p:nvPr/>
        </p:nvSpPr>
        <p:spPr>
          <a:xfrm>
            <a:off x="877824"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Asignar A/B/C</a:t>
            </a:r>
            <a:endParaRPr lang="en-US" sz="2050" dirty="0"/>
          </a:p>
        </p:txBody>
      </p:sp>
      <p:sp>
        <p:nvSpPr>
          <p:cNvPr id="8" name="Text 5"/>
          <p:cNvSpPr/>
          <p:nvPr/>
        </p:nvSpPr>
        <p:spPr>
          <a:xfrm>
            <a:off x="868680"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Entradas estables</a:t>
            </a:r>
            <a:endParaRPr lang="en-US" sz="1650" dirty="0"/>
          </a:p>
        </p:txBody>
      </p:sp>
      <p:sp>
        <p:nvSpPr>
          <p:cNvPr id="9" name="Shape 6"/>
          <p:cNvSpPr/>
          <p:nvPr/>
        </p:nvSpPr>
        <p:spPr>
          <a:xfrm>
            <a:off x="3840480" y="2971800"/>
            <a:ext cx="594360" cy="0"/>
          </a:xfrm>
          <a:prstGeom prst="line">
            <a:avLst/>
          </a:prstGeom>
          <a:noFill/>
          <a:ln w="25400">
            <a:solidFill>
              <a:srgbClr val="007C83"/>
            </a:solidFill>
            <a:prstDash val="solid"/>
            <a:headEnd type="none"/>
            <a:tailEnd type="triangle"/>
          </a:ln>
        </p:spPr>
      </p:sp>
      <p:sp>
        <p:nvSpPr>
          <p:cNvPr id="10" name="Shape 7"/>
          <p:cNvSpPr/>
          <p:nvPr/>
        </p:nvSpPr>
        <p:spPr>
          <a:xfrm>
            <a:off x="4526280" y="2267712"/>
            <a:ext cx="3127248" cy="1417320"/>
          </a:xfrm>
          <a:prstGeom prst="roundRect">
            <a:avLst>
              <a:gd name="adj" fmla="val 5161"/>
            </a:avLst>
          </a:prstGeom>
          <a:solidFill>
            <a:srgbClr val="FFFFFF"/>
          </a:solidFill>
          <a:ln w="8255">
            <a:solidFill>
              <a:srgbClr val="D9E2E9"/>
            </a:solidFill>
            <a:prstDash val="solid"/>
          </a:ln>
        </p:spPr>
      </p:sp>
      <p:sp>
        <p:nvSpPr>
          <p:cNvPr id="11" name="Text 8"/>
          <p:cNvSpPr/>
          <p:nvPr/>
        </p:nvSpPr>
        <p:spPr>
          <a:xfrm>
            <a:off x="4690872"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Flanco 1</a:t>
            </a:r>
            <a:endParaRPr lang="en-US" sz="2050" dirty="0"/>
          </a:p>
        </p:txBody>
      </p:sp>
      <p:sp>
        <p:nvSpPr>
          <p:cNvPr id="12" name="Text 9"/>
          <p:cNvSpPr/>
          <p:nvPr/>
        </p:nvSpPr>
        <p:spPr>
          <a:xfrm>
            <a:off x="4681728"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Registrar entradas</a:t>
            </a:r>
            <a:endParaRPr lang="en-US" sz="1650" dirty="0"/>
          </a:p>
        </p:txBody>
      </p:sp>
      <p:sp>
        <p:nvSpPr>
          <p:cNvPr id="13" name="Shape 10"/>
          <p:cNvSpPr/>
          <p:nvPr/>
        </p:nvSpPr>
        <p:spPr>
          <a:xfrm>
            <a:off x="7653528" y="2971800"/>
            <a:ext cx="594360" cy="0"/>
          </a:xfrm>
          <a:prstGeom prst="line">
            <a:avLst/>
          </a:prstGeom>
          <a:noFill/>
          <a:ln w="25400">
            <a:solidFill>
              <a:srgbClr val="007C83"/>
            </a:solidFill>
            <a:prstDash val="solid"/>
            <a:headEnd type="none"/>
            <a:tailEnd type="triangle"/>
          </a:ln>
        </p:spPr>
      </p:sp>
      <p:sp>
        <p:nvSpPr>
          <p:cNvPr id="14" name="Shape 11"/>
          <p:cNvSpPr/>
          <p:nvPr/>
        </p:nvSpPr>
        <p:spPr>
          <a:xfrm>
            <a:off x="8339328" y="2267712"/>
            <a:ext cx="3127248" cy="1417320"/>
          </a:xfrm>
          <a:prstGeom prst="roundRect">
            <a:avLst>
              <a:gd name="adj" fmla="val 5161"/>
            </a:avLst>
          </a:prstGeom>
          <a:solidFill>
            <a:srgbClr val="FFFFFF"/>
          </a:solidFill>
          <a:ln w="8255">
            <a:solidFill>
              <a:srgbClr val="D9E2E9"/>
            </a:solidFill>
            <a:prstDash val="solid"/>
          </a:ln>
        </p:spPr>
      </p:sp>
      <p:sp>
        <p:nvSpPr>
          <p:cNvPr id="15" name="Text 12"/>
          <p:cNvSpPr/>
          <p:nvPr/>
        </p:nvSpPr>
        <p:spPr>
          <a:xfrm>
            <a:off x="8503920" y="2423160"/>
            <a:ext cx="2798064" cy="448056"/>
          </a:xfrm>
          <a:prstGeom prst="rect">
            <a:avLst/>
          </a:prstGeom>
          <a:noFill/>
          <a:ln/>
        </p:spPr>
        <p:txBody>
          <a:bodyPr wrap="square" lIns="0" tIns="0" rIns="0" bIns="0" rtlCol="0" anchor="t"/>
          <a:lstStyle/>
          <a:p>
            <a:pPr algn="ctr" indent="0" marL="0">
              <a:buNone/>
            </a:pPr>
            <a:r>
              <a:rPr lang="en-US" sz="1850" b="1" dirty="0">
                <a:solidFill>
                  <a:srgbClr val="007C83"/>
                </a:solidFill>
                <a:latin typeface="Arial" pitchFamily="34" charset="0"/>
                <a:ea typeface="Arial" pitchFamily="34" charset="-122"/>
                <a:cs typeface="Arial" pitchFamily="34" charset="-120"/>
              </a:rPr>
              <a:t>Flanco 2 + muestreo</a:t>
            </a:r>
            <a:endParaRPr lang="en-US" sz="1850" dirty="0"/>
          </a:p>
        </p:txBody>
      </p:sp>
      <p:sp>
        <p:nvSpPr>
          <p:cNvPr id="16" name="Text 13"/>
          <p:cNvSpPr/>
          <p:nvPr/>
        </p:nvSpPr>
        <p:spPr>
          <a:xfrm>
            <a:off x="8494776"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Registrar y comprobar R</a:t>
            </a:r>
            <a:endParaRPr lang="en-US" sz="1650" dirty="0"/>
          </a:p>
        </p:txBody>
      </p:sp>
      <p:sp>
        <p:nvSpPr>
          <p:cNvPr id="17" name="Shape 14"/>
          <p:cNvSpPr/>
          <p:nvPr/>
        </p:nvSpPr>
        <p:spPr>
          <a:xfrm>
            <a:off x="758952" y="4123944"/>
            <a:ext cx="10698480" cy="1124712"/>
          </a:xfrm>
          <a:prstGeom prst="roundRect">
            <a:avLst>
              <a:gd name="adj" fmla="val 8130"/>
            </a:avLst>
          </a:prstGeom>
          <a:solidFill>
            <a:srgbClr val="102331"/>
          </a:solidFill>
          <a:ln w="8255">
            <a:solidFill>
              <a:srgbClr val="102331"/>
            </a:solidFill>
            <a:prstDash val="solid"/>
          </a:ln>
        </p:spPr>
      </p:sp>
      <p:sp>
        <p:nvSpPr>
          <p:cNvPr id="18" name="Text 15"/>
          <p:cNvSpPr/>
          <p:nvPr/>
        </p:nvSpPr>
        <p:spPr>
          <a:xfrm>
            <a:off x="932688" y="4325112"/>
            <a:ext cx="10351008" cy="237744"/>
          </a:xfrm>
          <a:prstGeom prst="rect">
            <a:avLst/>
          </a:prstGeom>
          <a:noFill/>
          <a:ln/>
        </p:spPr>
        <p:txBody>
          <a:bodyPr wrap="square" lIns="0" tIns="0" rIns="0" bIns="0" rtlCol="0" anchor="t"/>
          <a:lstStyle/>
          <a:p>
            <a:pPr indent="0" marL="0">
              <a:buNone/>
            </a:pPr>
            <a:r>
              <a:rPr lang="en-US" sz="1240" dirty="0">
                <a:solidFill>
                  <a:srgbClr val="EAF2F7"/>
                </a:solidFill>
                <a:latin typeface="Courier New" pitchFamily="34" charset="0"/>
                <a:ea typeface="Courier New" pitchFamily="34" charset="-122"/>
                <a:cs typeface="Courier New" pitchFamily="34" charset="-120"/>
              </a:rPr>
              <a:t>assert not is_x(r) ... severity failure;</a:t>
            </a:r>
            <a:endParaRPr lang="en-US" sz="1240" dirty="0"/>
          </a:p>
        </p:txBody>
      </p:sp>
      <p:sp>
        <p:nvSpPr>
          <p:cNvPr id="19" name="Text 16"/>
          <p:cNvSpPr/>
          <p:nvPr/>
        </p:nvSpPr>
        <p:spPr>
          <a:xfrm>
            <a:off x="932688" y="4562856"/>
            <a:ext cx="10351008" cy="237744"/>
          </a:xfrm>
          <a:prstGeom prst="rect">
            <a:avLst/>
          </a:prstGeom>
          <a:noFill/>
          <a:ln/>
        </p:spPr>
        <p:txBody>
          <a:bodyPr wrap="square" lIns="0" tIns="0" rIns="0" bIns="0" rtlCol="0" anchor="t"/>
          <a:lstStyle/>
          <a:p>
            <a:pPr indent="0" marL="0">
              <a:buNone/>
            </a:pPr>
            <a:r>
              <a:rPr lang="en-US" sz="1240" dirty="0">
                <a:solidFill>
                  <a:srgbClr val="EAF2F7"/>
                </a:solidFill>
                <a:latin typeface="Courier New" pitchFamily="34" charset="0"/>
                <a:ea typeface="Courier New" pitchFamily="34" charset="-122"/>
                <a:cs typeface="Courier New" pitchFamily="34" charset="-120"/>
              </a:rPr>
              <a:t>VALIDATION_OK 256</a:t>
            </a:r>
            <a:endParaRPr lang="en-US" sz="1240" dirty="0"/>
          </a:p>
        </p:txBody>
      </p:sp>
      <p:sp>
        <p:nvSpPr>
          <p:cNvPr id="20" name="Text 17"/>
          <p:cNvSpPr/>
          <p:nvPr/>
        </p:nvSpPr>
        <p:spPr>
          <a:xfrm>
            <a:off x="932688" y="4800600"/>
            <a:ext cx="10351008" cy="237744"/>
          </a:xfrm>
          <a:prstGeom prst="rect">
            <a:avLst/>
          </a:prstGeom>
          <a:noFill/>
          <a:ln/>
        </p:spPr>
        <p:txBody>
          <a:bodyPr wrap="square" lIns="0" tIns="0" rIns="0" bIns="0" rtlCol="0" anchor="t"/>
          <a:lstStyle/>
          <a:p>
            <a:pPr indent="0" marL="0">
              <a:buNone/>
            </a:pPr>
            <a:r>
              <a:rPr lang="en-US" sz="1240" dirty="0">
                <a:solidFill>
                  <a:srgbClr val="EAF2F7"/>
                </a:solidFill>
                <a:latin typeface="Courier New" pitchFamily="34" charset="0"/>
                <a:ea typeface="Courier New" pitchFamily="34" charset="-122"/>
                <a:cs typeface="Courier New" pitchFamily="34" charset="-120"/>
              </a:rPr>
              <a:t>rtl-results.txt → vectors.txt (entradas + esperado)</a:t>
            </a:r>
            <a:endParaRPr lang="en-US" sz="1240" dirty="0"/>
          </a:p>
        </p:txBody>
      </p:sp>
      <p:sp>
        <p:nvSpPr>
          <p:cNvPr id="21" name="Shape 18"/>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22" name="Text 19"/>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Los tiempos del testbench ordenan eventos; no constituyen STA ni cierre temporal.</a:t>
            </a:r>
            <a:endParaRPr lang="en-US" sz="1550" dirty="0"/>
          </a:p>
        </p:txBody>
      </p:sp>
      <p:sp>
        <p:nvSpPr>
          <p:cNvPr id="23" name="Shape 20"/>
          <p:cNvSpPr/>
          <p:nvPr/>
        </p:nvSpPr>
        <p:spPr>
          <a:xfrm>
            <a:off x="585216" y="6492240"/>
            <a:ext cx="11009376" cy="0"/>
          </a:xfrm>
          <a:prstGeom prst="line">
            <a:avLst/>
          </a:prstGeom>
          <a:noFill/>
          <a:ln w="8890">
            <a:solidFill>
              <a:srgbClr val="D9E2E9"/>
            </a:solidFill>
            <a:prstDash val="solid"/>
            <a:headEnd type="none"/>
            <a:tailEnd type="none"/>
          </a:ln>
        </p:spPr>
      </p:sp>
      <p:sp>
        <p:nvSpPr>
          <p:cNvPr id="24" name="Text 21"/>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F07 | validation.py · VHDL_TESTBENCH / VERILOG_TESTBENCH</a:t>
            </a:r>
            <a:endParaRPr lang="en-US" sz="870" dirty="0"/>
          </a:p>
        </p:txBody>
      </p:sp>
      <p:sp>
        <p:nvSpPr>
          <p:cNvPr id="25" name="Text 22"/>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19 / 53</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18 · CONVERSIÓN</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GHDL genera Verilog para que Yosys pueda sintetizar el diseño</a:t>
            </a:r>
            <a:endParaRPr lang="en-US" sz="2800" dirty="0"/>
          </a:p>
        </p:txBody>
      </p:sp>
      <p:sp>
        <p:nvSpPr>
          <p:cNvPr id="6" name="Shape 3"/>
          <p:cNvSpPr/>
          <p:nvPr/>
        </p:nvSpPr>
        <p:spPr>
          <a:xfrm>
            <a:off x="685800" y="1920240"/>
            <a:ext cx="6903720" cy="3767328"/>
          </a:xfrm>
          <a:prstGeom prst="roundRect">
            <a:avLst>
              <a:gd name="adj" fmla="val 2427"/>
            </a:avLst>
          </a:prstGeom>
          <a:solidFill>
            <a:srgbClr val="102331"/>
          </a:solidFill>
          <a:ln w="8255">
            <a:solidFill>
              <a:srgbClr val="102331"/>
            </a:solidFill>
            <a:prstDash val="solid"/>
          </a:ln>
        </p:spPr>
      </p:sp>
      <p:sp>
        <p:nvSpPr>
          <p:cNvPr id="7" name="Text 4"/>
          <p:cNvSpPr/>
          <p:nvPr/>
        </p:nvSpPr>
        <p:spPr>
          <a:xfrm>
            <a:off x="859536" y="2121408"/>
            <a:ext cx="6556248" cy="310896"/>
          </a:xfrm>
          <a:prstGeom prst="rect">
            <a:avLst/>
          </a:prstGeom>
          <a:noFill/>
          <a:ln/>
        </p:spPr>
        <p:txBody>
          <a:bodyPr wrap="square" lIns="0" tIns="0" rIns="0" bIns="0" rtlCol="0" anchor="t"/>
          <a:lstStyle/>
          <a:p>
            <a:pPr indent="0" marL="0">
              <a:buNone/>
            </a:pPr>
            <a:r>
              <a:rPr lang="en-US" sz="1360" dirty="0">
                <a:solidFill>
                  <a:srgbClr val="80DDD5"/>
                </a:solidFill>
                <a:latin typeface="Courier New" pitchFamily="34" charset="0"/>
                <a:ea typeface="Courier New" pitchFamily="34" charset="-122"/>
                <a:cs typeface="Courier New" pitchFamily="34" charset="-120"/>
              </a:rPr>
              <a:t>ghdl --synth --std=08 \</a:t>
            </a:r>
            <a:endParaRPr lang="en-US" sz="1360" dirty="0"/>
          </a:p>
        </p:txBody>
      </p:sp>
      <p:sp>
        <p:nvSpPr>
          <p:cNvPr id="8" name="Text 5"/>
          <p:cNvSpPr/>
          <p:nvPr/>
        </p:nvSpPr>
        <p:spPr>
          <a:xfrm>
            <a:off x="859536" y="2432304"/>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  -fsynopsys -fexplicit \</a:t>
            </a:r>
            <a:endParaRPr lang="en-US" sz="1360" dirty="0"/>
          </a:p>
        </p:txBody>
      </p:sp>
      <p:sp>
        <p:nvSpPr>
          <p:cNvPr id="9" name="Text 6"/>
          <p:cNvSpPr/>
          <p:nvPr/>
        </p:nvSpPr>
        <p:spPr>
          <a:xfrm>
            <a:off x="859536" y="2743200"/>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  --out=verilog INT8_16_DPU_perf_top</a:t>
            </a:r>
            <a:endParaRPr lang="en-US" sz="1360" dirty="0"/>
          </a:p>
        </p:txBody>
      </p:sp>
      <p:sp>
        <p:nvSpPr>
          <p:cNvPr id="10" name="Text 7"/>
          <p:cNvSpPr/>
          <p:nvPr/>
        </p:nvSpPr>
        <p:spPr>
          <a:xfrm>
            <a:off x="859536" y="3054096"/>
            <a:ext cx="6556248" cy="310896"/>
          </a:xfrm>
          <a:prstGeom prst="rect">
            <a:avLst/>
          </a:prstGeom>
          <a:noFill/>
          <a:ln/>
        </p:spPr>
        <p:txBody>
          <a:bodyPr wrap="square" lIns="0" tIns="0" rIns="0" bIns="0" rtlCol="0" anchor="t"/>
          <a:lstStyle/>
          <a:p>
            <a:pPr indent="0" marL="0">
              <a:buNone/>
            </a:pPr>
            <a:endParaRPr lang="en-US" sz="1360" dirty="0"/>
          </a:p>
        </p:txBody>
      </p:sp>
      <p:sp>
        <p:nvSpPr>
          <p:cNvPr id="11" name="Text 8"/>
          <p:cNvSpPr/>
          <p:nvPr/>
        </p:nvSpPr>
        <p:spPr>
          <a:xfrm>
            <a:off x="859536" y="3364992"/>
            <a:ext cx="6556248" cy="310896"/>
          </a:xfrm>
          <a:prstGeom prst="rect">
            <a:avLst/>
          </a:prstGeom>
          <a:noFill/>
          <a:ln/>
        </p:spPr>
        <p:txBody>
          <a:bodyPr wrap="square" lIns="0" tIns="0" rIns="0" bIns="0" rtlCol="0" anchor="t"/>
          <a:lstStyle/>
          <a:p>
            <a:pPr indent="0" marL="0">
              <a:buNone/>
            </a:pPr>
            <a:r>
              <a:rPr lang="en-US" sz="1360" dirty="0">
                <a:solidFill>
                  <a:srgbClr val="E0B76B"/>
                </a:solidFill>
                <a:latin typeface="Courier New" pitchFamily="34" charset="0"/>
                <a:ea typeface="Courier New" pitchFamily="34" charset="-122"/>
                <a:cs typeface="Courier New" pitchFamily="34" charset="-120"/>
              </a:rPr>
              <a:t># stdout se guarda en design.v</a:t>
            </a:r>
            <a:endParaRPr lang="en-US" sz="1360" dirty="0"/>
          </a:p>
        </p:txBody>
      </p:sp>
      <p:sp>
        <p:nvSpPr>
          <p:cNvPr id="12" name="Shape 9"/>
          <p:cNvSpPr/>
          <p:nvPr/>
        </p:nvSpPr>
        <p:spPr>
          <a:xfrm>
            <a:off x="7845552" y="1920240"/>
            <a:ext cx="3657600" cy="3767328"/>
          </a:xfrm>
          <a:prstGeom prst="roundRect">
            <a:avLst>
              <a:gd name="adj" fmla="val 2000"/>
            </a:avLst>
          </a:prstGeom>
          <a:solidFill>
            <a:srgbClr val="FFFFFF"/>
          </a:solidFill>
          <a:ln w="8255">
            <a:solidFill>
              <a:srgbClr val="D9E2E9"/>
            </a:solidFill>
            <a:prstDash val="solid"/>
          </a:ln>
        </p:spPr>
      </p:sp>
      <p:sp>
        <p:nvSpPr>
          <p:cNvPr id="13" name="Text 10"/>
          <p:cNvSpPr/>
          <p:nvPr/>
        </p:nvSpPr>
        <p:spPr>
          <a:xfrm>
            <a:off x="8074152" y="2148840"/>
            <a:ext cx="3218688" cy="320040"/>
          </a:xfrm>
          <a:prstGeom prst="rect">
            <a:avLst/>
          </a:prstGeom>
          <a:noFill/>
          <a:ln/>
        </p:spPr>
        <p:txBody>
          <a:bodyPr wrap="square" lIns="0" tIns="0" rIns="0" bIns="0" rtlCol="0" anchor="t"/>
          <a:lstStyle/>
          <a:p>
            <a:pPr indent="0" marL="0">
              <a:buNone/>
            </a:pPr>
            <a:r>
              <a:rPr lang="en-US" sz="1200" b="1" spc="70" kern="0" dirty="0">
                <a:solidFill>
                  <a:srgbClr val="007C83"/>
                </a:solidFill>
                <a:latin typeface="Arial" pitchFamily="34" charset="0"/>
                <a:ea typeface="Arial" pitchFamily="34" charset="-122"/>
                <a:cs typeface="Arial" pitchFamily="34" charset="-120"/>
              </a:rPr>
              <a:t>CÓMO INTERPRETARLO</a:t>
            </a:r>
            <a:endParaRPr lang="en-US" sz="1200" dirty="0"/>
          </a:p>
        </p:txBody>
      </p:sp>
      <p:sp>
        <p:nvSpPr>
          <p:cNvPr id="14" name="Text 11"/>
          <p:cNvSpPr/>
          <p:nvPr/>
        </p:nvSpPr>
        <p:spPr>
          <a:xfrm>
            <a:off x="8074152" y="2743200"/>
            <a:ext cx="3182112" cy="2688336"/>
          </a:xfrm>
          <a:prstGeom prst="rect">
            <a:avLst/>
          </a:prstGeom>
          <a:noFill/>
          <a:ln/>
        </p:spPr>
        <p:txBody>
          <a:bodyPr wrap="square" lIns="0" tIns="0" rIns="0" bIns="0" rtlCol="0" anchor="t"/>
          <a:lstStyle/>
          <a:p>
            <a:pPr indent="0" marL="0">
              <a:buNone/>
            </a:pPr>
            <a:r>
              <a:rPr lang="en-US" sz="1700" dirty="0">
                <a:solidFill>
                  <a:srgbClr val="14293B"/>
                </a:solidFill>
                <a:latin typeface="Arial" pitchFamily="34" charset="0"/>
                <a:ea typeface="Arial" pitchFamily="34" charset="-122"/>
                <a:cs typeface="Arial" pitchFamily="34" charset="-120"/>
              </a:rPr>
              <a:t>Entrada: VHDL analizado.</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Salida: Verilog estructural.</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Todavía no hay celdas de la biblioteca objetivo.</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La preservación se comprueba después del mapeo.</a:t>
            </a:r>
            <a:endParaRPr lang="en-US" sz="1700" dirty="0"/>
          </a:p>
        </p:txBody>
      </p:sp>
      <p:sp>
        <p:nvSpPr>
          <p:cNvPr id="15" name="Shape 12"/>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16" name="Text 13"/>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La conversión es una transformación del diseño; requiere controles posteriores.</a:t>
            </a:r>
            <a:endParaRPr lang="en-US" sz="1550" dirty="0"/>
          </a:p>
        </p:txBody>
      </p:sp>
      <p:sp>
        <p:nvSpPr>
          <p:cNvPr id="17" name="Shape 14"/>
          <p:cNvSpPr/>
          <p:nvPr/>
        </p:nvSpPr>
        <p:spPr>
          <a:xfrm>
            <a:off x="585216" y="6492240"/>
            <a:ext cx="11009376" cy="0"/>
          </a:xfrm>
          <a:prstGeom prst="line">
            <a:avLst/>
          </a:prstGeom>
          <a:noFill/>
          <a:ln w="8890">
            <a:solidFill>
              <a:srgbClr val="D9E2E9"/>
            </a:solidFill>
            <a:prstDash val="solid"/>
            <a:headEnd type="none"/>
            <a:tailEnd type="none"/>
          </a:ln>
        </p:spPr>
      </p:sp>
      <p:sp>
        <p:nvSpPr>
          <p:cNvPr id="18" name="Text 15"/>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F01 | synthesis.py · fase converting</a:t>
            </a:r>
            <a:endParaRPr lang="en-US" sz="870" dirty="0"/>
          </a:p>
        </p:txBody>
      </p:sp>
      <p:sp>
        <p:nvSpPr>
          <p:cNvPr id="19" name="Text 16"/>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20 / 53</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19 · COMANDOS REALES</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El script de Yosys hace explícita la política de síntesis y mapeo</a:t>
            </a:r>
            <a:endParaRPr lang="en-US" sz="2800" dirty="0"/>
          </a:p>
        </p:txBody>
      </p:sp>
      <p:sp>
        <p:nvSpPr>
          <p:cNvPr id="6" name="Shape 3"/>
          <p:cNvSpPr/>
          <p:nvPr/>
        </p:nvSpPr>
        <p:spPr>
          <a:xfrm>
            <a:off x="685800" y="1920240"/>
            <a:ext cx="6903720" cy="3767328"/>
          </a:xfrm>
          <a:prstGeom prst="roundRect">
            <a:avLst>
              <a:gd name="adj" fmla="val 2427"/>
            </a:avLst>
          </a:prstGeom>
          <a:solidFill>
            <a:srgbClr val="102331"/>
          </a:solidFill>
          <a:ln w="8255">
            <a:solidFill>
              <a:srgbClr val="102331"/>
            </a:solidFill>
            <a:prstDash val="solid"/>
          </a:ln>
        </p:spPr>
      </p:sp>
      <p:sp>
        <p:nvSpPr>
          <p:cNvPr id="7" name="Text 4"/>
          <p:cNvSpPr/>
          <p:nvPr/>
        </p:nvSpPr>
        <p:spPr>
          <a:xfrm>
            <a:off x="859536" y="2121408"/>
            <a:ext cx="6556248" cy="279654"/>
          </a:xfrm>
          <a:prstGeom prst="rect">
            <a:avLst/>
          </a:prstGeom>
          <a:noFill/>
          <a:ln/>
        </p:spPr>
        <p:txBody>
          <a:bodyPr wrap="square" lIns="0" tIns="0" rIns="0" bIns="0" rtlCol="0" anchor="t"/>
          <a:lstStyle/>
          <a:p>
            <a:pPr indent="0" marL="0">
              <a:buNone/>
            </a:pPr>
            <a:r>
              <a:rPr lang="en-US" sz="1240" dirty="0">
                <a:solidFill>
                  <a:srgbClr val="80DDD5"/>
                </a:solidFill>
                <a:latin typeface="Courier New" pitchFamily="34" charset="0"/>
                <a:ea typeface="Courier New" pitchFamily="34" charset="-122"/>
                <a:cs typeface="Courier New" pitchFamily="34" charset="-120"/>
              </a:rPr>
              <a:t>read_liberty -lib cells.lib</a:t>
            </a:r>
            <a:endParaRPr lang="en-US" sz="1240" dirty="0"/>
          </a:p>
        </p:txBody>
      </p:sp>
      <p:sp>
        <p:nvSpPr>
          <p:cNvPr id="8" name="Text 5"/>
          <p:cNvSpPr/>
          <p:nvPr/>
        </p:nvSpPr>
        <p:spPr>
          <a:xfrm>
            <a:off x="859536" y="2401062"/>
            <a:ext cx="6556248" cy="279654"/>
          </a:xfrm>
          <a:prstGeom prst="rect">
            <a:avLst/>
          </a:prstGeom>
          <a:noFill/>
          <a:ln/>
        </p:spPr>
        <p:txBody>
          <a:bodyPr wrap="square" lIns="0" tIns="0" rIns="0" bIns="0" rtlCol="0" anchor="t"/>
          <a:lstStyle/>
          <a:p>
            <a:pPr indent="0" marL="0">
              <a:buNone/>
            </a:pPr>
            <a:r>
              <a:rPr lang="en-US" sz="1240" dirty="0">
                <a:solidFill>
                  <a:srgbClr val="80DDD5"/>
                </a:solidFill>
                <a:latin typeface="Courier New" pitchFamily="34" charset="0"/>
                <a:ea typeface="Courier New" pitchFamily="34" charset="-122"/>
                <a:cs typeface="Courier New" pitchFamily="34" charset="-120"/>
              </a:rPr>
              <a:t>read_verilog design.v</a:t>
            </a:r>
            <a:endParaRPr lang="en-US" sz="1240" dirty="0"/>
          </a:p>
        </p:txBody>
      </p:sp>
      <p:sp>
        <p:nvSpPr>
          <p:cNvPr id="9" name="Text 6"/>
          <p:cNvSpPr/>
          <p:nvPr/>
        </p:nvSpPr>
        <p:spPr>
          <a:xfrm>
            <a:off x="859536" y="2680716"/>
            <a:ext cx="6556248" cy="279654"/>
          </a:xfrm>
          <a:prstGeom prst="rect">
            <a:avLst/>
          </a:prstGeom>
          <a:noFill/>
          <a:ln/>
        </p:spPr>
        <p:txBody>
          <a:bodyPr wrap="square" lIns="0" tIns="0" rIns="0" bIns="0" rtlCol="0" anchor="t"/>
          <a:lstStyle/>
          <a:p>
            <a:pPr indent="0" marL="0">
              <a:buNone/>
            </a:pPr>
            <a:r>
              <a:rPr lang="en-US" sz="1240" dirty="0">
                <a:solidFill>
                  <a:srgbClr val="80DDD5"/>
                </a:solidFill>
                <a:latin typeface="Courier New" pitchFamily="34" charset="0"/>
                <a:ea typeface="Courier New" pitchFamily="34" charset="-122"/>
                <a:cs typeface="Courier New" pitchFamily="34" charset="-120"/>
              </a:rPr>
              <a:t>hierarchy -check -top INT8_16_DPU_perf_top</a:t>
            </a:r>
            <a:endParaRPr lang="en-US" sz="1240" dirty="0"/>
          </a:p>
        </p:txBody>
      </p:sp>
      <p:sp>
        <p:nvSpPr>
          <p:cNvPr id="10" name="Text 7"/>
          <p:cNvSpPr/>
          <p:nvPr/>
        </p:nvSpPr>
        <p:spPr>
          <a:xfrm>
            <a:off x="859536" y="2960370"/>
            <a:ext cx="6556248" cy="279654"/>
          </a:xfrm>
          <a:prstGeom prst="rect">
            <a:avLst/>
          </a:prstGeom>
          <a:noFill/>
          <a:ln/>
        </p:spPr>
        <p:txBody>
          <a:bodyPr wrap="square" lIns="0" tIns="0" rIns="0" bIns="0" rtlCol="0" anchor="t"/>
          <a:lstStyle/>
          <a:p>
            <a:pPr indent="0" marL="0">
              <a:buNone/>
            </a:pPr>
            <a:r>
              <a:rPr lang="en-US" sz="1240" dirty="0">
                <a:solidFill>
                  <a:srgbClr val="80DDD5"/>
                </a:solidFill>
                <a:latin typeface="Courier New" pitchFamily="34" charset="0"/>
                <a:ea typeface="Courier New" pitchFamily="34" charset="-122"/>
                <a:cs typeface="Courier New" pitchFamily="34" charset="-120"/>
              </a:rPr>
              <a:t>synth -top INT8_16_DPU_perf_top -flatten -noabc</a:t>
            </a:r>
            <a:endParaRPr lang="en-US" sz="1240" dirty="0"/>
          </a:p>
        </p:txBody>
      </p:sp>
      <p:sp>
        <p:nvSpPr>
          <p:cNvPr id="11" name="Text 8"/>
          <p:cNvSpPr/>
          <p:nvPr/>
        </p:nvSpPr>
        <p:spPr>
          <a:xfrm>
            <a:off x="859536" y="3240024"/>
            <a:ext cx="6556248" cy="279654"/>
          </a:xfrm>
          <a:prstGeom prst="rect">
            <a:avLst/>
          </a:prstGeom>
          <a:noFill/>
          <a:ln/>
        </p:spPr>
        <p:txBody>
          <a:bodyPr wrap="square" lIns="0" tIns="0" rIns="0" bIns="0" rtlCol="0" anchor="t"/>
          <a:lstStyle/>
          <a:p>
            <a:pPr indent="0" marL="0">
              <a:buNone/>
            </a:pPr>
            <a:r>
              <a:rPr lang="en-US" sz="1240" dirty="0">
                <a:solidFill>
                  <a:srgbClr val="80DDD5"/>
                </a:solidFill>
                <a:latin typeface="Courier New" pitchFamily="34" charset="0"/>
                <a:ea typeface="Courier New" pitchFamily="34" charset="-122"/>
                <a:cs typeface="Courier New" pitchFamily="34" charset="-120"/>
              </a:rPr>
              <a:t>dfflibmap -liberty cells.lib</a:t>
            </a:r>
            <a:endParaRPr lang="en-US" sz="1240" dirty="0"/>
          </a:p>
        </p:txBody>
      </p:sp>
      <p:sp>
        <p:nvSpPr>
          <p:cNvPr id="12" name="Text 9"/>
          <p:cNvSpPr/>
          <p:nvPr/>
        </p:nvSpPr>
        <p:spPr>
          <a:xfrm>
            <a:off x="859536" y="3519678"/>
            <a:ext cx="6556248" cy="279654"/>
          </a:xfrm>
          <a:prstGeom prst="rect">
            <a:avLst/>
          </a:prstGeom>
          <a:noFill/>
          <a:ln/>
        </p:spPr>
        <p:txBody>
          <a:bodyPr wrap="square" lIns="0" tIns="0" rIns="0" bIns="0" rtlCol="0" anchor="t"/>
          <a:lstStyle/>
          <a:p>
            <a:pPr indent="0" marL="0">
              <a:buNone/>
            </a:pPr>
            <a:r>
              <a:rPr lang="en-US" sz="1240" dirty="0">
                <a:solidFill>
                  <a:srgbClr val="80DDD5"/>
                </a:solidFill>
                <a:latin typeface="Courier New" pitchFamily="34" charset="0"/>
                <a:ea typeface="Courier New" pitchFamily="34" charset="-122"/>
                <a:cs typeface="Courier New" pitchFamily="34" charset="-120"/>
              </a:rPr>
              <a:t>abc -liberty cells.lib</a:t>
            </a:r>
            <a:endParaRPr lang="en-US" sz="1240" dirty="0"/>
          </a:p>
        </p:txBody>
      </p:sp>
      <p:sp>
        <p:nvSpPr>
          <p:cNvPr id="13" name="Text 10"/>
          <p:cNvSpPr/>
          <p:nvPr/>
        </p:nvSpPr>
        <p:spPr>
          <a:xfrm>
            <a:off x="859536" y="3799332"/>
            <a:ext cx="6556248" cy="279654"/>
          </a:xfrm>
          <a:prstGeom prst="rect">
            <a:avLst/>
          </a:prstGeom>
          <a:noFill/>
          <a:ln/>
        </p:spPr>
        <p:txBody>
          <a:bodyPr wrap="square" lIns="0" tIns="0" rIns="0" bIns="0" rtlCol="0" anchor="t"/>
          <a:lstStyle/>
          <a:p>
            <a:pPr indent="0" marL="0">
              <a:buNone/>
            </a:pPr>
            <a:r>
              <a:rPr lang="en-US" sz="1240" dirty="0">
                <a:solidFill>
                  <a:srgbClr val="80DDD5"/>
                </a:solidFill>
                <a:latin typeface="Courier New" pitchFamily="34" charset="0"/>
                <a:ea typeface="Courier New" pitchFamily="34" charset="-122"/>
                <a:cs typeface="Courier New" pitchFamily="34" charset="-120"/>
              </a:rPr>
              <a:t>delete t:$scopeinfo</a:t>
            </a:r>
            <a:endParaRPr lang="en-US" sz="1240" dirty="0"/>
          </a:p>
        </p:txBody>
      </p:sp>
      <p:sp>
        <p:nvSpPr>
          <p:cNvPr id="14" name="Text 11"/>
          <p:cNvSpPr/>
          <p:nvPr/>
        </p:nvSpPr>
        <p:spPr>
          <a:xfrm>
            <a:off x="859536" y="4078986"/>
            <a:ext cx="6556248" cy="279654"/>
          </a:xfrm>
          <a:prstGeom prst="rect">
            <a:avLst/>
          </a:prstGeom>
          <a:noFill/>
          <a:ln/>
        </p:spPr>
        <p:txBody>
          <a:bodyPr wrap="square" lIns="0" tIns="0" rIns="0" bIns="0" rtlCol="0" anchor="t"/>
          <a:lstStyle/>
          <a:p>
            <a:pPr indent="0" marL="0">
              <a:buNone/>
            </a:pPr>
            <a:r>
              <a:rPr lang="en-US" sz="1240" dirty="0">
                <a:solidFill>
                  <a:srgbClr val="80DDD5"/>
                </a:solidFill>
                <a:latin typeface="Courier New" pitchFamily="34" charset="0"/>
                <a:ea typeface="Courier New" pitchFamily="34" charset="-122"/>
                <a:cs typeface="Courier New" pitchFamily="34" charset="-120"/>
              </a:rPr>
              <a:t>clean</a:t>
            </a:r>
            <a:endParaRPr lang="en-US" sz="1240" dirty="0"/>
          </a:p>
        </p:txBody>
      </p:sp>
      <p:sp>
        <p:nvSpPr>
          <p:cNvPr id="15" name="Text 12"/>
          <p:cNvSpPr/>
          <p:nvPr/>
        </p:nvSpPr>
        <p:spPr>
          <a:xfrm>
            <a:off x="859536" y="4358640"/>
            <a:ext cx="6556248" cy="279654"/>
          </a:xfrm>
          <a:prstGeom prst="rect">
            <a:avLst/>
          </a:prstGeom>
          <a:noFill/>
          <a:ln/>
        </p:spPr>
        <p:txBody>
          <a:bodyPr wrap="square" lIns="0" tIns="0" rIns="0" bIns="0" rtlCol="0" anchor="t"/>
          <a:lstStyle/>
          <a:p>
            <a:pPr indent="0" marL="0">
              <a:buNone/>
            </a:pPr>
            <a:r>
              <a:rPr lang="en-US" sz="1240" dirty="0">
                <a:solidFill>
                  <a:srgbClr val="80DDD5"/>
                </a:solidFill>
                <a:latin typeface="Courier New" pitchFamily="34" charset="0"/>
                <a:ea typeface="Courier New" pitchFamily="34" charset="-122"/>
                <a:cs typeface="Courier New" pitchFamily="34" charset="-120"/>
              </a:rPr>
              <a:t>check -assert</a:t>
            </a:r>
            <a:endParaRPr lang="en-US" sz="1240" dirty="0"/>
          </a:p>
        </p:txBody>
      </p:sp>
      <p:sp>
        <p:nvSpPr>
          <p:cNvPr id="16" name="Text 13"/>
          <p:cNvSpPr/>
          <p:nvPr/>
        </p:nvSpPr>
        <p:spPr>
          <a:xfrm>
            <a:off x="859536" y="4638294"/>
            <a:ext cx="6556248" cy="279654"/>
          </a:xfrm>
          <a:prstGeom prst="rect">
            <a:avLst/>
          </a:prstGeom>
          <a:noFill/>
          <a:ln/>
        </p:spPr>
        <p:txBody>
          <a:bodyPr wrap="square" lIns="0" tIns="0" rIns="0" bIns="0" rtlCol="0" anchor="t"/>
          <a:lstStyle/>
          <a:p>
            <a:pPr indent="0" marL="0">
              <a:buNone/>
            </a:pPr>
            <a:r>
              <a:rPr lang="en-US" sz="1240" dirty="0">
                <a:solidFill>
                  <a:srgbClr val="80DDD5"/>
                </a:solidFill>
                <a:latin typeface="Courier New" pitchFamily="34" charset="0"/>
                <a:ea typeface="Courier New" pitchFamily="34" charset="-122"/>
                <a:cs typeface="Courier New" pitchFamily="34" charset="-120"/>
              </a:rPr>
              <a:t>write_json mapped.json</a:t>
            </a:r>
            <a:endParaRPr lang="en-US" sz="1240" dirty="0"/>
          </a:p>
        </p:txBody>
      </p:sp>
      <p:sp>
        <p:nvSpPr>
          <p:cNvPr id="17" name="Text 14"/>
          <p:cNvSpPr/>
          <p:nvPr/>
        </p:nvSpPr>
        <p:spPr>
          <a:xfrm>
            <a:off x="859536" y="4917948"/>
            <a:ext cx="6556248" cy="279654"/>
          </a:xfrm>
          <a:prstGeom prst="rect">
            <a:avLst/>
          </a:prstGeom>
          <a:noFill/>
          <a:ln/>
        </p:spPr>
        <p:txBody>
          <a:bodyPr wrap="square" lIns="0" tIns="0" rIns="0" bIns="0" rtlCol="0" anchor="t"/>
          <a:lstStyle/>
          <a:p>
            <a:pPr indent="0" marL="0">
              <a:buNone/>
            </a:pPr>
            <a:r>
              <a:rPr lang="en-US" sz="1240" dirty="0">
                <a:solidFill>
                  <a:srgbClr val="80DDD5"/>
                </a:solidFill>
                <a:latin typeface="Courier New" pitchFamily="34" charset="0"/>
                <a:ea typeface="Courier New" pitchFamily="34" charset="-122"/>
                <a:cs typeface="Courier New" pitchFamily="34" charset="-120"/>
              </a:rPr>
              <a:t>write_verilog -noattr mapped.v</a:t>
            </a:r>
            <a:endParaRPr lang="en-US" sz="1240" dirty="0"/>
          </a:p>
        </p:txBody>
      </p:sp>
      <p:sp>
        <p:nvSpPr>
          <p:cNvPr id="18" name="Text 15"/>
          <p:cNvSpPr/>
          <p:nvPr/>
        </p:nvSpPr>
        <p:spPr>
          <a:xfrm>
            <a:off x="859536" y="5197602"/>
            <a:ext cx="6556248" cy="279654"/>
          </a:xfrm>
          <a:prstGeom prst="rect">
            <a:avLst/>
          </a:prstGeom>
          <a:noFill/>
          <a:ln/>
        </p:spPr>
        <p:txBody>
          <a:bodyPr wrap="square" lIns="0" tIns="0" rIns="0" bIns="0" rtlCol="0" anchor="t"/>
          <a:lstStyle/>
          <a:p>
            <a:pPr indent="0" marL="0">
              <a:buNone/>
            </a:pPr>
            <a:r>
              <a:rPr lang="en-US" sz="1240" dirty="0">
                <a:solidFill>
                  <a:srgbClr val="80DDD5"/>
                </a:solidFill>
                <a:latin typeface="Courier New" pitchFamily="34" charset="0"/>
                <a:ea typeface="Courier New" pitchFamily="34" charset="-122"/>
                <a:cs typeface="Courier New" pitchFamily="34" charset="-120"/>
              </a:rPr>
              <a:t>tee -o stat.json stat -liberty cells.lib -json</a:t>
            </a:r>
            <a:endParaRPr lang="en-US" sz="1240" dirty="0"/>
          </a:p>
        </p:txBody>
      </p:sp>
      <p:sp>
        <p:nvSpPr>
          <p:cNvPr id="19" name="Shape 16"/>
          <p:cNvSpPr/>
          <p:nvPr/>
        </p:nvSpPr>
        <p:spPr>
          <a:xfrm>
            <a:off x="7845552" y="1920240"/>
            <a:ext cx="3657600" cy="3767328"/>
          </a:xfrm>
          <a:prstGeom prst="roundRect">
            <a:avLst>
              <a:gd name="adj" fmla="val 2000"/>
            </a:avLst>
          </a:prstGeom>
          <a:solidFill>
            <a:srgbClr val="FFFFFF"/>
          </a:solidFill>
          <a:ln w="8255">
            <a:solidFill>
              <a:srgbClr val="D9E2E9"/>
            </a:solidFill>
            <a:prstDash val="solid"/>
          </a:ln>
        </p:spPr>
      </p:sp>
      <p:sp>
        <p:nvSpPr>
          <p:cNvPr id="20" name="Text 17"/>
          <p:cNvSpPr/>
          <p:nvPr/>
        </p:nvSpPr>
        <p:spPr>
          <a:xfrm>
            <a:off x="8074152" y="2148840"/>
            <a:ext cx="3218688" cy="320040"/>
          </a:xfrm>
          <a:prstGeom prst="rect">
            <a:avLst/>
          </a:prstGeom>
          <a:noFill/>
          <a:ln/>
        </p:spPr>
        <p:txBody>
          <a:bodyPr wrap="square" lIns="0" tIns="0" rIns="0" bIns="0" rtlCol="0" anchor="t"/>
          <a:lstStyle/>
          <a:p>
            <a:pPr indent="0" marL="0">
              <a:buNone/>
            </a:pPr>
            <a:r>
              <a:rPr lang="en-US" sz="1200" b="1" spc="70" kern="0" dirty="0">
                <a:solidFill>
                  <a:srgbClr val="007C83"/>
                </a:solidFill>
                <a:latin typeface="Arial" pitchFamily="34" charset="0"/>
                <a:ea typeface="Arial" pitchFamily="34" charset="-122"/>
                <a:cs typeface="Arial" pitchFamily="34" charset="-120"/>
              </a:rPr>
              <a:t>CÓMO INTERPRETARLO</a:t>
            </a:r>
            <a:endParaRPr lang="en-US" sz="1200" dirty="0"/>
          </a:p>
        </p:txBody>
      </p:sp>
      <p:sp>
        <p:nvSpPr>
          <p:cNvPr id="21" name="Text 18"/>
          <p:cNvSpPr/>
          <p:nvPr/>
        </p:nvSpPr>
        <p:spPr>
          <a:xfrm>
            <a:off x="8074152" y="2743200"/>
            <a:ext cx="3182112" cy="2688336"/>
          </a:xfrm>
          <a:prstGeom prst="rect">
            <a:avLst/>
          </a:prstGeom>
          <a:noFill/>
          <a:ln/>
        </p:spPr>
        <p:txBody>
          <a:bodyPr wrap="square" lIns="0" tIns="0" rIns="0" bIns="0" rtlCol="0" anchor="t"/>
          <a:lstStyle/>
          <a:p>
            <a:pPr indent="0" marL="0">
              <a:buNone/>
            </a:pPr>
            <a:r>
              <a:rPr lang="en-US" sz="1700" dirty="0">
                <a:solidFill>
                  <a:srgbClr val="14293B"/>
                </a:solidFill>
                <a:latin typeface="Arial" pitchFamily="34" charset="0"/>
                <a:ea typeface="Arial" pitchFamily="34" charset="-122"/>
                <a:cs typeface="Arial" pitchFamily="34" charset="-120"/>
              </a:rPr>
              <a:t>Una política común para comparar tecnologías.</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Sin frecuencia objetivo.</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Sin memoria SRAM mapeada.</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Los scripts y versiones del caso forman parte de la evidencia.</a:t>
            </a:r>
            <a:endParaRPr lang="en-US" sz="1700" dirty="0"/>
          </a:p>
        </p:txBody>
      </p:sp>
      <p:sp>
        <p:nvSpPr>
          <p:cNvPr id="22" name="Shape 19"/>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23" name="Text 20"/>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check -assert revisa estructura; no prueba equivalencia funcional.</a:t>
            </a:r>
            <a:endParaRPr lang="en-US" sz="1550" dirty="0"/>
          </a:p>
        </p:txBody>
      </p:sp>
      <p:sp>
        <p:nvSpPr>
          <p:cNvPr id="24" name="Shape 21"/>
          <p:cNvSpPr/>
          <p:nvPr/>
        </p:nvSpPr>
        <p:spPr>
          <a:xfrm>
            <a:off x="585216" y="6492240"/>
            <a:ext cx="11009376" cy="0"/>
          </a:xfrm>
          <a:prstGeom prst="line">
            <a:avLst/>
          </a:prstGeom>
          <a:noFill/>
          <a:ln w="8890">
            <a:solidFill>
              <a:srgbClr val="D9E2E9"/>
            </a:solidFill>
            <a:prstDash val="solid"/>
            <a:headEnd type="none"/>
            <a:tailEnd type="none"/>
          </a:ln>
        </p:spPr>
      </p:sp>
      <p:sp>
        <p:nvSpPr>
          <p:cNvPr id="25" name="Text 22"/>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F02 · F03 · F04 · F05 | synthesis.py · synth.ys</a:t>
            </a:r>
            <a:endParaRPr lang="en-US" sz="870" dirty="0"/>
          </a:p>
        </p:txBody>
      </p:sp>
      <p:sp>
        <p:nvSpPr>
          <p:cNvPr id="26" name="Text 23"/>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21 / 53</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20 · MAPEO TECNOLÓGICO</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dfflibmap y ABC eligen celdas tecnológicas para funciones diferentes</a:t>
            </a:r>
            <a:endParaRPr lang="en-US" sz="2800" dirty="0"/>
          </a:p>
        </p:txBody>
      </p:sp>
      <p:sp>
        <p:nvSpPr>
          <p:cNvPr id="6" name="Shape 3"/>
          <p:cNvSpPr/>
          <p:nvPr/>
        </p:nvSpPr>
        <p:spPr>
          <a:xfrm>
            <a:off x="713232" y="2267712"/>
            <a:ext cx="3127248" cy="1417320"/>
          </a:xfrm>
          <a:prstGeom prst="roundRect">
            <a:avLst>
              <a:gd name="adj" fmla="val 5161"/>
            </a:avLst>
          </a:prstGeom>
          <a:solidFill>
            <a:srgbClr val="FFFFFF"/>
          </a:solidFill>
          <a:ln w="8255">
            <a:solidFill>
              <a:srgbClr val="D9E2E9"/>
            </a:solidFill>
            <a:prstDash val="solid"/>
          </a:ln>
        </p:spPr>
      </p:sp>
      <p:sp>
        <p:nvSpPr>
          <p:cNvPr id="7" name="Text 4"/>
          <p:cNvSpPr/>
          <p:nvPr/>
        </p:nvSpPr>
        <p:spPr>
          <a:xfrm>
            <a:off x="877824"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Lógica genérica</a:t>
            </a:r>
            <a:endParaRPr lang="en-US" sz="2050" dirty="0"/>
          </a:p>
        </p:txBody>
      </p:sp>
      <p:sp>
        <p:nvSpPr>
          <p:cNvPr id="8" name="Text 5"/>
          <p:cNvSpPr/>
          <p:nvPr/>
        </p:nvSpPr>
        <p:spPr>
          <a:xfrm>
            <a:off x="868680"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Operadores, puertas y FF</a:t>
            </a:r>
            <a:endParaRPr lang="en-US" sz="1650" dirty="0"/>
          </a:p>
        </p:txBody>
      </p:sp>
      <p:sp>
        <p:nvSpPr>
          <p:cNvPr id="9" name="Shape 6"/>
          <p:cNvSpPr/>
          <p:nvPr/>
        </p:nvSpPr>
        <p:spPr>
          <a:xfrm>
            <a:off x="3840480" y="2971800"/>
            <a:ext cx="594360" cy="0"/>
          </a:xfrm>
          <a:prstGeom prst="line">
            <a:avLst/>
          </a:prstGeom>
          <a:noFill/>
          <a:ln w="25400">
            <a:solidFill>
              <a:srgbClr val="007C83"/>
            </a:solidFill>
            <a:prstDash val="solid"/>
            <a:headEnd type="none"/>
            <a:tailEnd type="triangle"/>
          </a:ln>
        </p:spPr>
      </p:sp>
      <p:sp>
        <p:nvSpPr>
          <p:cNvPr id="10" name="Shape 7"/>
          <p:cNvSpPr/>
          <p:nvPr/>
        </p:nvSpPr>
        <p:spPr>
          <a:xfrm>
            <a:off x="4526280" y="2267712"/>
            <a:ext cx="3127248" cy="1417320"/>
          </a:xfrm>
          <a:prstGeom prst="roundRect">
            <a:avLst>
              <a:gd name="adj" fmla="val 5161"/>
            </a:avLst>
          </a:prstGeom>
          <a:solidFill>
            <a:srgbClr val="FFFFFF"/>
          </a:solidFill>
          <a:ln w="8255">
            <a:solidFill>
              <a:srgbClr val="D9E2E9"/>
            </a:solidFill>
            <a:prstDash val="solid"/>
          </a:ln>
        </p:spPr>
      </p:sp>
      <p:sp>
        <p:nvSpPr>
          <p:cNvPr id="11" name="Text 8"/>
          <p:cNvSpPr/>
          <p:nvPr/>
        </p:nvSpPr>
        <p:spPr>
          <a:xfrm>
            <a:off x="4690872"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dfflibmap</a:t>
            </a:r>
            <a:endParaRPr lang="en-US" sz="2050" dirty="0"/>
          </a:p>
        </p:txBody>
      </p:sp>
      <p:sp>
        <p:nvSpPr>
          <p:cNvPr id="12" name="Text 9"/>
          <p:cNvSpPr/>
          <p:nvPr/>
        </p:nvSpPr>
        <p:spPr>
          <a:xfrm>
            <a:off x="4681728"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Estado → FF Liberty</a:t>
            </a:r>
            <a:endParaRPr lang="en-US" sz="1650" dirty="0"/>
          </a:p>
        </p:txBody>
      </p:sp>
      <p:sp>
        <p:nvSpPr>
          <p:cNvPr id="13" name="Shape 10"/>
          <p:cNvSpPr/>
          <p:nvPr/>
        </p:nvSpPr>
        <p:spPr>
          <a:xfrm>
            <a:off x="7653528" y="2971800"/>
            <a:ext cx="594360" cy="0"/>
          </a:xfrm>
          <a:prstGeom prst="line">
            <a:avLst/>
          </a:prstGeom>
          <a:noFill/>
          <a:ln w="25400">
            <a:solidFill>
              <a:srgbClr val="007C83"/>
            </a:solidFill>
            <a:prstDash val="solid"/>
            <a:headEnd type="none"/>
            <a:tailEnd type="triangle"/>
          </a:ln>
        </p:spPr>
      </p:sp>
      <p:sp>
        <p:nvSpPr>
          <p:cNvPr id="14" name="Shape 11"/>
          <p:cNvSpPr/>
          <p:nvPr/>
        </p:nvSpPr>
        <p:spPr>
          <a:xfrm>
            <a:off x="8339328" y="2267712"/>
            <a:ext cx="3127248" cy="1417320"/>
          </a:xfrm>
          <a:prstGeom prst="roundRect">
            <a:avLst>
              <a:gd name="adj" fmla="val 5161"/>
            </a:avLst>
          </a:prstGeom>
          <a:solidFill>
            <a:srgbClr val="FFFFFF"/>
          </a:solidFill>
          <a:ln w="8255">
            <a:solidFill>
              <a:srgbClr val="D9E2E9"/>
            </a:solidFill>
            <a:prstDash val="solid"/>
          </a:ln>
        </p:spPr>
      </p:sp>
      <p:sp>
        <p:nvSpPr>
          <p:cNvPr id="15" name="Text 12"/>
          <p:cNvSpPr/>
          <p:nvPr/>
        </p:nvSpPr>
        <p:spPr>
          <a:xfrm>
            <a:off x="8503920" y="2423160"/>
            <a:ext cx="2798064" cy="448056"/>
          </a:xfrm>
          <a:prstGeom prst="rect">
            <a:avLst/>
          </a:prstGeom>
          <a:noFill/>
          <a:ln/>
        </p:spPr>
        <p:txBody>
          <a:bodyPr wrap="square" lIns="0" tIns="0" rIns="0" bIns="0" rtlCol="0" anchor="t"/>
          <a:lstStyle/>
          <a:p>
            <a:pPr algn="ctr" indent="0" marL="0">
              <a:buNone/>
            </a:pPr>
            <a:r>
              <a:rPr lang="en-US" sz="2050" b="1" dirty="0">
                <a:solidFill>
                  <a:srgbClr val="007C83"/>
                </a:solidFill>
                <a:latin typeface="Arial" pitchFamily="34" charset="0"/>
                <a:ea typeface="Arial" pitchFamily="34" charset="-122"/>
                <a:cs typeface="Arial" pitchFamily="34" charset="-120"/>
              </a:rPr>
              <a:t>ABC -liberty</a:t>
            </a:r>
            <a:endParaRPr lang="en-US" sz="2050" dirty="0"/>
          </a:p>
        </p:txBody>
      </p:sp>
      <p:sp>
        <p:nvSpPr>
          <p:cNvPr id="16" name="Text 13"/>
          <p:cNvSpPr/>
          <p:nvPr/>
        </p:nvSpPr>
        <p:spPr>
          <a:xfrm>
            <a:off x="8494776" y="2926080"/>
            <a:ext cx="2816352" cy="685800"/>
          </a:xfrm>
          <a:prstGeom prst="rect">
            <a:avLst/>
          </a:prstGeom>
          <a:noFill/>
          <a:ln/>
        </p:spPr>
        <p:txBody>
          <a:bodyPr wrap="square" lIns="0" tIns="0" rIns="0" bIns="0" rtlCol="0" anchor="t"/>
          <a:lstStyle/>
          <a:p>
            <a:pPr algn="ctr" indent="0" marL="0">
              <a:buNone/>
            </a:pPr>
            <a:r>
              <a:rPr lang="en-US" sz="1650" dirty="0">
                <a:solidFill>
                  <a:srgbClr val="526474"/>
                </a:solidFill>
                <a:latin typeface="Arial" pitchFamily="34" charset="0"/>
                <a:ea typeface="Arial" pitchFamily="34" charset="-122"/>
                <a:cs typeface="Arial" pitchFamily="34" charset="-120"/>
              </a:rPr>
              <a:t>Lógica → puertas Liberty</a:t>
            </a:r>
            <a:endParaRPr lang="en-US" sz="1650" dirty="0"/>
          </a:p>
        </p:txBody>
      </p:sp>
      <p:sp>
        <p:nvSpPr>
          <p:cNvPr id="17" name="Shape 14"/>
          <p:cNvSpPr/>
          <p:nvPr/>
        </p:nvSpPr>
        <p:spPr>
          <a:xfrm>
            <a:off x="758952" y="4215384"/>
            <a:ext cx="10698480" cy="841248"/>
          </a:xfrm>
          <a:prstGeom prst="roundRect">
            <a:avLst>
              <a:gd name="adj" fmla="val 8696"/>
            </a:avLst>
          </a:prstGeom>
          <a:solidFill>
            <a:srgbClr val="FFFFFF"/>
          </a:solidFill>
          <a:ln w="8255">
            <a:solidFill>
              <a:srgbClr val="D9E2E9"/>
            </a:solidFill>
            <a:prstDash val="solid"/>
          </a:ln>
        </p:spPr>
      </p:sp>
      <p:sp>
        <p:nvSpPr>
          <p:cNvPr id="18" name="Text 15"/>
          <p:cNvSpPr/>
          <p:nvPr/>
        </p:nvSpPr>
        <p:spPr>
          <a:xfrm>
            <a:off x="932688" y="4453128"/>
            <a:ext cx="10351008" cy="448056"/>
          </a:xfrm>
          <a:prstGeom prst="rect">
            <a:avLst/>
          </a:prstGeom>
          <a:noFill/>
          <a:ln/>
        </p:spPr>
        <p:txBody>
          <a:bodyPr wrap="square" lIns="0" tIns="0" rIns="0" bIns="0" rtlCol="0" anchor="t"/>
          <a:lstStyle/>
          <a:p>
            <a:pPr algn="ctr" indent="0" marL="0">
              <a:buNone/>
            </a:pPr>
            <a:r>
              <a:rPr lang="en-US" sz="2200" b="1" dirty="0">
                <a:solidFill>
                  <a:srgbClr val="007C83"/>
                </a:solidFill>
                <a:latin typeface="Arial" pitchFamily="34" charset="0"/>
                <a:ea typeface="Arial" pitchFamily="34" charset="-122"/>
                <a:cs typeface="Arial" pitchFamily="34" charset="-120"/>
              </a:rPr>
              <a:t>Netlist mapeada = instancias concretas + conexiones lógicas</a:t>
            </a:r>
            <a:endParaRPr lang="en-US" sz="2200" dirty="0"/>
          </a:p>
        </p:txBody>
      </p:sp>
      <p:sp>
        <p:nvSpPr>
          <p:cNvPr id="19" name="Shape 16"/>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20" name="Text 17"/>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Se mide el resultado de esa política de mapeo; no un mínimo matemático universal.</a:t>
            </a:r>
            <a:endParaRPr lang="en-US" sz="1550" dirty="0"/>
          </a:p>
        </p:txBody>
      </p:sp>
      <p:sp>
        <p:nvSpPr>
          <p:cNvPr id="21" name="Shape 18"/>
          <p:cNvSpPr/>
          <p:nvPr/>
        </p:nvSpPr>
        <p:spPr>
          <a:xfrm>
            <a:off x="585216" y="6492240"/>
            <a:ext cx="11009376" cy="0"/>
          </a:xfrm>
          <a:prstGeom prst="line">
            <a:avLst/>
          </a:prstGeom>
          <a:noFill/>
          <a:ln w="8890">
            <a:solidFill>
              <a:srgbClr val="D9E2E9"/>
            </a:solidFill>
            <a:prstDash val="solid"/>
            <a:headEnd type="none"/>
            <a:tailEnd type="none"/>
          </a:ln>
        </p:spPr>
      </p:sp>
      <p:sp>
        <p:nvSpPr>
          <p:cNvPr id="22" name="Text 19"/>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F02 · F06 | synth.ys · logs de ABC en run.log.gz</a:t>
            </a:r>
            <a:endParaRPr lang="en-US" sz="870" dirty="0"/>
          </a:p>
        </p:txBody>
      </p:sp>
      <p:sp>
        <p:nvSpPr>
          <p:cNvPr id="23" name="Text 20"/>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22 / 53</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21 · CUENTA VERIFICABLE</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El cálculo de área puede reconstruirse celda por celda</a:t>
            </a:r>
            <a:endParaRPr lang="en-US" sz="2800" dirty="0"/>
          </a:p>
        </p:txBody>
      </p:sp>
      <p:sp>
        <p:nvSpPr>
          <p:cNvPr id="6" name="Shape 3"/>
          <p:cNvSpPr/>
          <p:nvPr/>
        </p:nvSpPr>
        <p:spPr>
          <a:xfrm>
            <a:off x="713232" y="1938528"/>
            <a:ext cx="4160520" cy="429768"/>
          </a:xfrm>
          <a:prstGeom prst="rect">
            <a:avLst/>
          </a:prstGeom>
          <a:solidFill>
            <a:srgbClr val="14293B"/>
          </a:solidFill>
          <a:ln w="8255">
            <a:solidFill>
              <a:srgbClr val="F5F6F8"/>
            </a:solidFill>
            <a:prstDash val="solid"/>
          </a:ln>
        </p:spPr>
      </p:sp>
      <p:sp>
        <p:nvSpPr>
          <p:cNvPr id="7" name="Text 4"/>
          <p:cNvSpPr/>
          <p:nvPr/>
        </p:nvSpPr>
        <p:spPr>
          <a:xfrm>
            <a:off x="804672" y="2002536"/>
            <a:ext cx="397764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Tipo de celda</a:t>
            </a:r>
            <a:endParaRPr lang="en-US" sz="1350" dirty="0"/>
          </a:p>
        </p:txBody>
      </p:sp>
      <p:sp>
        <p:nvSpPr>
          <p:cNvPr id="8" name="Shape 5"/>
          <p:cNvSpPr/>
          <p:nvPr/>
        </p:nvSpPr>
        <p:spPr>
          <a:xfrm>
            <a:off x="4873752" y="1938528"/>
            <a:ext cx="1508760" cy="429768"/>
          </a:xfrm>
          <a:prstGeom prst="rect">
            <a:avLst/>
          </a:prstGeom>
          <a:solidFill>
            <a:srgbClr val="14293B"/>
          </a:solidFill>
          <a:ln w="8255">
            <a:solidFill>
              <a:srgbClr val="F5F6F8"/>
            </a:solidFill>
            <a:prstDash val="solid"/>
          </a:ln>
        </p:spPr>
      </p:sp>
      <p:sp>
        <p:nvSpPr>
          <p:cNvPr id="9" name="Text 6"/>
          <p:cNvSpPr/>
          <p:nvPr/>
        </p:nvSpPr>
        <p:spPr>
          <a:xfrm>
            <a:off x="4965192" y="2002536"/>
            <a:ext cx="132588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Cantidad</a:t>
            </a:r>
            <a:endParaRPr lang="en-US" sz="1350" dirty="0"/>
          </a:p>
        </p:txBody>
      </p:sp>
      <p:sp>
        <p:nvSpPr>
          <p:cNvPr id="10" name="Shape 7"/>
          <p:cNvSpPr/>
          <p:nvPr/>
        </p:nvSpPr>
        <p:spPr>
          <a:xfrm>
            <a:off x="6382512" y="1938528"/>
            <a:ext cx="2331720" cy="429768"/>
          </a:xfrm>
          <a:prstGeom prst="rect">
            <a:avLst/>
          </a:prstGeom>
          <a:solidFill>
            <a:srgbClr val="14293B"/>
          </a:solidFill>
          <a:ln w="8255">
            <a:solidFill>
              <a:srgbClr val="F5F6F8"/>
            </a:solidFill>
            <a:prstDash val="solid"/>
          </a:ln>
        </p:spPr>
      </p:sp>
      <p:sp>
        <p:nvSpPr>
          <p:cNvPr id="11" name="Text 8"/>
          <p:cNvSpPr/>
          <p:nvPr/>
        </p:nvSpPr>
        <p:spPr>
          <a:xfrm>
            <a:off x="6473952" y="2002536"/>
            <a:ext cx="214884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Área unitaria · µm²</a:t>
            </a:r>
            <a:endParaRPr lang="en-US" sz="1350" dirty="0"/>
          </a:p>
        </p:txBody>
      </p:sp>
      <p:sp>
        <p:nvSpPr>
          <p:cNvPr id="12" name="Shape 9"/>
          <p:cNvSpPr/>
          <p:nvPr/>
        </p:nvSpPr>
        <p:spPr>
          <a:xfrm>
            <a:off x="8714232" y="1938528"/>
            <a:ext cx="2286000" cy="429768"/>
          </a:xfrm>
          <a:prstGeom prst="rect">
            <a:avLst/>
          </a:prstGeom>
          <a:solidFill>
            <a:srgbClr val="14293B"/>
          </a:solidFill>
          <a:ln w="8255">
            <a:solidFill>
              <a:srgbClr val="F5F6F8"/>
            </a:solidFill>
            <a:prstDash val="solid"/>
          </a:ln>
        </p:spPr>
      </p:sp>
      <p:sp>
        <p:nvSpPr>
          <p:cNvPr id="13" name="Text 10"/>
          <p:cNvSpPr/>
          <p:nvPr/>
        </p:nvSpPr>
        <p:spPr>
          <a:xfrm>
            <a:off x="8805672" y="2002536"/>
            <a:ext cx="210312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Subtotal · µm²</a:t>
            </a:r>
            <a:endParaRPr lang="en-US" sz="1350" dirty="0"/>
          </a:p>
        </p:txBody>
      </p:sp>
      <p:sp>
        <p:nvSpPr>
          <p:cNvPr id="14" name="Shape 11"/>
          <p:cNvSpPr/>
          <p:nvPr/>
        </p:nvSpPr>
        <p:spPr>
          <a:xfrm>
            <a:off x="713232" y="2368296"/>
            <a:ext cx="4160520" cy="594360"/>
          </a:xfrm>
          <a:prstGeom prst="rect">
            <a:avLst/>
          </a:prstGeom>
          <a:solidFill>
            <a:srgbClr val="FFFFFF"/>
          </a:solidFill>
          <a:ln w="8255">
            <a:solidFill>
              <a:srgbClr val="F5F6F8"/>
            </a:solidFill>
            <a:prstDash val="solid"/>
          </a:ln>
        </p:spPr>
      </p:sp>
      <p:sp>
        <p:nvSpPr>
          <p:cNvPr id="15" name="Text 12"/>
          <p:cNvSpPr/>
          <p:nvPr/>
        </p:nvSpPr>
        <p:spPr>
          <a:xfrm>
            <a:off x="804672" y="2432304"/>
            <a:ext cx="3977640" cy="50292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NOR2_X1</a:t>
            </a:r>
            <a:endParaRPr lang="en-US" sz="1600" dirty="0"/>
          </a:p>
        </p:txBody>
      </p:sp>
      <p:sp>
        <p:nvSpPr>
          <p:cNvPr id="16" name="Shape 13"/>
          <p:cNvSpPr/>
          <p:nvPr/>
        </p:nvSpPr>
        <p:spPr>
          <a:xfrm>
            <a:off x="4873752" y="2368296"/>
            <a:ext cx="1508760" cy="594360"/>
          </a:xfrm>
          <a:prstGeom prst="rect">
            <a:avLst/>
          </a:prstGeom>
          <a:solidFill>
            <a:srgbClr val="FFFFFF"/>
          </a:solidFill>
          <a:ln w="8255">
            <a:solidFill>
              <a:srgbClr val="F5F6F8"/>
            </a:solidFill>
            <a:prstDash val="solid"/>
          </a:ln>
        </p:spPr>
      </p:sp>
      <p:sp>
        <p:nvSpPr>
          <p:cNvPr id="17" name="Text 14"/>
          <p:cNvSpPr/>
          <p:nvPr/>
        </p:nvSpPr>
        <p:spPr>
          <a:xfrm>
            <a:off x="4965192" y="2432304"/>
            <a:ext cx="1325880" cy="50292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798</a:t>
            </a:r>
            <a:endParaRPr lang="en-US" sz="1600" dirty="0"/>
          </a:p>
        </p:txBody>
      </p:sp>
      <p:sp>
        <p:nvSpPr>
          <p:cNvPr id="18" name="Shape 15"/>
          <p:cNvSpPr/>
          <p:nvPr/>
        </p:nvSpPr>
        <p:spPr>
          <a:xfrm>
            <a:off x="6382512" y="2368296"/>
            <a:ext cx="2331720" cy="594360"/>
          </a:xfrm>
          <a:prstGeom prst="rect">
            <a:avLst/>
          </a:prstGeom>
          <a:solidFill>
            <a:srgbClr val="FFFFFF"/>
          </a:solidFill>
          <a:ln w="8255">
            <a:solidFill>
              <a:srgbClr val="F5F6F8"/>
            </a:solidFill>
            <a:prstDash val="solid"/>
          </a:ln>
        </p:spPr>
      </p:sp>
      <p:sp>
        <p:nvSpPr>
          <p:cNvPr id="19" name="Text 16"/>
          <p:cNvSpPr/>
          <p:nvPr/>
        </p:nvSpPr>
        <p:spPr>
          <a:xfrm>
            <a:off x="6473952" y="2432304"/>
            <a:ext cx="2148840" cy="50292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0,798</a:t>
            </a:r>
            <a:endParaRPr lang="en-US" sz="1600" dirty="0"/>
          </a:p>
        </p:txBody>
      </p:sp>
      <p:sp>
        <p:nvSpPr>
          <p:cNvPr id="20" name="Shape 17"/>
          <p:cNvSpPr/>
          <p:nvPr/>
        </p:nvSpPr>
        <p:spPr>
          <a:xfrm>
            <a:off x="8714232" y="2368296"/>
            <a:ext cx="2286000" cy="594360"/>
          </a:xfrm>
          <a:prstGeom prst="rect">
            <a:avLst/>
          </a:prstGeom>
          <a:solidFill>
            <a:srgbClr val="FFFFFF"/>
          </a:solidFill>
          <a:ln w="8255">
            <a:solidFill>
              <a:srgbClr val="F5F6F8"/>
            </a:solidFill>
            <a:prstDash val="solid"/>
          </a:ln>
        </p:spPr>
      </p:sp>
      <p:sp>
        <p:nvSpPr>
          <p:cNvPr id="21" name="Text 18"/>
          <p:cNvSpPr/>
          <p:nvPr/>
        </p:nvSpPr>
        <p:spPr>
          <a:xfrm>
            <a:off x="8805672" y="2432304"/>
            <a:ext cx="2103120" cy="50292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636,804</a:t>
            </a:r>
            <a:endParaRPr lang="en-US" sz="1600" dirty="0"/>
          </a:p>
        </p:txBody>
      </p:sp>
      <p:sp>
        <p:nvSpPr>
          <p:cNvPr id="22" name="Shape 19"/>
          <p:cNvSpPr/>
          <p:nvPr/>
        </p:nvSpPr>
        <p:spPr>
          <a:xfrm>
            <a:off x="713232" y="2962656"/>
            <a:ext cx="4160520" cy="594360"/>
          </a:xfrm>
          <a:prstGeom prst="rect">
            <a:avLst/>
          </a:prstGeom>
          <a:solidFill>
            <a:srgbClr val="EAF0F5"/>
          </a:solidFill>
          <a:ln w="8255">
            <a:solidFill>
              <a:srgbClr val="F5F6F8"/>
            </a:solidFill>
            <a:prstDash val="solid"/>
          </a:ln>
        </p:spPr>
      </p:sp>
      <p:sp>
        <p:nvSpPr>
          <p:cNvPr id="23" name="Text 20"/>
          <p:cNvSpPr/>
          <p:nvPr/>
        </p:nvSpPr>
        <p:spPr>
          <a:xfrm>
            <a:off x="804672" y="3026664"/>
            <a:ext cx="3977640" cy="50292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NOR4_X1</a:t>
            </a:r>
            <a:endParaRPr lang="en-US" sz="1600" dirty="0"/>
          </a:p>
        </p:txBody>
      </p:sp>
      <p:sp>
        <p:nvSpPr>
          <p:cNvPr id="24" name="Shape 21"/>
          <p:cNvSpPr/>
          <p:nvPr/>
        </p:nvSpPr>
        <p:spPr>
          <a:xfrm>
            <a:off x="4873752" y="2962656"/>
            <a:ext cx="1508760" cy="594360"/>
          </a:xfrm>
          <a:prstGeom prst="rect">
            <a:avLst/>
          </a:prstGeom>
          <a:solidFill>
            <a:srgbClr val="EAF0F5"/>
          </a:solidFill>
          <a:ln w="8255">
            <a:solidFill>
              <a:srgbClr val="F5F6F8"/>
            </a:solidFill>
            <a:prstDash val="solid"/>
          </a:ln>
        </p:spPr>
      </p:sp>
      <p:sp>
        <p:nvSpPr>
          <p:cNvPr id="25" name="Text 22"/>
          <p:cNvSpPr/>
          <p:nvPr/>
        </p:nvSpPr>
        <p:spPr>
          <a:xfrm>
            <a:off x="4965192" y="3026664"/>
            <a:ext cx="1325880" cy="50292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430</a:t>
            </a:r>
            <a:endParaRPr lang="en-US" sz="1600" dirty="0"/>
          </a:p>
        </p:txBody>
      </p:sp>
      <p:sp>
        <p:nvSpPr>
          <p:cNvPr id="26" name="Shape 23"/>
          <p:cNvSpPr/>
          <p:nvPr/>
        </p:nvSpPr>
        <p:spPr>
          <a:xfrm>
            <a:off x="6382512" y="2962656"/>
            <a:ext cx="2331720" cy="594360"/>
          </a:xfrm>
          <a:prstGeom prst="rect">
            <a:avLst/>
          </a:prstGeom>
          <a:solidFill>
            <a:srgbClr val="EAF0F5"/>
          </a:solidFill>
          <a:ln w="8255">
            <a:solidFill>
              <a:srgbClr val="F5F6F8"/>
            </a:solidFill>
            <a:prstDash val="solid"/>
          </a:ln>
        </p:spPr>
      </p:sp>
      <p:sp>
        <p:nvSpPr>
          <p:cNvPr id="27" name="Text 24"/>
          <p:cNvSpPr/>
          <p:nvPr/>
        </p:nvSpPr>
        <p:spPr>
          <a:xfrm>
            <a:off x="6473952" y="3026664"/>
            <a:ext cx="2148840" cy="50292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1,330</a:t>
            </a:r>
            <a:endParaRPr lang="en-US" sz="1600" dirty="0"/>
          </a:p>
        </p:txBody>
      </p:sp>
      <p:sp>
        <p:nvSpPr>
          <p:cNvPr id="28" name="Shape 25"/>
          <p:cNvSpPr/>
          <p:nvPr/>
        </p:nvSpPr>
        <p:spPr>
          <a:xfrm>
            <a:off x="8714232" y="2962656"/>
            <a:ext cx="2286000" cy="594360"/>
          </a:xfrm>
          <a:prstGeom prst="rect">
            <a:avLst/>
          </a:prstGeom>
          <a:solidFill>
            <a:srgbClr val="EAF0F5"/>
          </a:solidFill>
          <a:ln w="8255">
            <a:solidFill>
              <a:srgbClr val="F5F6F8"/>
            </a:solidFill>
            <a:prstDash val="solid"/>
          </a:ln>
        </p:spPr>
      </p:sp>
      <p:sp>
        <p:nvSpPr>
          <p:cNvPr id="29" name="Text 26"/>
          <p:cNvSpPr/>
          <p:nvPr/>
        </p:nvSpPr>
        <p:spPr>
          <a:xfrm>
            <a:off x="8805672" y="3026664"/>
            <a:ext cx="2103120" cy="50292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571,900</a:t>
            </a:r>
            <a:endParaRPr lang="en-US" sz="1600" dirty="0"/>
          </a:p>
        </p:txBody>
      </p:sp>
      <p:sp>
        <p:nvSpPr>
          <p:cNvPr id="30" name="Shape 27"/>
          <p:cNvSpPr/>
          <p:nvPr/>
        </p:nvSpPr>
        <p:spPr>
          <a:xfrm>
            <a:off x="713232" y="3557016"/>
            <a:ext cx="4160520" cy="594360"/>
          </a:xfrm>
          <a:prstGeom prst="rect">
            <a:avLst/>
          </a:prstGeom>
          <a:solidFill>
            <a:srgbClr val="FFFFFF"/>
          </a:solidFill>
          <a:ln w="8255">
            <a:solidFill>
              <a:srgbClr val="F5F6F8"/>
            </a:solidFill>
            <a:prstDash val="solid"/>
          </a:ln>
        </p:spPr>
      </p:sp>
      <p:sp>
        <p:nvSpPr>
          <p:cNvPr id="31" name="Text 28"/>
          <p:cNvSpPr/>
          <p:nvPr/>
        </p:nvSpPr>
        <p:spPr>
          <a:xfrm>
            <a:off x="804672" y="3621024"/>
            <a:ext cx="3977640" cy="50292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NAND4_X1</a:t>
            </a:r>
            <a:endParaRPr lang="en-US" sz="1600" dirty="0"/>
          </a:p>
        </p:txBody>
      </p:sp>
      <p:sp>
        <p:nvSpPr>
          <p:cNvPr id="32" name="Shape 29"/>
          <p:cNvSpPr/>
          <p:nvPr/>
        </p:nvSpPr>
        <p:spPr>
          <a:xfrm>
            <a:off x="4873752" y="3557016"/>
            <a:ext cx="1508760" cy="594360"/>
          </a:xfrm>
          <a:prstGeom prst="rect">
            <a:avLst/>
          </a:prstGeom>
          <a:solidFill>
            <a:srgbClr val="FFFFFF"/>
          </a:solidFill>
          <a:ln w="8255">
            <a:solidFill>
              <a:srgbClr val="F5F6F8"/>
            </a:solidFill>
            <a:prstDash val="solid"/>
          </a:ln>
        </p:spPr>
      </p:sp>
      <p:sp>
        <p:nvSpPr>
          <p:cNvPr id="33" name="Text 30"/>
          <p:cNvSpPr/>
          <p:nvPr/>
        </p:nvSpPr>
        <p:spPr>
          <a:xfrm>
            <a:off x="4965192" y="3621024"/>
            <a:ext cx="1325880" cy="50292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415</a:t>
            </a:r>
            <a:endParaRPr lang="en-US" sz="1600" dirty="0"/>
          </a:p>
        </p:txBody>
      </p:sp>
      <p:sp>
        <p:nvSpPr>
          <p:cNvPr id="34" name="Shape 31"/>
          <p:cNvSpPr/>
          <p:nvPr/>
        </p:nvSpPr>
        <p:spPr>
          <a:xfrm>
            <a:off x="6382512" y="3557016"/>
            <a:ext cx="2331720" cy="594360"/>
          </a:xfrm>
          <a:prstGeom prst="rect">
            <a:avLst/>
          </a:prstGeom>
          <a:solidFill>
            <a:srgbClr val="FFFFFF"/>
          </a:solidFill>
          <a:ln w="8255">
            <a:solidFill>
              <a:srgbClr val="F5F6F8"/>
            </a:solidFill>
            <a:prstDash val="solid"/>
          </a:ln>
        </p:spPr>
      </p:sp>
      <p:sp>
        <p:nvSpPr>
          <p:cNvPr id="35" name="Text 32"/>
          <p:cNvSpPr/>
          <p:nvPr/>
        </p:nvSpPr>
        <p:spPr>
          <a:xfrm>
            <a:off x="6473952" y="3621024"/>
            <a:ext cx="2148840" cy="50292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1,330</a:t>
            </a:r>
            <a:endParaRPr lang="en-US" sz="1600" dirty="0"/>
          </a:p>
        </p:txBody>
      </p:sp>
      <p:sp>
        <p:nvSpPr>
          <p:cNvPr id="36" name="Shape 33"/>
          <p:cNvSpPr/>
          <p:nvPr/>
        </p:nvSpPr>
        <p:spPr>
          <a:xfrm>
            <a:off x="8714232" y="3557016"/>
            <a:ext cx="2286000" cy="594360"/>
          </a:xfrm>
          <a:prstGeom prst="rect">
            <a:avLst/>
          </a:prstGeom>
          <a:solidFill>
            <a:srgbClr val="FFFFFF"/>
          </a:solidFill>
          <a:ln w="8255">
            <a:solidFill>
              <a:srgbClr val="F5F6F8"/>
            </a:solidFill>
            <a:prstDash val="solid"/>
          </a:ln>
        </p:spPr>
      </p:sp>
      <p:sp>
        <p:nvSpPr>
          <p:cNvPr id="37" name="Text 34"/>
          <p:cNvSpPr/>
          <p:nvPr/>
        </p:nvSpPr>
        <p:spPr>
          <a:xfrm>
            <a:off x="8805672" y="3621024"/>
            <a:ext cx="2103120" cy="50292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551,950</a:t>
            </a:r>
            <a:endParaRPr lang="en-US" sz="1600" dirty="0"/>
          </a:p>
        </p:txBody>
      </p:sp>
      <p:sp>
        <p:nvSpPr>
          <p:cNvPr id="38" name="Shape 35"/>
          <p:cNvSpPr/>
          <p:nvPr/>
        </p:nvSpPr>
        <p:spPr>
          <a:xfrm>
            <a:off x="713232" y="4151376"/>
            <a:ext cx="4160520" cy="594360"/>
          </a:xfrm>
          <a:prstGeom prst="rect">
            <a:avLst/>
          </a:prstGeom>
          <a:solidFill>
            <a:srgbClr val="EAF0F5"/>
          </a:solidFill>
          <a:ln w="8255">
            <a:solidFill>
              <a:srgbClr val="F5F6F8"/>
            </a:solidFill>
            <a:prstDash val="solid"/>
          </a:ln>
        </p:spPr>
      </p:sp>
      <p:sp>
        <p:nvSpPr>
          <p:cNvPr id="39" name="Text 36"/>
          <p:cNvSpPr/>
          <p:nvPr/>
        </p:nvSpPr>
        <p:spPr>
          <a:xfrm>
            <a:off x="804672" y="4215384"/>
            <a:ext cx="3977640" cy="50292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DFF_X1</a:t>
            </a:r>
            <a:endParaRPr lang="en-US" sz="1600" dirty="0"/>
          </a:p>
        </p:txBody>
      </p:sp>
      <p:sp>
        <p:nvSpPr>
          <p:cNvPr id="40" name="Shape 37"/>
          <p:cNvSpPr/>
          <p:nvPr/>
        </p:nvSpPr>
        <p:spPr>
          <a:xfrm>
            <a:off x="4873752" y="4151376"/>
            <a:ext cx="1508760" cy="594360"/>
          </a:xfrm>
          <a:prstGeom prst="rect">
            <a:avLst/>
          </a:prstGeom>
          <a:solidFill>
            <a:srgbClr val="EAF0F5"/>
          </a:solidFill>
          <a:ln w="8255">
            <a:solidFill>
              <a:srgbClr val="F5F6F8"/>
            </a:solidFill>
            <a:prstDash val="solid"/>
          </a:ln>
        </p:spPr>
      </p:sp>
      <p:sp>
        <p:nvSpPr>
          <p:cNvPr id="41" name="Text 38"/>
          <p:cNvSpPr/>
          <p:nvPr/>
        </p:nvSpPr>
        <p:spPr>
          <a:xfrm>
            <a:off x="4965192" y="4215384"/>
            <a:ext cx="1325880" cy="50292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96</a:t>
            </a:r>
            <a:endParaRPr lang="en-US" sz="1600" dirty="0"/>
          </a:p>
        </p:txBody>
      </p:sp>
      <p:sp>
        <p:nvSpPr>
          <p:cNvPr id="42" name="Shape 39"/>
          <p:cNvSpPr/>
          <p:nvPr/>
        </p:nvSpPr>
        <p:spPr>
          <a:xfrm>
            <a:off x="6382512" y="4151376"/>
            <a:ext cx="2331720" cy="594360"/>
          </a:xfrm>
          <a:prstGeom prst="rect">
            <a:avLst/>
          </a:prstGeom>
          <a:solidFill>
            <a:srgbClr val="EAF0F5"/>
          </a:solidFill>
          <a:ln w="8255">
            <a:solidFill>
              <a:srgbClr val="F5F6F8"/>
            </a:solidFill>
            <a:prstDash val="solid"/>
          </a:ln>
        </p:spPr>
      </p:sp>
      <p:sp>
        <p:nvSpPr>
          <p:cNvPr id="43" name="Text 40"/>
          <p:cNvSpPr/>
          <p:nvPr/>
        </p:nvSpPr>
        <p:spPr>
          <a:xfrm>
            <a:off x="6473952" y="4215384"/>
            <a:ext cx="2148840" cy="50292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4,522</a:t>
            </a:r>
            <a:endParaRPr lang="en-US" sz="1600" dirty="0"/>
          </a:p>
        </p:txBody>
      </p:sp>
      <p:sp>
        <p:nvSpPr>
          <p:cNvPr id="44" name="Shape 41"/>
          <p:cNvSpPr/>
          <p:nvPr/>
        </p:nvSpPr>
        <p:spPr>
          <a:xfrm>
            <a:off x="8714232" y="4151376"/>
            <a:ext cx="2286000" cy="594360"/>
          </a:xfrm>
          <a:prstGeom prst="rect">
            <a:avLst/>
          </a:prstGeom>
          <a:solidFill>
            <a:srgbClr val="EAF0F5"/>
          </a:solidFill>
          <a:ln w="8255">
            <a:solidFill>
              <a:srgbClr val="F5F6F8"/>
            </a:solidFill>
            <a:prstDash val="solid"/>
          </a:ln>
        </p:spPr>
      </p:sp>
      <p:sp>
        <p:nvSpPr>
          <p:cNvPr id="45" name="Text 42"/>
          <p:cNvSpPr/>
          <p:nvPr/>
        </p:nvSpPr>
        <p:spPr>
          <a:xfrm>
            <a:off x="8805672" y="4215384"/>
            <a:ext cx="2103120" cy="50292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434,112</a:t>
            </a:r>
            <a:endParaRPr lang="en-US" sz="1600" dirty="0"/>
          </a:p>
        </p:txBody>
      </p:sp>
      <p:sp>
        <p:nvSpPr>
          <p:cNvPr id="46" name="Shape 43"/>
          <p:cNvSpPr/>
          <p:nvPr/>
        </p:nvSpPr>
        <p:spPr>
          <a:xfrm>
            <a:off x="713232" y="4745736"/>
            <a:ext cx="4160520" cy="594360"/>
          </a:xfrm>
          <a:prstGeom prst="rect">
            <a:avLst/>
          </a:prstGeom>
          <a:solidFill>
            <a:srgbClr val="FFFFFF"/>
          </a:solidFill>
          <a:ln w="8255">
            <a:solidFill>
              <a:srgbClr val="F5F6F8"/>
            </a:solidFill>
            <a:prstDash val="solid"/>
          </a:ln>
        </p:spPr>
      </p:sp>
      <p:sp>
        <p:nvSpPr>
          <p:cNvPr id="47" name="Text 44"/>
          <p:cNvSpPr/>
          <p:nvPr/>
        </p:nvSpPr>
        <p:spPr>
          <a:xfrm>
            <a:off x="804672" y="4809744"/>
            <a:ext cx="3977640" cy="50292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Otros tipos combinacionales</a:t>
            </a:r>
            <a:endParaRPr lang="en-US" sz="1600" dirty="0"/>
          </a:p>
        </p:txBody>
      </p:sp>
      <p:sp>
        <p:nvSpPr>
          <p:cNvPr id="48" name="Shape 45"/>
          <p:cNvSpPr/>
          <p:nvPr/>
        </p:nvSpPr>
        <p:spPr>
          <a:xfrm>
            <a:off x="4873752" y="4745736"/>
            <a:ext cx="1508760" cy="594360"/>
          </a:xfrm>
          <a:prstGeom prst="rect">
            <a:avLst/>
          </a:prstGeom>
          <a:solidFill>
            <a:srgbClr val="FFFFFF"/>
          </a:solidFill>
          <a:ln w="8255">
            <a:solidFill>
              <a:srgbClr val="F5F6F8"/>
            </a:solidFill>
            <a:prstDash val="solid"/>
          </a:ln>
        </p:spPr>
      </p:sp>
      <p:sp>
        <p:nvSpPr>
          <p:cNvPr id="49" name="Text 46"/>
          <p:cNvSpPr/>
          <p:nvPr/>
        </p:nvSpPr>
        <p:spPr>
          <a:xfrm>
            <a:off x="4965192" y="4809744"/>
            <a:ext cx="1325880" cy="50292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4724</a:t>
            </a:r>
            <a:endParaRPr lang="en-US" sz="1600" dirty="0"/>
          </a:p>
        </p:txBody>
      </p:sp>
      <p:sp>
        <p:nvSpPr>
          <p:cNvPr id="50" name="Shape 47"/>
          <p:cNvSpPr/>
          <p:nvPr/>
        </p:nvSpPr>
        <p:spPr>
          <a:xfrm>
            <a:off x="6382512" y="4745736"/>
            <a:ext cx="2331720" cy="594360"/>
          </a:xfrm>
          <a:prstGeom prst="rect">
            <a:avLst/>
          </a:prstGeom>
          <a:solidFill>
            <a:srgbClr val="FFFFFF"/>
          </a:solidFill>
          <a:ln w="8255">
            <a:solidFill>
              <a:srgbClr val="F5F6F8"/>
            </a:solidFill>
            <a:prstDash val="solid"/>
          </a:ln>
        </p:spPr>
      </p:sp>
      <p:sp>
        <p:nvSpPr>
          <p:cNvPr id="51" name="Text 48"/>
          <p:cNvSpPr/>
          <p:nvPr/>
        </p:nvSpPr>
        <p:spPr>
          <a:xfrm>
            <a:off x="6473952" y="4809744"/>
            <a:ext cx="2148840" cy="50292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Variable</a:t>
            </a:r>
            <a:endParaRPr lang="en-US" sz="1600" dirty="0"/>
          </a:p>
        </p:txBody>
      </p:sp>
      <p:sp>
        <p:nvSpPr>
          <p:cNvPr id="52" name="Shape 49"/>
          <p:cNvSpPr/>
          <p:nvPr/>
        </p:nvSpPr>
        <p:spPr>
          <a:xfrm>
            <a:off x="8714232" y="4745736"/>
            <a:ext cx="2286000" cy="594360"/>
          </a:xfrm>
          <a:prstGeom prst="rect">
            <a:avLst/>
          </a:prstGeom>
          <a:solidFill>
            <a:srgbClr val="FFFFFF"/>
          </a:solidFill>
          <a:ln w="8255">
            <a:solidFill>
              <a:srgbClr val="F5F6F8"/>
            </a:solidFill>
            <a:prstDash val="solid"/>
          </a:ln>
        </p:spPr>
      </p:sp>
      <p:sp>
        <p:nvSpPr>
          <p:cNvPr id="53" name="Text 50"/>
          <p:cNvSpPr/>
          <p:nvPr/>
        </p:nvSpPr>
        <p:spPr>
          <a:xfrm>
            <a:off x="8805672" y="4809744"/>
            <a:ext cx="2103120" cy="50292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5.384,106</a:t>
            </a:r>
            <a:endParaRPr lang="en-US" sz="1600" dirty="0"/>
          </a:p>
        </p:txBody>
      </p:sp>
      <p:sp>
        <p:nvSpPr>
          <p:cNvPr id="54" name="Shape 51"/>
          <p:cNvSpPr/>
          <p:nvPr/>
        </p:nvSpPr>
        <p:spPr>
          <a:xfrm>
            <a:off x="713232" y="5340096"/>
            <a:ext cx="4160520" cy="594360"/>
          </a:xfrm>
          <a:prstGeom prst="rect">
            <a:avLst/>
          </a:prstGeom>
          <a:solidFill>
            <a:srgbClr val="EAF0F5"/>
          </a:solidFill>
          <a:ln w="8255">
            <a:solidFill>
              <a:srgbClr val="F5F6F8"/>
            </a:solidFill>
            <a:prstDash val="solid"/>
          </a:ln>
        </p:spPr>
      </p:sp>
      <p:sp>
        <p:nvSpPr>
          <p:cNvPr id="55" name="Text 52"/>
          <p:cNvSpPr/>
          <p:nvPr/>
        </p:nvSpPr>
        <p:spPr>
          <a:xfrm>
            <a:off x="804672" y="5404104"/>
            <a:ext cx="3977640" cy="50292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TOTAL</a:t>
            </a:r>
            <a:endParaRPr lang="en-US" sz="1600" dirty="0"/>
          </a:p>
        </p:txBody>
      </p:sp>
      <p:sp>
        <p:nvSpPr>
          <p:cNvPr id="56" name="Shape 53"/>
          <p:cNvSpPr/>
          <p:nvPr/>
        </p:nvSpPr>
        <p:spPr>
          <a:xfrm>
            <a:off x="4873752" y="5340096"/>
            <a:ext cx="1508760" cy="594360"/>
          </a:xfrm>
          <a:prstGeom prst="rect">
            <a:avLst/>
          </a:prstGeom>
          <a:solidFill>
            <a:srgbClr val="EAF0F5"/>
          </a:solidFill>
          <a:ln w="8255">
            <a:solidFill>
              <a:srgbClr val="F5F6F8"/>
            </a:solidFill>
            <a:prstDash val="solid"/>
          </a:ln>
        </p:spPr>
      </p:sp>
      <p:sp>
        <p:nvSpPr>
          <p:cNvPr id="57" name="Text 54"/>
          <p:cNvSpPr/>
          <p:nvPr/>
        </p:nvSpPr>
        <p:spPr>
          <a:xfrm>
            <a:off x="4965192" y="5404104"/>
            <a:ext cx="1325880" cy="50292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6463</a:t>
            </a:r>
            <a:endParaRPr lang="en-US" sz="1600" dirty="0"/>
          </a:p>
        </p:txBody>
      </p:sp>
      <p:sp>
        <p:nvSpPr>
          <p:cNvPr id="58" name="Shape 55"/>
          <p:cNvSpPr/>
          <p:nvPr/>
        </p:nvSpPr>
        <p:spPr>
          <a:xfrm>
            <a:off x="6382512" y="5340096"/>
            <a:ext cx="2331720" cy="594360"/>
          </a:xfrm>
          <a:prstGeom prst="rect">
            <a:avLst/>
          </a:prstGeom>
          <a:solidFill>
            <a:srgbClr val="EAF0F5"/>
          </a:solidFill>
          <a:ln w="8255">
            <a:solidFill>
              <a:srgbClr val="F5F6F8"/>
            </a:solidFill>
            <a:prstDash val="solid"/>
          </a:ln>
        </p:spPr>
      </p:sp>
      <p:sp>
        <p:nvSpPr>
          <p:cNvPr id="59" name="Text 56"/>
          <p:cNvSpPr/>
          <p:nvPr/>
        </p:nvSpPr>
        <p:spPr>
          <a:xfrm>
            <a:off x="6473952" y="5404104"/>
            <a:ext cx="2148840" cy="50292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a:t>
            </a:r>
            <a:endParaRPr lang="en-US" sz="1600" dirty="0"/>
          </a:p>
        </p:txBody>
      </p:sp>
      <p:sp>
        <p:nvSpPr>
          <p:cNvPr id="60" name="Shape 57"/>
          <p:cNvSpPr/>
          <p:nvPr/>
        </p:nvSpPr>
        <p:spPr>
          <a:xfrm>
            <a:off x="8714232" y="5340096"/>
            <a:ext cx="2286000" cy="594360"/>
          </a:xfrm>
          <a:prstGeom prst="rect">
            <a:avLst/>
          </a:prstGeom>
          <a:solidFill>
            <a:srgbClr val="EAF0F5"/>
          </a:solidFill>
          <a:ln w="8255">
            <a:solidFill>
              <a:srgbClr val="F5F6F8"/>
            </a:solidFill>
            <a:prstDash val="solid"/>
          </a:ln>
        </p:spPr>
      </p:sp>
      <p:sp>
        <p:nvSpPr>
          <p:cNvPr id="61" name="Text 58"/>
          <p:cNvSpPr/>
          <p:nvPr/>
        </p:nvSpPr>
        <p:spPr>
          <a:xfrm>
            <a:off x="8805672" y="5404104"/>
            <a:ext cx="2103120" cy="50292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7.578,872</a:t>
            </a:r>
            <a:endParaRPr lang="en-US" sz="1600" dirty="0"/>
          </a:p>
        </p:txBody>
      </p:sp>
      <p:sp>
        <p:nvSpPr>
          <p:cNvPr id="62" name="Shape 59"/>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63" name="Text 60"/>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Contar instancias × área de celda es distinto de estimar área con LUT, tamaño de archivo o nodo.</a:t>
            </a:r>
            <a:endParaRPr lang="en-US" sz="1550" dirty="0"/>
          </a:p>
        </p:txBody>
      </p:sp>
      <p:sp>
        <p:nvSpPr>
          <p:cNvPr id="64" name="Shape 61"/>
          <p:cNvSpPr/>
          <p:nvPr/>
        </p:nvSpPr>
        <p:spPr>
          <a:xfrm>
            <a:off x="585216" y="6492240"/>
            <a:ext cx="11009376" cy="0"/>
          </a:xfrm>
          <a:prstGeom prst="line">
            <a:avLst/>
          </a:prstGeom>
          <a:noFill/>
          <a:ln w="8890">
            <a:solidFill>
              <a:srgbClr val="D9E2E9"/>
            </a:solidFill>
            <a:prstDash val="solid"/>
            <a:headEnd type="none"/>
            <a:tailEnd type="none"/>
          </a:ln>
        </p:spPr>
      </p:sp>
      <p:sp>
        <p:nvSpPr>
          <p:cNvPr id="65" name="Text 62"/>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F04 · F11 | int8_16/nangate45/report.json · stat.json · cells.lib</a:t>
            </a:r>
            <a:endParaRPr lang="en-US" sz="870" dirty="0"/>
          </a:p>
        </p:txBody>
      </p:sp>
      <p:sp>
        <p:nvSpPr>
          <p:cNvPr id="66" name="Text 63"/>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23 / 53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22 · CONTABILIDAD Y RECHAZOS</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La clasificación distingue lógica, FF, latches y macros por semántica</a:t>
            </a:r>
            <a:endParaRPr lang="en-US" sz="2800" dirty="0"/>
          </a:p>
        </p:txBody>
      </p:sp>
      <p:sp>
        <p:nvSpPr>
          <p:cNvPr id="6" name="Shape 3"/>
          <p:cNvSpPr/>
          <p:nvPr/>
        </p:nvSpPr>
        <p:spPr>
          <a:xfrm>
            <a:off x="685800" y="1920240"/>
            <a:ext cx="6903720" cy="3767328"/>
          </a:xfrm>
          <a:prstGeom prst="roundRect">
            <a:avLst>
              <a:gd name="adj" fmla="val 2427"/>
            </a:avLst>
          </a:prstGeom>
          <a:solidFill>
            <a:srgbClr val="102331"/>
          </a:solidFill>
          <a:ln w="8255">
            <a:solidFill>
              <a:srgbClr val="102331"/>
            </a:solidFill>
            <a:prstDash val="solid"/>
          </a:ln>
        </p:spPr>
      </p:sp>
      <p:sp>
        <p:nvSpPr>
          <p:cNvPr id="7" name="Text 4"/>
          <p:cNvSpPr/>
          <p:nvPr/>
        </p:nvSpPr>
        <p:spPr>
          <a:xfrm>
            <a:off x="859536" y="2121408"/>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counts = Counter(</a:t>
            </a:r>
            <a:endParaRPr lang="en-US" sz="1360" dirty="0"/>
          </a:p>
        </p:txBody>
      </p:sp>
      <p:sp>
        <p:nvSpPr>
          <p:cNvPr id="8" name="Text 5"/>
          <p:cNvSpPr/>
          <p:nvPr/>
        </p:nvSpPr>
        <p:spPr>
          <a:xfrm>
            <a:off x="859536" y="2432304"/>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  cell["type"] for cell in module["cells"].values()</a:t>
            </a:r>
            <a:endParaRPr lang="en-US" sz="1360" dirty="0"/>
          </a:p>
        </p:txBody>
      </p:sp>
      <p:sp>
        <p:nvSpPr>
          <p:cNvPr id="9" name="Text 6"/>
          <p:cNvSpPr/>
          <p:nvPr/>
        </p:nvSpPr>
        <p:spPr>
          <a:xfrm>
            <a:off x="859536" y="2743200"/>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a:t>
            </a:r>
            <a:endParaRPr lang="en-US" sz="1360" dirty="0"/>
          </a:p>
        </p:txBody>
      </p:sp>
      <p:sp>
        <p:nvSpPr>
          <p:cNvPr id="10" name="Text 7"/>
          <p:cNvSpPr/>
          <p:nvPr/>
        </p:nvSpPr>
        <p:spPr>
          <a:xfrm>
            <a:off x="859536" y="3054096"/>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unknown = set(counts) - set(cells)</a:t>
            </a:r>
            <a:endParaRPr lang="en-US" sz="1360" dirty="0"/>
          </a:p>
        </p:txBody>
      </p:sp>
      <p:sp>
        <p:nvSpPr>
          <p:cNvPr id="11" name="Text 8"/>
          <p:cNvSpPr/>
          <p:nvPr/>
        </p:nvSpPr>
        <p:spPr>
          <a:xfrm>
            <a:off x="859536" y="3364992"/>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if unknown: raise PipelineFailure(...)</a:t>
            </a:r>
            <a:endParaRPr lang="en-US" sz="1360" dirty="0"/>
          </a:p>
        </p:txBody>
      </p:sp>
      <p:sp>
        <p:nvSpPr>
          <p:cNvPr id="12" name="Text 9"/>
          <p:cNvSpPr/>
          <p:nvPr/>
        </p:nvSpPr>
        <p:spPr>
          <a:xfrm>
            <a:off x="859536" y="3675888"/>
            <a:ext cx="6556248" cy="310896"/>
          </a:xfrm>
          <a:prstGeom prst="rect">
            <a:avLst/>
          </a:prstGeom>
          <a:noFill/>
          <a:ln/>
        </p:spPr>
        <p:txBody>
          <a:bodyPr wrap="square" lIns="0" tIns="0" rIns="0" bIns="0" rtlCol="0" anchor="t"/>
          <a:lstStyle/>
          <a:p>
            <a:pPr indent="0" marL="0">
              <a:buNone/>
            </a:pPr>
            <a:endParaRPr lang="en-US" sz="1360" dirty="0"/>
          </a:p>
        </p:txBody>
      </p:sp>
      <p:sp>
        <p:nvSpPr>
          <p:cNvPr id="13" name="Text 10"/>
          <p:cNvSpPr/>
          <p:nvPr/>
        </p:nvSpPr>
        <p:spPr>
          <a:xfrm>
            <a:off x="859536" y="3986784"/>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subtotal = definition.area * count</a:t>
            </a:r>
            <a:endParaRPr lang="en-US" sz="1360" dirty="0"/>
          </a:p>
        </p:txBody>
      </p:sp>
      <p:sp>
        <p:nvSpPr>
          <p:cNvPr id="14" name="Text 11"/>
          <p:cNvSpPr/>
          <p:nvPr/>
        </p:nvSpPr>
        <p:spPr>
          <a:xfrm>
            <a:off x="859536" y="4297680"/>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categories[definition.category] += subtotal</a:t>
            </a:r>
            <a:endParaRPr lang="en-US" sz="1360" dirty="0"/>
          </a:p>
        </p:txBody>
      </p:sp>
      <p:sp>
        <p:nvSpPr>
          <p:cNvPr id="15" name="Text 12"/>
          <p:cNvSpPr/>
          <p:nvPr/>
        </p:nvSpPr>
        <p:spPr>
          <a:xfrm>
            <a:off x="859536" y="4608576"/>
            <a:ext cx="6556248" cy="310896"/>
          </a:xfrm>
          <a:prstGeom prst="rect">
            <a:avLst/>
          </a:prstGeom>
          <a:noFill/>
          <a:ln/>
        </p:spPr>
        <p:txBody>
          <a:bodyPr wrap="square" lIns="0" tIns="0" rIns="0" bIns="0" rtlCol="0" anchor="t"/>
          <a:lstStyle/>
          <a:p>
            <a:pPr indent="0" marL="0">
              <a:buNone/>
            </a:pPr>
            <a:endParaRPr lang="en-US" sz="1360" dirty="0"/>
          </a:p>
        </p:txBody>
      </p:sp>
      <p:sp>
        <p:nvSpPr>
          <p:cNvPr id="16" name="Text 13"/>
          <p:cNvSpPr/>
          <p:nvPr/>
        </p:nvSpPr>
        <p:spPr>
          <a:xfrm>
            <a:off x="859536" y="4919472"/>
            <a:ext cx="6556248" cy="310896"/>
          </a:xfrm>
          <a:prstGeom prst="rect">
            <a:avLst/>
          </a:prstGeom>
          <a:noFill/>
          <a:ln/>
        </p:spPr>
        <p:txBody>
          <a:bodyPr wrap="square" lIns="0" tIns="0" rIns="0" bIns="0" rtlCol="0" anchor="t"/>
          <a:lstStyle/>
          <a:p>
            <a:pPr indent="0" marL="0">
              <a:buNone/>
            </a:pPr>
            <a:r>
              <a:rPr lang="en-US" sz="1360" dirty="0">
                <a:solidFill>
                  <a:srgbClr val="E0B76B"/>
                </a:solidFill>
                <a:latin typeface="Courier New" pitchFamily="34" charset="0"/>
                <a:ea typeface="Courier New" pitchFamily="34" charset="-122"/>
                <a:cs typeface="Courier New" pitchFamily="34" charset="-120"/>
              </a:rPr>
              <a:t># Decimal durante la suma; float al serializar JSON</a:t>
            </a:r>
            <a:endParaRPr lang="en-US" sz="1360" dirty="0"/>
          </a:p>
        </p:txBody>
      </p:sp>
      <p:sp>
        <p:nvSpPr>
          <p:cNvPr id="17" name="Shape 14"/>
          <p:cNvSpPr/>
          <p:nvPr/>
        </p:nvSpPr>
        <p:spPr>
          <a:xfrm>
            <a:off x="7845552" y="1920240"/>
            <a:ext cx="3657600" cy="3767328"/>
          </a:xfrm>
          <a:prstGeom prst="roundRect">
            <a:avLst>
              <a:gd name="adj" fmla="val 2000"/>
            </a:avLst>
          </a:prstGeom>
          <a:solidFill>
            <a:srgbClr val="FFFFFF"/>
          </a:solidFill>
          <a:ln w="8255">
            <a:solidFill>
              <a:srgbClr val="D9E2E9"/>
            </a:solidFill>
            <a:prstDash val="solid"/>
          </a:ln>
        </p:spPr>
      </p:sp>
      <p:sp>
        <p:nvSpPr>
          <p:cNvPr id="18" name="Text 15"/>
          <p:cNvSpPr/>
          <p:nvPr/>
        </p:nvSpPr>
        <p:spPr>
          <a:xfrm>
            <a:off x="8074152" y="2148840"/>
            <a:ext cx="3218688" cy="320040"/>
          </a:xfrm>
          <a:prstGeom prst="rect">
            <a:avLst/>
          </a:prstGeom>
          <a:noFill/>
          <a:ln/>
        </p:spPr>
        <p:txBody>
          <a:bodyPr wrap="square" lIns="0" tIns="0" rIns="0" bIns="0" rtlCol="0" anchor="t"/>
          <a:lstStyle/>
          <a:p>
            <a:pPr indent="0" marL="0">
              <a:buNone/>
            </a:pPr>
            <a:r>
              <a:rPr lang="en-US" sz="1200" b="1" spc="70" kern="0" dirty="0">
                <a:solidFill>
                  <a:srgbClr val="007C83"/>
                </a:solidFill>
                <a:latin typeface="Arial" pitchFamily="34" charset="0"/>
                <a:ea typeface="Arial" pitchFamily="34" charset="-122"/>
                <a:cs typeface="Arial" pitchFamily="34" charset="-120"/>
              </a:rPr>
              <a:t>CÓMO INTERPRETARLO</a:t>
            </a:r>
            <a:endParaRPr lang="en-US" sz="1200" dirty="0"/>
          </a:p>
        </p:txBody>
      </p:sp>
      <p:sp>
        <p:nvSpPr>
          <p:cNvPr id="19" name="Text 16"/>
          <p:cNvSpPr/>
          <p:nvPr/>
        </p:nvSpPr>
        <p:spPr>
          <a:xfrm>
            <a:off x="8074152" y="2743200"/>
            <a:ext cx="3182112" cy="2688336"/>
          </a:xfrm>
          <a:prstGeom prst="rect">
            <a:avLst/>
          </a:prstGeom>
          <a:noFill/>
          <a:ln/>
        </p:spPr>
        <p:txBody>
          <a:bodyPr wrap="square" lIns="0" tIns="0" rIns="0" bIns="0" rtlCol="0" anchor="t"/>
          <a:lstStyle/>
          <a:p>
            <a:pPr indent="0" marL="0">
              <a:buNone/>
            </a:pPr>
            <a:r>
              <a:rPr lang="en-US" sz="1700" dirty="0">
                <a:solidFill>
                  <a:srgbClr val="14293B"/>
                </a:solidFill>
                <a:latin typeface="Arial" pitchFamily="34" charset="0"/>
                <a:ea typeface="Arial" pitchFamily="34" charset="-122"/>
                <a:cs typeface="Arial" pitchFamily="34" charset="-120"/>
              </a:rPr>
              <a:t>Se rechazan:</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 Tipos sin mapear.</a:t>
            </a: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 Áreas inválidas o ausentes.</a:t>
            </a: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 Diseño vacío.</a:t>
            </a: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 Memorias pendientes.</a:t>
            </a: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 Estado fuera del perfil.</a:t>
            </a:r>
            <a:endParaRPr lang="en-US" sz="1700" dirty="0"/>
          </a:p>
        </p:txBody>
      </p:sp>
      <p:sp>
        <p:nvSpPr>
          <p:cNvPr id="20" name="Shape 17"/>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21" name="Text 18"/>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Una celda desconocida detiene el reporte; no se elimina para forzar un número.</a:t>
            </a:r>
            <a:endParaRPr lang="en-US" sz="1550" dirty="0"/>
          </a:p>
        </p:txBody>
      </p:sp>
      <p:sp>
        <p:nvSpPr>
          <p:cNvPr id="22" name="Shape 19"/>
          <p:cNvSpPr/>
          <p:nvPr/>
        </p:nvSpPr>
        <p:spPr>
          <a:xfrm>
            <a:off x="585216" y="6492240"/>
            <a:ext cx="11009376" cy="0"/>
          </a:xfrm>
          <a:prstGeom prst="line">
            <a:avLst/>
          </a:prstGeom>
          <a:noFill/>
          <a:ln w="8890">
            <a:solidFill>
              <a:srgbClr val="D9E2E9"/>
            </a:solidFill>
            <a:prstDash val="solid"/>
            <a:headEnd type="none"/>
            <a:tailEnd type="none"/>
          </a:ln>
        </p:spPr>
      </p:sp>
      <p:sp>
        <p:nvSpPr>
          <p:cNvPr id="23" name="Text 20"/>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infrastructure/liberty.py · read_cells() / summarize_netlist()</a:t>
            </a:r>
            <a:endParaRPr lang="en-US" sz="870" dirty="0"/>
          </a:p>
        </p:txBody>
      </p:sp>
      <p:sp>
        <p:nvSpPr>
          <p:cNvPr id="24" name="Text 21"/>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24 / 53</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23 · SIMULACIÓN POSTERIOR AL MAPEO</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La netlist se contrasta con el RTL usando modelos del mismo Liberty</a:t>
            </a:r>
            <a:endParaRPr lang="en-US" sz="2800" dirty="0"/>
          </a:p>
        </p:txBody>
      </p:sp>
      <p:sp>
        <p:nvSpPr>
          <p:cNvPr id="6" name="Shape 3"/>
          <p:cNvSpPr/>
          <p:nvPr/>
        </p:nvSpPr>
        <p:spPr>
          <a:xfrm>
            <a:off x="685800" y="1920240"/>
            <a:ext cx="6903720" cy="3767328"/>
          </a:xfrm>
          <a:prstGeom prst="roundRect">
            <a:avLst>
              <a:gd name="adj" fmla="val 2427"/>
            </a:avLst>
          </a:prstGeom>
          <a:solidFill>
            <a:srgbClr val="102331"/>
          </a:solidFill>
          <a:ln w="8255">
            <a:solidFill>
              <a:srgbClr val="102331"/>
            </a:solidFill>
            <a:prstDash val="solid"/>
          </a:ln>
        </p:spPr>
      </p:sp>
      <p:sp>
        <p:nvSpPr>
          <p:cNvPr id="7" name="Text 4"/>
          <p:cNvSpPr/>
          <p:nvPr/>
        </p:nvSpPr>
        <p:spPr>
          <a:xfrm>
            <a:off x="859536" y="2121408"/>
            <a:ext cx="6556248" cy="310896"/>
          </a:xfrm>
          <a:prstGeom prst="rect">
            <a:avLst/>
          </a:prstGeom>
          <a:noFill/>
          <a:ln/>
        </p:spPr>
        <p:txBody>
          <a:bodyPr wrap="square" lIns="0" tIns="0" rIns="0" bIns="0" rtlCol="0" anchor="t"/>
          <a:lstStyle/>
          <a:p>
            <a:pPr indent="0" marL="0">
              <a:buNone/>
            </a:pPr>
            <a:r>
              <a:rPr lang="en-US" sz="1360" dirty="0">
                <a:solidFill>
                  <a:srgbClr val="80DDD5"/>
                </a:solidFill>
                <a:latin typeface="Courier New" pitchFamily="34" charset="0"/>
                <a:ea typeface="Courier New" pitchFamily="34" charset="-122"/>
                <a:cs typeface="Courier New" pitchFamily="34" charset="-120"/>
              </a:rPr>
              <a:t>yosys -s simulation_cells.ys</a:t>
            </a:r>
            <a:endParaRPr lang="en-US" sz="1360" dirty="0"/>
          </a:p>
        </p:txBody>
      </p:sp>
      <p:sp>
        <p:nvSpPr>
          <p:cNvPr id="8" name="Text 5"/>
          <p:cNvSpPr/>
          <p:nvPr/>
        </p:nvSpPr>
        <p:spPr>
          <a:xfrm>
            <a:off x="859536" y="2432304"/>
            <a:ext cx="6556248" cy="310896"/>
          </a:xfrm>
          <a:prstGeom prst="rect">
            <a:avLst/>
          </a:prstGeom>
          <a:noFill/>
          <a:ln/>
        </p:spPr>
        <p:txBody>
          <a:bodyPr wrap="square" lIns="0" tIns="0" rIns="0" bIns="0" rtlCol="0" anchor="t"/>
          <a:lstStyle/>
          <a:p>
            <a:pPr indent="0" marL="0">
              <a:buNone/>
            </a:pPr>
            <a:r>
              <a:rPr lang="en-US" sz="1360" dirty="0">
                <a:solidFill>
                  <a:srgbClr val="80DDD5"/>
                </a:solidFill>
                <a:latin typeface="Courier New" pitchFamily="34" charset="0"/>
                <a:ea typeface="Courier New" pitchFamily="34" charset="-122"/>
                <a:cs typeface="Courier New" pitchFamily="34" charset="-120"/>
              </a:rPr>
              <a:t>iverilog -g2012 -s area_validation_tb \</a:t>
            </a:r>
            <a:endParaRPr lang="en-US" sz="1360" dirty="0"/>
          </a:p>
        </p:txBody>
      </p:sp>
      <p:sp>
        <p:nvSpPr>
          <p:cNvPr id="9" name="Text 6"/>
          <p:cNvSpPr/>
          <p:nvPr/>
        </p:nvSpPr>
        <p:spPr>
          <a:xfrm>
            <a:off x="859536" y="2743200"/>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  -o mapped_sim validation_tb.v mapped.v cells_sim.v</a:t>
            </a:r>
            <a:endParaRPr lang="en-US" sz="1360" dirty="0"/>
          </a:p>
        </p:txBody>
      </p:sp>
      <p:sp>
        <p:nvSpPr>
          <p:cNvPr id="10" name="Text 7"/>
          <p:cNvSpPr/>
          <p:nvPr/>
        </p:nvSpPr>
        <p:spPr>
          <a:xfrm>
            <a:off x="859536" y="3054096"/>
            <a:ext cx="6556248" cy="310896"/>
          </a:xfrm>
          <a:prstGeom prst="rect">
            <a:avLst/>
          </a:prstGeom>
          <a:noFill/>
          <a:ln/>
        </p:spPr>
        <p:txBody>
          <a:bodyPr wrap="square" lIns="0" tIns="0" rIns="0" bIns="0" rtlCol="0" anchor="t"/>
          <a:lstStyle/>
          <a:p>
            <a:pPr indent="0" marL="0">
              <a:buNone/>
            </a:pPr>
            <a:r>
              <a:rPr lang="en-US" sz="1360" dirty="0">
                <a:solidFill>
                  <a:srgbClr val="80DDD5"/>
                </a:solidFill>
                <a:latin typeface="Courier New" pitchFamily="34" charset="0"/>
                <a:ea typeface="Courier New" pitchFamily="34" charset="-122"/>
                <a:cs typeface="Courier New" pitchFamily="34" charset="-120"/>
              </a:rPr>
              <a:t>vvp mapped_sim</a:t>
            </a:r>
            <a:endParaRPr lang="en-US" sz="1360" dirty="0"/>
          </a:p>
        </p:txBody>
      </p:sp>
      <p:sp>
        <p:nvSpPr>
          <p:cNvPr id="11" name="Text 8"/>
          <p:cNvSpPr/>
          <p:nvPr/>
        </p:nvSpPr>
        <p:spPr>
          <a:xfrm>
            <a:off x="859536" y="3364992"/>
            <a:ext cx="6556248" cy="310896"/>
          </a:xfrm>
          <a:prstGeom prst="rect">
            <a:avLst/>
          </a:prstGeom>
          <a:noFill/>
          <a:ln/>
        </p:spPr>
        <p:txBody>
          <a:bodyPr wrap="square" lIns="0" tIns="0" rIns="0" bIns="0" rtlCol="0" anchor="t"/>
          <a:lstStyle/>
          <a:p>
            <a:pPr indent="0" marL="0">
              <a:buNone/>
            </a:pPr>
            <a:endParaRPr lang="en-US" sz="1360" dirty="0"/>
          </a:p>
        </p:txBody>
      </p:sp>
      <p:sp>
        <p:nvSpPr>
          <p:cNvPr id="12" name="Text 9"/>
          <p:cNvSpPr/>
          <p:nvPr/>
        </p:nvSpPr>
        <p:spPr>
          <a:xfrm>
            <a:off x="859536" y="3675888"/>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if (r !== expected) $fatal(1, "Mapped mismatch...");</a:t>
            </a:r>
            <a:endParaRPr lang="en-US" sz="1360" dirty="0"/>
          </a:p>
        </p:txBody>
      </p:sp>
      <p:sp>
        <p:nvSpPr>
          <p:cNvPr id="13" name="Shape 10"/>
          <p:cNvSpPr/>
          <p:nvPr/>
        </p:nvSpPr>
        <p:spPr>
          <a:xfrm>
            <a:off x="7845552" y="1920240"/>
            <a:ext cx="3657600" cy="3767328"/>
          </a:xfrm>
          <a:prstGeom prst="roundRect">
            <a:avLst>
              <a:gd name="adj" fmla="val 2000"/>
            </a:avLst>
          </a:prstGeom>
          <a:solidFill>
            <a:srgbClr val="FFFFFF"/>
          </a:solidFill>
          <a:ln w="8255">
            <a:solidFill>
              <a:srgbClr val="D9E2E9"/>
            </a:solidFill>
            <a:prstDash val="solid"/>
          </a:ln>
        </p:spPr>
      </p:sp>
      <p:sp>
        <p:nvSpPr>
          <p:cNvPr id="14" name="Text 11"/>
          <p:cNvSpPr/>
          <p:nvPr/>
        </p:nvSpPr>
        <p:spPr>
          <a:xfrm>
            <a:off x="8074152" y="2148840"/>
            <a:ext cx="3218688" cy="320040"/>
          </a:xfrm>
          <a:prstGeom prst="rect">
            <a:avLst/>
          </a:prstGeom>
          <a:noFill/>
          <a:ln/>
        </p:spPr>
        <p:txBody>
          <a:bodyPr wrap="square" lIns="0" tIns="0" rIns="0" bIns="0" rtlCol="0" anchor="t"/>
          <a:lstStyle/>
          <a:p>
            <a:pPr indent="0" marL="0">
              <a:buNone/>
            </a:pPr>
            <a:r>
              <a:rPr lang="en-US" sz="1200" b="1" spc="70" kern="0" dirty="0">
                <a:solidFill>
                  <a:srgbClr val="007C83"/>
                </a:solidFill>
                <a:latin typeface="Arial" pitchFamily="34" charset="0"/>
                <a:ea typeface="Arial" pitchFamily="34" charset="-122"/>
                <a:cs typeface="Arial" pitchFamily="34" charset="-120"/>
              </a:rPr>
              <a:t>CÓMO INTERPRETARLO</a:t>
            </a:r>
            <a:endParaRPr lang="en-US" sz="1200" dirty="0"/>
          </a:p>
        </p:txBody>
      </p:sp>
      <p:sp>
        <p:nvSpPr>
          <p:cNvPr id="15" name="Text 12"/>
          <p:cNvSpPr/>
          <p:nvPr/>
        </p:nvSpPr>
        <p:spPr>
          <a:xfrm>
            <a:off x="8074152" y="2743200"/>
            <a:ext cx="3182112" cy="2688336"/>
          </a:xfrm>
          <a:prstGeom prst="rect">
            <a:avLst/>
          </a:prstGeom>
          <a:noFill/>
          <a:ln/>
        </p:spPr>
        <p:txBody>
          <a:bodyPr wrap="square" lIns="0" tIns="0" rIns="0" bIns="0" rtlCol="0" anchor="t"/>
          <a:lstStyle/>
          <a:p>
            <a:pPr indent="0" marL="0">
              <a:buNone/>
            </a:pPr>
            <a:r>
              <a:rPr lang="en-US" sz="1700" dirty="0">
                <a:solidFill>
                  <a:srgbClr val="14293B"/>
                </a:solidFill>
                <a:latin typeface="Arial" pitchFamily="34" charset="0"/>
                <a:ea typeface="Arial" pitchFamily="34" charset="-122"/>
                <a:cs typeface="Arial" pitchFamily="34" charset="-120"/>
              </a:rPr>
              <a:t>Referencia: rtl-results.txt.</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Comparación: bit a bit.</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Se rechazan X/Z y diferencias.</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No se cargan retardos SDF.</a:t>
            </a:r>
            <a:endParaRPr lang="en-US" sz="1700" dirty="0"/>
          </a:p>
        </p:txBody>
      </p:sp>
      <p:sp>
        <p:nvSpPr>
          <p:cNvPr id="16" name="Shape 13"/>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17" name="Text 14"/>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256 coincidencias respaldan los casos ejercitados; no equivalencia exhaustiva ni precisión ideal.</a:t>
            </a:r>
            <a:endParaRPr lang="en-US" sz="1550" dirty="0"/>
          </a:p>
        </p:txBody>
      </p:sp>
      <p:sp>
        <p:nvSpPr>
          <p:cNvPr id="18" name="Shape 15"/>
          <p:cNvSpPr/>
          <p:nvPr/>
        </p:nvSpPr>
        <p:spPr>
          <a:xfrm>
            <a:off x="585216" y="6492240"/>
            <a:ext cx="11009376" cy="0"/>
          </a:xfrm>
          <a:prstGeom prst="line">
            <a:avLst/>
          </a:prstGeom>
          <a:noFill/>
          <a:ln w="8890">
            <a:solidFill>
              <a:srgbClr val="D9E2E9"/>
            </a:solidFill>
            <a:prstDash val="solid"/>
            <a:headEnd type="none"/>
            <a:tailEnd type="none"/>
          </a:ln>
        </p:spPr>
      </p:sp>
      <p:sp>
        <p:nvSpPr>
          <p:cNvPr id="19" name="Text 16"/>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F03 · F07 | validation.py · validate_mapped() · simulation_cells.ys</a:t>
            </a:r>
            <a:endParaRPr lang="en-US" sz="870" dirty="0"/>
          </a:p>
        </p:txBody>
      </p:sp>
      <p:sp>
        <p:nvSpPr>
          <p:cNvPr id="20" name="Text 17"/>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25 / 53</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24 · SUSTENTACIÓN DEL MÉTODO</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La confianza surge de controles complementarios, con límites distintos</a:t>
            </a:r>
            <a:endParaRPr lang="en-US" sz="2800" dirty="0"/>
          </a:p>
        </p:txBody>
      </p:sp>
      <p:sp>
        <p:nvSpPr>
          <p:cNvPr id="6" name="Shape 3"/>
          <p:cNvSpPr/>
          <p:nvPr/>
        </p:nvSpPr>
        <p:spPr>
          <a:xfrm>
            <a:off x="685800" y="1874520"/>
            <a:ext cx="1874520" cy="429768"/>
          </a:xfrm>
          <a:prstGeom prst="rect">
            <a:avLst/>
          </a:prstGeom>
          <a:solidFill>
            <a:srgbClr val="14293B"/>
          </a:solidFill>
          <a:ln w="8255">
            <a:solidFill>
              <a:srgbClr val="F5F6F8"/>
            </a:solidFill>
            <a:prstDash val="solid"/>
          </a:ln>
        </p:spPr>
      </p:sp>
      <p:sp>
        <p:nvSpPr>
          <p:cNvPr id="7" name="Text 4"/>
          <p:cNvSpPr/>
          <p:nvPr/>
        </p:nvSpPr>
        <p:spPr>
          <a:xfrm>
            <a:off x="777240" y="1938528"/>
            <a:ext cx="169164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Control</a:t>
            </a:r>
            <a:endParaRPr lang="en-US" sz="1350" dirty="0"/>
          </a:p>
        </p:txBody>
      </p:sp>
      <p:sp>
        <p:nvSpPr>
          <p:cNvPr id="8" name="Shape 5"/>
          <p:cNvSpPr/>
          <p:nvPr/>
        </p:nvSpPr>
        <p:spPr>
          <a:xfrm>
            <a:off x="2560320" y="1874520"/>
            <a:ext cx="4023360" cy="429768"/>
          </a:xfrm>
          <a:prstGeom prst="rect">
            <a:avLst/>
          </a:prstGeom>
          <a:solidFill>
            <a:srgbClr val="14293B"/>
          </a:solidFill>
          <a:ln w="8255">
            <a:solidFill>
              <a:srgbClr val="F5F6F8"/>
            </a:solidFill>
            <a:prstDash val="solid"/>
          </a:ln>
        </p:spPr>
      </p:sp>
      <p:sp>
        <p:nvSpPr>
          <p:cNvPr id="9" name="Text 6"/>
          <p:cNvSpPr/>
          <p:nvPr/>
        </p:nvSpPr>
        <p:spPr>
          <a:xfrm>
            <a:off x="2651760" y="1938528"/>
            <a:ext cx="384048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Qué permite sostener</a:t>
            </a:r>
            <a:endParaRPr lang="en-US" sz="1350" dirty="0"/>
          </a:p>
        </p:txBody>
      </p:sp>
      <p:sp>
        <p:nvSpPr>
          <p:cNvPr id="10" name="Shape 7"/>
          <p:cNvSpPr/>
          <p:nvPr/>
        </p:nvSpPr>
        <p:spPr>
          <a:xfrm>
            <a:off x="6583680" y="1874520"/>
            <a:ext cx="4389120" cy="429768"/>
          </a:xfrm>
          <a:prstGeom prst="rect">
            <a:avLst/>
          </a:prstGeom>
          <a:solidFill>
            <a:srgbClr val="14293B"/>
          </a:solidFill>
          <a:ln w="8255">
            <a:solidFill>
              <a:srgbClr val="F5F6F8"/>
            </a:solidFill>
            <a:prstDash val="solid"/>
          </a:ln>
        </p:spPr>
      </p:sp>
      <p:sp>
        <p:nvSpPr>
          <p:cNvPr id="11" name="Text 8"/>
          <p:cNvSpPr/>
          <p:nvPr/>
        </p:nvSpPr>
        <p:spPr>
          <a:xfrm>
            <a:off x="6675120" y="1938528"/>
            <a:ext cx="420624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Qué no prueba</a:t>
            </a:r>
            <a:endParaRPr lang="en-US" sz="1350" dirty="0"/>
          </a:p>
        </p:txBody>
      </p:sp>
      <p:sp>
        <p:nvSpPr>
          <p:cNvPr id="12" name="Shape 9"/>
          <p:cNvSpPr/>
          <p:nvPr/>
        </p:nvSpPr>
        <p:spPr>
          <a:xfrm>
            <a:off x="685800" y="2304288"/>
            <a:ext cx="1874520" cy="685800"/>
          </a:xfrm>
          <a:prstGeom prst="rect">
            <a:avLst/>
          </a:prstGeom>
          <a:solidFill>
            <a:srgbClr val="FFFFFF"/>
          </a:solidFill>
          <a:ln w="8255">
            <a:solidFill>
              <a:srgbClr val="F5F6F8"/>
            </a:solidFill>
            <a:prstDash val="solid"/>
          </a:ln>
        </p:spPr>
      </p:sp>
      <p:sp>
        <p:nvSpPr>
          <p:cNvPr id="13" name="Text 10"/>
          <p:cNvSpPr/>
          <p:nvPr/>
        </p:nvSpPr>
        <p:spPr>
          <a:xfrm>
            <a:off x="777240" y="2368296"/>
            <a:ext cx="169164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SHA-256</a:t>
            </a:r>
            <a:endParaRPr lang="en-US" sz="1600" dirty="0"/>
          </a:p>
        </p:txBody>
      </p:sp>
      <p:sp>
        <p:nvSpPr>
          <p:cNvPr id="14" name="Shape 11"/>
          <p:cNvSpPr/>
          <p:nvPr/>
        </p:nvSpPr>
        <p:spPr>
          <a:xfrm>
            <a:off x="2560320" y="2304288"/>
            <a:ext cx="4023360" cy="685800"/>
          </a:xfrm>
          <a:prstGeom prst="rect">
            <a:avLst/>
          </a:prstGeom>
          <a:solidFill>
            <a:srgbClr val="FFFFFF"/>
          </a:solidFill>
          <a:ln w="8255">
            <a:solidFill>
              <a:srgbClr val="F5F6F8"/>
            </a:solidFill>
            <a:prstDash val="solid"/>
          </a:ln>
        </p:spPr>
      </p:sp>
      <p:sp>
        <p:nvSpPr>
          <p:cNvPr id="15" name="Text 12"/>
          <p:cNvSpPr/>
          <p:nvPr/>
        </p:nvSpPr>
        <p:spPr>
          <a:xfrm>
            <a:off x="2651760" y="2368296"/>
            <a:ext cx="384048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Mismos bytes de entrada</a:t>
            </a:r>
            <a:endParaRPr lang="en-US" sz="1600" dirty="0"/>
          </a:p>
        </p:txBody>
      </p:sp>
      <p:sp>
        <p:nvSpPr>
          <p:cNvPr id="16" name="Shape 13"/>
          <p:cNvSpPr/>
          <p:nvPr/>
        </p:nvSpPr>
        <p:spPr>
          <a:xfrm>
            <a:off x="6583680" y="2304288"/>
            <a:ext cx="4389120" cy="685800"/>
          </a:xfrm>
          <a:prstGeom prst="rect">
            <a:avLst/>
          </a:prstGeom>
          <a:solidFill>
            <a:srgbClr val="FFFFFF"/>
          </a:solidFill>
          <a:ln w="8255">
            <a:solidFill>
              <a:srgbClr val="F5F6F8"/>
            </a:solidFill>
            <a:prstDash val="solid"/>
          </a:ln>
        </p:spPr>
      </p:sp>
      <p:sp>
        <p:nvSpPr>
          <p:cNvPr id="17" name="Text 14"/>
          <p:cNvSpPr/>
          <p:nvPr/>
        </p:nvSpPr>
        <p:spPr>
          <a:xfrm>
            <a:off x="6675120" y="2368296"/>
            <a:ext cx="420624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Corrección original o certificación externa</a:t>
            </a:r>
            <a:endParaRPr lang="en-US" sz="1600" dirty="0"/>
          </a:p>
        </p:txBody>
      </p:sp>
      <p:sp>
        <p:nvSpPr>
          <p:cNvPr id="18" name="Shape 15"/>
          <p:cNvSpPr/>
          <p:nvPr/>
        </p:nvSpPr>
        <p:spPr>
          <a:xfrm>
            <a:off x="685800" y="2990088"/>
            <a:ext cx="1874520" cy="685800"/>
          </a:xfrm>
          <a:prstGeom prst="rect">
            <a:avLst/>
          </a:prstGeom>
          <a:solidFill>
            <a:srgbClr val="EAF0F5"/>
          </a:solidFill>
          <a:ln w="8255">
            <a:solidFill>
              <a:srgbClr val="F5F6F8"/>
            </a:solidFill>
            <a:prstDash val="solid"/>
          </a:ln>
        </p:spPr>
      </p:sp>
      <p:sp>
        <p:nvSpPr>
          <p:cNvPr id="19" name="Text 16"/>
          <p:cNvSpPr/>
          <p:nvPr/>
        </p:nvSpPr>
        <p:spPr>
          <a:xfrm>
            <a:off x="777240" y="3054096"/>
            <a:ext cx="169164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Suma ↔ stat</a:t>
            </a:r>
            <a:endParaRPr lang="en-US" sz="1600" dirty="0"/>
          </a:p>
        </p:txBody>
      </p:sp>
      <p:sp>
        <p:nvSpPr>
          <p:cNvPr id="20" name="Shape 17"/>
          <p:cNvSpPr/>
          <p:nvPr/>
        </p:nvSpPr>
        <p:spPr>
          <a:xfrm>
            <a:off x="2560320" y="2990088"/>
            <a:ext cx="4023360" cy="685800"/>
          </a:xfrm>
          <a:prstGeom prst="rect">
            <a:avLst/>
          </a:prstGeom>
          <a:solidFill>
            <a:srgbClr val="EAF0F5"/>
          </a:solidFill>
          <a:ln w="8255">
            <a:solidFill>
              <a:srgbClr val="F5F6F8"/>
            </a:solidFill>
            <a:prstDash val="solid"/>
          </a:ln>
        </p:spPr>
      </p:sp>
      <p:sp>
        <p:nvSpPr>
          <p:cNvPr id="21" name="Text 18"/>
          <p:cNvSpPr/>
          <p:nvPr/>
        </p:nvSpPr>
        <p:spPr>
          <a:xfrm>
            <a:off x="2651760" y="3054096"/>
            <a:ext cx="384048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Coherencia contable</a:t>
            </a:r>
            <a:endParaRPr lang="en-US" sz="1600" dirty="0"/>
          </a:p>
        </p:txBody>
      </p:sp>
      <p:sp>
        <p:nvSpPr>
          <p:cNvPr id="22" name="Shape 19"/>
          <p:cNvSpPr/>
          <p:nvPr/>
        </p:nvSpPr>
        <p:spPr>
          <a:xfrm>
            <a:off x="6583680" y="2990088"/>
            <a:ext cx="4389120" cy="685800"/>
          </a:xfrm>
          <a:prstGeom prst="rect">
            <a:avLst/>
          </a:prstGeom>
          <a:solidFill>
            <a:srgbClr val="EAF0F5"/>
          </a:solidFill>
          <a:ln w="8255">
            <a:solidFill>
              <a:srgbClr val="F5F6F8"/>
            </a:solidFill>
            <a:prstDash val="solid"/>
          </a:ln>
        </p:spPr>
      </p:sp>
      <p:sp>
        <p:nvSpPr>
          <p:cNvPr id="23" name="Text 20"/>
          <p:cNvSpPr/>
          <p:nvPr/>
        </p:nvSpPr>
        <p:spPr>
          <a:xfrm>
            <a:off x="6675120" y="3054096"/>
            <a:ext cx="420624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Otra caracterización física independiente</a:t>
            </a:r>
            <a:endParaRPr lang="en-US" sz="1600" dirty="0"/>
          </a:p>
        </p:txBody>
      </p:sp>
      <p:sp>
        <p:nvSpPr>
          <p:cNvPr id="24" name="Shape 21"/>
          <p:cNvSpPr/>
          <p:nvPr/>
        </p:nvSpPr>
        <p:spPr>
          <a:xfrm>
            <a:off x="685800" y="3675888"/>
            <a:ext cx="1874520" cy="685800"/>
          </a:xfrm>
          <a:prstGeom prst="rect">
            <a:avLst/>
          </a:prstGeom>
          <a:solidFill>
            <a:srgbClr val="FFFFFF"/>
          </a:solidFill>
          <a:ln w="8255">
            <a:solidFill>
              <a:srgbClr val="F5F6F8"/>
            </a:solidFill>
            <a:prstDash val="solid"/>
          </a:ln>
        </p:spPr>
      </p:sp>
      <p:sp>
        <p:nvSpPr>
          <p:cNvPr id="25" name="Text 22"/>
          <p:cNvSpPr/>
          <p:nvPr/>
        </p:nvSpPr>
        <p:spPr>
          <a:xfrm>
            <a:off x="777240" y="3739896"/>
            <a:ext cx="169164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RTL ↔ netlist</a:t>
            </a:r>
            <a:endParaRPr lang="en-US" sz="1600" dirty="0"/>
          </a:p>
        </p:txBody>
      </p:sp>
      <p:sp>
        <p:nvSpPr>
          <p:cNvPr id="26" name="Shape 23"/>
          <p:cNvSpPr/>
          <p:nvPr/>
        </p:nvSpPr>
        <p:spPr>
          <a:xfrm>
            <a:off x="2560320" y="3675888"/>
            <a:ext cx="4023360" cy="685800"/>
          </a:xfrm>
          <a:prstGeom prst="rect">
            <a:avLst/>
          </a:prstGeom>
          <a:solidFill>
            <a:srgbClr val="FFFFFF"/>
          </a:solidFill>
          <a:ln w="8255">
            <a:solidFill>
              <a:srgbClr val="F5F6F8"/>
            </a:solidFill>
            <a:prstDash val="solid"/>
          </a:ln>
        </p:spPr>
      </p:sp>
      <p:sp>
        <p:nvSpPr>
          <p:cNvPr id="27" name="Text 24"/>
          <p:cNvSpPr/>
          <p:nvPr/>
        </p:nvSpPr>
        <p:spPr>
          <a:xfrm>
            <a:off x="2651760" y="3739896"/>
            <a:ext cx="384048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Preservación en 256 estímulos</a:t>
            </a:r>
            <a:endParaRPr lang="en-US" sz="1600" dirty="0"/>
          </a:p>
        </p:txBody>
      </p:sp>
      <p:sp>
        <p:nvSpPr>
          <p:cNvPr id="28" name="Shape 25"/>
          <p:cNvSpPr/>
          <p:nvPr/>
        </p:nvSpPr>
        <p:spPr>
          <a:xfrm>
            <a:off x="6583680" y="3675888"/>
            <a:ext cx="4389120" cy="685800"/>
          </a:xfrm>
          <a:prstGeom prst="rect">
            <a:avLst/>
          </a:prstGeom>
          <a:solidFill>
            <a:srgbClr val="FFFFFF"/>
          </a:solidFill>
          <a:ln w="8255">
            <a:solidFill>
              <a:srgbClr val="F5F6F8"/>
            </a:solidFill>
            <a:prstDash val="solid"/>
          </a:ln>
        </p:spPr>
      </p:sp>
      <p:sp>
        <p:nvSpPr>
          <p:cNvPr id="29" name="Text 26"/>
          <p:cNvSpPr/>
          <p:nvPr/>
        </p:nvSpPr>
        <p:spPr>
          <a:xfrm>
            <a:off x="6675120" y="3739896"/>
            <a:ext cx="420624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Todos los estados o entradas posibles</a:t>
            </a:r>
            <a:endParaRPr lang="en-US" sz="1600" dirty="0"/>
          </a:p>
        </p:txBody>
      </p:sp>
      <p:sp>
        <p:nvSpPr>
          <p:cNvPr id="30" name="Shape 27"/>
          <p:cNvSpPr/>
          <p:nvPr/>
        </p:nvSpPr>
        <p:spPr>
          <a:xfrm>
            <a:off x="685800" y="4361688"/>
            <a:ext cx="1874520" cy="685800"/>
          </a:xfrm>
          <a:prstGeom prst="rect">
            <a:avLst/>
          </a:prstGeom>
          <a:solidFill>
            <a:srgbClr val="EAF0F5"/>
          </a:solidFill>
          <a:ln w="8255">
            <a:solidFill>
              <a:srgbClr val="F5F6F8"/>
            </a:solidFill>
            <a:prstDash val="solid"/>
          </a:ln>
        </p:spPr>
      </p:sp>
      <p:sp>
        <p:nvSpPr>
          <p:cNvPr id="31" name="Text 28"/>
          <p:cNvSpPr/>
          <p:nvPr/>
        </p:nvSpPr>
        <p:spPr>
          <a:xfrm>
            <a:off x="777240" y="4425696"/>
            <a:ext cx="169164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Oráculo INT</a:t>
            </a:r>
            <a:endParaRPr lang="en-US" sz="1600" dirty="0"/>
          </a:p>
        </p:txBody>
      </p:sp>
      <p:sp>
        <p:nvSpPr>
          <p:cNvPr id="32" name="Shape 29"/>
          <p:cNvSpPr/>
          <p:nvPr/>
        </p:nvSpPr>
        <p:spPr>
          <a:xfrm>
            <a:off x="2560320" y="4361688"/>
            <a:ext cx="4023360" cy="685800"/>
          </a:xfrm>
          <a:prstGeom prst="rect">
            <a:avLst/>
          </a:prstGeom>
          <a:solidFill>
            <a:srgbClr val="EAF0F5"/>
          </a:solidFill>
          <a:ln w="8255">
            <a:solidFill>
              <a:srgbClr val="F5F6F8"/>
            </a:solidFill>
            <a:prstDash val="solid"/>
          </a:ln>
        </p:spPr>
      </p:sp>
      <p:sp>
        <p:nvSpPr>
          <p:cNvPr id="33" name="Text 30"/>
          <p:cNvSpPr/>
          <p:nvPr/>
        </p:nvSpPr>
        <p:spPr>
          <a:xfrm>
            <a:off x="2651760" y="4425696"/>
            <a:ext cx="384048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Producto punto modular en esos casos</a:t>
            </a:r>
            <a:endParaRPr lang="en-US" sz="1600" dirty="0"/>
          </a:p>
        </p:txBody>
      </p:sp>
      <p:sp>
        <p:nvSpPr>
          <p:cNvPr id="34" name="Shape 31"/>
          <p:cNvSpPr/>
          <p:nvPr/>
        </p:nvSpPr>
        <p:spPr>
          <a:xfrm>
            <a:off x="6583680" y="4361688"/>
            <a:ext cx="4389120" cy="685800"/>
          </a:xfrm>
          <a:prstGeom prst="rect">
            <a:avLst/>
          </a:prstGeom>
          <a:solidFill>
            <a:srgbClr val="EAF0F5"/>
          </a:solidFill>
          <a:ln w="8255">
            <a:solidFill>
              <a:srgbClr val="F5F6F8"/>
            </a:solidFill>
            <a:prstDash val="solid"/>
          </a:ln>
        </p:spPr>
      </p:sp>
      <p:sp>
        <p:nvSpPr>
          <p:cNvPr id="35" name="Text 32"/>
          <p:cNvSpPr/>
          <p:nvPr/>
        </p:nvSpPr>
        <p:spPr>
          <a:xfrm>
            <a:off x="6675120" y="4425696"/>
            <a:ext cx="420624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Exactitud matemática de FP/Posit/LNS</a:t>
            </a:r>
            <a:endParaRPr lang="en-US" sz="1600" dirty="0"/>
          </a:p>
        </p:txBody>
      </p:sp>
      <p:sp>
        <p:nvSpPr>
          <p:cNvPr id="36" name="Shape 33"/>
          <p:cNvSpPr/>
          <p:nvPr/>
        </p:nvSpPr>
        <p:spPr>
          <a:xfrm>
            <a:off x="685800" y="5047488"/>
            <a:ext cx="1874520" cy="685800"/>
          </a:xfrm>
          <a:prstGeom prst="rect">
            <a:avLst/>
          </a:prstGeom>
          <a:solidFill>
            <a:srgbClr val="FFFFFF"/>
          </a:solidFill>
          <a:ln w="8255">
            <a:solidFill>
              <a:srgbClr val="F5F6F8"/>
            </a:solidFill>
            <a:prstDash val="solid"/>
          </a:ln>
        </p:spPr>
      </p:sp>
      <p:sp>
        <p:nvSpPr>
          <p:cNvPr id="37" name="Text 34"/>
          <p:cNvSpPr/>
          <p:nvPr/>
        </p:nvSpPr>
        <p:spPr>
          <a:xfrm>
            <a:off x="777240" y="5111496"/>
            <a:ext cx="169164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Pruebas de software</a:t>
            </a:r>
            <a:endParaRPr lang="en-US" sz="1600" dirty="0"/>
          </a:p>
        </p:txBody>
      </p:sp>
      <p:sp>
        <p:nvSpPr>
          <p:cNvPr id="38" name="Shape 35"/>
          <p:cNvSpPr/>
          <p:nvPr/>
        </p:nvSpPr>
        <p:spPr>
          <a:xfrm>
            <a:off x="2560320" y="5047488"/>
            <a:ext cx="4023360" cy="685800"/>
          </a:xfrm>
          <a:prstGeom prst="rect">
            <a:avLst/>
          </a:prstGeom>
          <a:solidFill>
            <a:srgbClr val="FFFFFF"/>
          </a:solidFill>
          <a:ln w="8255">
            <a:solidFill>
              <a:srgbClr val="F5F6F8"/>
            </a:solidFill>
            <a:prstDash val="solid"/>
          </a:ln>
        </p:spPr>
      </p:sp>
      <p:sp>
        <p:nvSpPr>
          <p:cNvPr id="39" name="Text 36"/>
          <p:cNvSpPr/>
          <p:nvPr/>
        </p:nvSpPr>
        <p:spPr>
          <a:xfrm>
            <a:off x="2651760" y="5111496"/>
            <a:ext cx="384048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Contratos, errores y filtros</a:t>
            </a:r>
            <a:endParaRPr lang="en-US" sz="1600" dirty="0"/>
          </a:p>
        </p:txBody>
      </p:sp>
      <p:sp>
        <p:nvSpPr>
          <p:cNvPr id="40" name="Shape 37"/>
          <p:cNvSpPr/>
          <p:nvPr/>
        </p:nvSpPr>
        <p:spPr>
          <a:xfrm>
            <a:off x="6583680" y="5047488"/>
            <a:ext cx="4389120" cy="685800"/>
          </a:xfrm>
          <a:prstGeom prst="rect">
            <a:avLst/>
          </a:prstGeom>
          <a:solidFill>
            <a:srgbClr val="FFFFFF"/>
          </a:solidFill>
          <a:ln w="8255">
            <a:solidFill>
              <a:srgbClr val="F5F6F8"/>
            </a:solidFill>
            <a:prstDash val="solid"/>
          </a:ln>
        </p:spPr>
      </p:sp>
      <p:sp>
        <p:nvSpPr>
          <p:cNvPr id="41" name="Text 38"/>
          <p:cNvSpPr/>
          <p:nvPr/>
        </p:nvSpPr>
        <p:spPr>
          <a:xfrm>
            <a:off x="6675120" y="5111496"/>
            <a:ext cx="420624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Área física real de un chip</a:t>
            </a:r>
            <a:endParaRPr lang="en-US" sz="1600" dirty="0"/>
          </a:p>
        </p:txBody>
      </p:sp>
      <p:sp>
        <p:nvSpPr>
          <p:cNvPr id="42" name="Shape 39"/>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43" name="Text 40"/>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El argumento sólido declara exactamente qué riesgo cubre cada evidencia.</a:t>
            </a:r>
            <a:endParaRPr lang="en-US" sz="1550" dirty="0"/>
          </a:p>
        </p:txBody>
      </p:sp>
      <p:sp>
        <p:nvSpPr>
          <p:cNvPr id="44" name="Shape 41"/>
          <p:cNvSpPr/>
          <p:nvPr/>
        </p:nvSpPr>
        <p:spPr>
          <a:xfrm>
            <a:off x="585216" y="6492240"/>
            <a:ext cx="11009376" cy="0"/>
          </a:xfrm>
          <a:prstGeom prst="line">
            <a:avLst/>
          </a:prstGeom>
          <a:noFill/>
          <a:ln w="8890">
            <a:solidFill>
              <a:srgbClr val="D9E2E9"/>
            </a:solidFill>
            <a:prstDash val="solid"/>
            <a:headEnd type="none"/>
            <a:tailEnd type="none"/>
          </a:ln>
        </p:spPr>
      </p:sp>
      <p:sp>
        <p:nvSpPr>
          <p:cNvPr id="45" name="Text 42"/>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F04 · F05 · F18 | auditar_evidencias.py · synthesis.py · validation.py</a:t>
            </a:r>
            <a:endParaRPr lang="en-US" sz="870" dirty="0"/>
          </a:p>
        </p:txBody>
      </p:sp>
      <p:sp>
        <p:nvSpPr>
          <p:cNvPr id="46" name="Text 43"/>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26 / 53</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25 · SALIDAS Y PERSISTENCIA</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El reporte conserva datos de cálculo y datos de procedencia</a:t>
            </a:r>
            <a:endParaRPr lang="en-US" sz="2800" dirty="0"/>
          </a:p>
        </p:txBody>
      </p:sp>
      <p:sp>
        <p:nvSpPr>
          <p:cNvPr id="6" name="Shape 3"/>
          <p:cNvSpPr/>
          <p:nvPr/>
        </p:nvSpPr>
        <p:spPr>
          <a:xfrm>
            <a:off x="621792" y="1975104"/>
            <a:ext cx="3575304" cy="3511296"/>
          </a:xfrm>
          <a:prstGeom prst="rect">
            <a:avLst/>
          </a:prstGeom>
          <a:solidFill>
            <a:srgbClr val="FFFFFF"/>
          </a:solidFill>
          <a:ln w="8255">
            <a:solidFill>
              <a:srgbClr val="D9E2E9"/>
            </a:solidFill>
            <a:prstDash val="solid"/>
          </a:ln>
        </p:spPr>
      </p:sp>
      <p:sp>
        <p:nvSpPr>
          <p:cNvPr id="7" name="Shape 4"/>
          <p:cNvSpPr/>
          <p:nvPr/>
        </p:nvSpPr>
        <p:spPr>
          <a:xfrm>
            <a:off x="621792" y="1975104"/>
            <a:ext cx="50292" cy="3511296"/>
          </a:xfrm>
          <a:prstGeom prst="rect">
            <a:avLst/>
          </a:prstGeom>
          <a:solidFill>
            <a:srgbClr val="007C83"/>
          </a:solidFill>
          <a:ln w="8255">
            <a:solidFill>
              <a:srgbClr val="007C83"/>
            </a:solidFill>
            <a:prstDash val="solid"/>
          </a:ln>
        </p:spPr>
      </p:sp>
      <p:sp>
        <p:nvSpPr>
          <p:cNvPr id="8" name="Text 5"/>
          <p:cNvSpPr/>
          <p:nvPr/>
        </p:nvSpPr>
        <p:spPr>
          <a:xfrm>
            <a:off x="822960"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report.json / CSV</a:t>
            </a:r>
            <a:endParaRPr lang="en-US" sz="2200" dirty="0"/>
          </a:p>
        </p:txBody>
      </p:sp>
      <p:sp>
        <p:nvSpPr>
          <p:cNvPr id="9" name="Text 6"/>
          <p:cNvSpPr/>
          <p:nvPr/>
        </p:nvSpPr>
        <p:spPr>
          <a:xfrm>
            <a:off x="822960"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Áreas por categoría, instancias y biblioteca. Estado de validación explícito.</a:t>
            </a:r>
            <a:endParaRPr lang="en-US" sz="1900" dirty="0"/>
          </a:p>
        </p:txBody>
      </p:sp>
      <p:sp>
        <p:nvSpPr>
          <p:cNvPr id="10" name="Shape 7"/>
          <p:cNvSpPr/>
          <p:nvPr/>
        </p:nvSpPr>
        <p:spPr>
          <a:xfrm>
            <a:off x="4352544" y="1975104"/>
            <a:ext cx="3575304" cy="3511296"/>
          </a:xfrm>
          <a:prstGeom prst="rect">
            <a:avLst/>
          </a:prstGeom>
          <a:solidFill>
            <a:srgbClr val="FFFFFF"/>
          </a:solidFill>
          <a:ln w="8255">
            <a:solidFill>
              <a:srgbClr val="D9E2E9"/>
            </a:solidFill>
            <a:prstDash val="solid"/>
          </a:ln>
        </p:spPr>
      </p:sp>
      <p:sp>
        <p:nvSpPr>
          <p:cNvPr id="11" name="Shape 8"/>
          <p:cNvSpPr/>
          <p:nvPr/>
        </p:nvSpPr>
        <p:spPr>
          <a:xfrm>
            <a:off x="4352544" y="1975104"/>
            <a:ext cx="50292" cy="3511296"/>
          </a:xfrm>
          <a:prstGeom prst="rect">
            <a:avLst/>
          </a:prstGeom>
          <a:solidFill>
            <a:srgbClr val="007C83"/>
          </a:solidFill>
          <a:ln w="8255">
            <a:solidFill>
              <a:srgbClr val="007C83"/>
            </a:solidFill>
            <a:prstDash val="solid"/>
          </a:ln>
        </p:spPr>
      </p:sp>
      <p:sp>
        <p:nvSpPr>
          <p:cNvPr id="12" name="Text 9"/>
          <p:cNvSpPr/>
          <p:nvPr/>
        </p:nvSpPr>
        <p:spPr>
          <a:xfrm>
            <a:off x="4553712"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manifest.json</a:t>
            </a:r>
            <a:endParaRPr lang="en-US" sz="2200" dirty="0"/>
          </a:p>
        </p:txBody>
      </p:sp>
      <p:sp>
        <p:nvSpPr>
          <p:cNvPr id="13" name="Text 10"/>
          <p:cNvSpPr/>
          <p:nvPr/>
        </p:nvSpPr>
        <p:spPr>
          <a:xfrm>
            <a:off x="4553712"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Fuentes, Liberty, versiones, política y hashes de estímulos y respuestas.</a:t>
            </a:r>
            <a:endParaRPr lang="en-US" sz="1900" dirty="0"/>
          </a:p>
        </p:txBody>
      </p:sp>
      <p:sp>
        <p:nvSpPr>
          <p:cNvPr id="14" name="Shape 11"/>
          <p:cNvSpPr/>
          <p:nvPr/>
        </p:nvSpPr>
        <p:spPr>
          <a:xfrm>
            <a:off x="8083296" y="1975104"/>
            <a:ext cx="3575304" cy="3511296"/>
          </a:xfrm>
          <a:prstGeom prst="rect">
            <a:avLst/>
          </a:prstGeom>
          <a:solidFill>
            <a:srgbClr val="FFFFFF"/>
          </a:solidFill>
          <a:ln w="8255">
            <a:solidFill>
              <a:srgbClr val="D9E2E9"/>
            </a:solidFill>
            <a:prstDash val="solid"/>
          </a:ln>
        </p:spPr>
      </p:sp>
      <p:sp>
        <p:nvSpPr>
          <p:cNvPr id="15" name="Shape 12"/>
          <p:cNvSpPr/>
          <p:nvPr/>
        </p:nvSpPr>
        <p:spPr>
          <a:xfrm>
            <a:off x="8083296" y="1975104"/>
            <a:ext cx="50292" cy="3511296"/>
          </a:xfrm>
          <a:prstGeom prst="rect">
            <a:avLst/>
          </a:prstGeom>
          <a:solidFill>
            <a:srgbClr val="B36A10"/>
          </a:solidFill>
          <a:ln w="8255">
            <a:solidFill>
              <a:srgbClr val="B36A10"/>
            </a:solidFill>
            <a:prstDash val="solid"/>
          </a:ln>
        </p:spPr>
      </p:sp>
      <p:sp>
        <p:nvSpPr>
          <p:cNvPr id="16" name="Text 13"/>
          <p:cNvSpPr/>
          <p:nvPr/>
        </p:nvSpPr>
        <p:spPr>
          <a:xfrm>
            <a:off x="8284464" y="2185416"/>
            <a:ext cx="3172968" cy="658368"/>
          </a:xfrm>
          <a:prstGeom prst="rect">
            <a:avLst/>
          </a:prstGeom>
          <a:noFill/>
          <a:ln/>
        </p:spPr>
        <p:txBody>
          <a:bodyPr wrap="square" lIns="0" tIns="0" rIns="0" bIns="0" rtlCol="0" anchor="t"/>
          <a:lstStyle/>
          <a:p>
            <a:pPr indent="0" marL="0">
              <a:buNone/>
            </a:pPr>
            <a:r>
              <a:rPr lang="en-US" sz="2200" b="1" dirty="0">
                <a:solidFill>
                  <a:srgbClr val="B36A10"/>
                </a:solidFill>
                <a:latin typeface="Arial" pitchFamily="34" charset="0"/>
                <a:ea typeface="Arial" pitchFamily="34" charset="-122"/>
                <a:cs typeface="Arial" pitchFamily="34" charset="-120"/>
              </a:rPr>
              <a:t>ZIP + SQLite</a:t>
            </a:r>
            <a:endParaRPr lang="en-US" sz="2200" dirty="0"/>
          </a:p>
        </p:txBody>
      </p:sp>
      <p:sp>
        <p:nvSpPr>
          <p:cNvPr id="17" name="Text 14"/>
          <p:cNvSpPr/>
          <p:nvPr/>
        </p:nvSpPr>
        <p:spPr>
          <a:xfrm>
            <a:off x="8284464"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El ZIP conserva artefactos; SQLite mantiene trabajos y resultados persistidos.</a:t>
            </a:r>
            <a:endParaRPr lang="en-US" sz="1900" dirty="0"/>
          </a:p>
        </p:txBody>
      </p:sp>
      <p:sp>
        <p:nvSpPr>
          <p:cNvPr id="18" name="Shape 15"/>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19" name="Text 16"/>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Una gráfica debe poder volver al UUID, manifiesto, script y reporte por celda.</a:t>
            </a:r>
            <a:endParaRPr lang="en-US" sz="1550" dirty="0"/>
          </a:p>
        </p:txBody>
      </p:sp>
      <p:sp>
        <p:nvSpPr>
          <p:cNvPr id="20" name="Shape 17"/>
          <p:cNvSpPr/>
          <p:nvPr/>
        </p:nvSpPr>
        <p:spPr>
          <a:xfrm>
            <a:off x="585216" y="6492240"/>
            <a:ext cx="11009376" cy="0"/>
          </a:xfrm>
          <a:prstGeom prst="line">
            <a:avLst/>
          </a:prstGeom>
          <a:noFill/>
          <a:ln w="8890">
            <a:solidFill>
              <a:srgbClr val="D9E2E9"/>
            </a:solidFill>
            <a:prstDash val="solid"/>
            <a:headEnd type="none"/>
            <a:tailEnd type="none"/>
          </a:ln>
        </p:spPr>
      </p:sp>
      <p:sp>
        <p:nvSpPr>
          <p:cNvPr id="21" name="Text 18"/>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F16 | synthesis.py · api/routes.py · sqlite_repository.py</a:t>
            </a:r>
            <a:endParaRPr lang="en-US" sz="870" dirty="0"/>
          </a:p>
        </p:txBody>
      </p:sp>
      <p:sp>
        <p:nvSpPr>
          <p:cNvPr id="22" name="Text 19"/>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27 / 53</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26 · LECTURA CORRECTA DE LOS GRÁFICOS</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La comparación de la interfaz aplica filtros concretos</a:t>
            </a:r>
            <a:endParaRPr lang="en-US" sz="2800" dirty="0"/>
          </a:p>
        </p:txBody>
      </p:sp>
      <p:sp>
        <p:nvSpPr>
          <p:cNvPr id="6" name="Shape 3"/>
          <p:cNvSpPr/>
          <p:nvPr/>
        </p:nvSpPr>
        <p:spPr>
          <a:xfrm>
            <a:off x="621792" y="1975104"/>
            <a:ext cx="3575304" cy="3511296"/>
          </a:xfrm>
          <a:prstGeom prst="rect">
            <a:avLst/>
          </a:prstGeom>
          <a:solidFill>
            <a:srgbClr val="FFFFFF"/>
          </a:solidFill>
          <a:ln w="8255">
            <a:solidFill>
              <a:srgbClr val="D9E2E9"/>
            </a:solidFill>
            <a:prstDash val="solid"/>
          </a:ln>
        </p:spPr>
      </p:sp>
      <p:sp>
        <p:nvSpPr>
          <p:cNvPr id="7" name="Shape 4"/>
          <p:cNvSpPr/>
          <p:nvPr/>
        </p:nvSpPr>
        <p:spPr>
          <a:xfrm>
            <a:off x="621792" y="1975104"/>
            <a:ext cx="50292" cy="3511296"/>
          </a:xfrm>
          <a:prstGeom prst="rect">
            <a:avLst/>
          </a:prstGeom>
          <a:solidFill>
            <a:srgbClr val="007C83"/>
          </a:solidFill>
          <a:ln w="8255">
            <a:solidFill>
              <a:srgbClr val="007C83"/>
            </a:solidFill>
            <a:prstDash val="solid"/>
          </a:ln>
        </p:spPr>
      </p:sp>
      <p:sp>
        <p:nvSpPr>
          <p:cNvPr id="8" name="Text 5"/>
          <p:cNvSpPr/>
          <p:nvPr/>
        </p:nvSpPr>
        <p:spPr>
          <a:xfrm>
            <a:off x="822960"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Entre tecnologías</a:t>
            </a:r>
            <a:endParaRPr lang="en-US" sz="2200" dirty="0"/>
          </a:p>
        </p:txBody>
      </p:sp>
      <p:sp>
        <p:nvSpPr>
          <p:cNvPr id="9" name="Text 6"/>
          <p:cNvSpPr/>
          <p:nvPr/>
        </p:nvSpPr>
        <p:spPr>
          <a:xfrm>
            <a:off x="822960"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La misma DPU; últimas corridas exitosas por biblioteca.</a:t>
            </a:r>
            <a:endParaRPr lang="en-US" sz="1900" dirty="0"/>
          </a:p>
        </p:txBody>
      </p:sp>
      <p:sp>
        <p:nvSpPr>
          <p:cNvPr id="10" name="Shape 7"/>
          <p:cNvSpPr/>
          <p:nvPr/>
        </p:nvSpPr>
        <p:spPr>
          <a:xfrm>
            <a:off x="4352544" y="1975104"/>
            <a:ext cx="3575304" cy="3511296"/>
          </a:xfrm>
          <a:prstGeom prst="rect">
            <a:avLst/>
          </a:prstGeom>
          <a:solidFill>
            <a:srgbClr val="FFFFFF"/>
          </a:solidFill>
          <a:ln w="8255">
            <a:solidFill>
              <a:srgbClr val="D9E2E9"/>
            </a:solidFill>
            <a:prstDash val="solid"/>
          </a:ln>
        </p:spPr>
      </p:sp>
      <p:sp>
        <p:nvSpPr>
          <p:cNvPr id="11" name="Shape 8"/>
          <p:cNvSpPr/>
          <p:nvPr/>
        </p:nvSpPr>
        <p:spPr>
          <a:xfrm>
            <a:off x="4352544" y="1975104"/>
            <a:ext cx="50292" cy="3511296"/>
          </a:xfrm>
          <a:prstGeom prst="rect">
            <a:avLst/>
          </a:prstGeom>
          <a:solidFill>
            <a:srgbClr val="007C83"/>
          </a:solidFill>
          <a:ln w="8255">
            <a:solidFill>
              <a:srgbClr val="007C83"/>
            </a:solidFill>
            <a:prstDash val="solid"/>
          </a:ln>
        </p:spPr>
      </p:sp>
      <p:sp>
        <p:nvSpPr>
          <p:cNvPr id="12" name="Text 9"/>
          <p:cNvSpPr/>
          <p:nvPr/>
        </p:nvSpPr>
        <p:spPr>
          <a:xfrm>
            <a:off x="4553712"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Entre formatos</a:t>
            </a:r>
            <a:endParaRPr lang="en-US" sz="2200" dirty="0"/>
          </a:p>
        </p:txBody>
      </p:sp>
      <p:sp>
        <p:nvSpPr>
          <p:cNvPr id="13" name="Text 10"/>
          <p:cNvSpPr/>
          <p:nvPr/>
        </p:nvSpPr>
        <p:spPr>
          <a:xfrm>
            <a:off x="4553712"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Una biblioteca; última corrida exitosa de cada diseño.</a:t>
            </a:r>
            <a:endParaRPr lang="en-US" sz="1900" dirty="0"/>
          </a:p>
        </p:txBody>
      </p:sp>
      <p:sp>
        <p:nvSpPr>
          <p:cNvPr id="14" name="Shape 11"/>
          <p:cNvSpPr/>
          <p:nvPr/>
        </p:nvSpPr>
        <p:spPr>
          <a:xfrm>
            <a:off x="8083296" y="1975104"/>
            <a:ext cx="3575304" cy="3511296"/>
          </a:xfrm>
          <a:prstGeom prst="rect">
            <a:avLst/>
          </a:prstGeom>
          <a:solidFill>
            <a:srgbClr val="FFFFFF"/>
          </a:solidFill>
          <a:ln w="8255">
            <a:solidFill>
              <a:srgbClr val="D9E2E9"/>
            </a:solidFill>
            <a:prstDash val="solid"/>
          </a:ln>
        </p:spPr>
      </p:sp>
      <p:sp>
        <p:nvSpPr>
          <p:cNvPr id="15" name="Shape 12"/>
          <p:cNvSpPr/>
          <p:nvPr/>
        </p:nvSpPr>
        <p:spPr>
          <a:xfrm>
            <a:off x="8083296" y="1975104"/>
            <a:ext cx="50292" cy="3511296"/>
          </a:xfrm>
          <a:prstGeom prst="rect">
            <a:avLst/>
          </a:prstGeom>
          <a:solidFill>
            <a:srgbClr val="B36A10"/>
          </a:solidFill>
          <a:ln w="8255">
            <a:solidFill>
              <a:srgbClr val="B36A10"/>
            </a:solidFill>
            <a:prstDash val="solid"/>
          </a:ln>
        </p:spPr>
      </p:sp>
      <p:sp>
        <p:nvSpPr>
          <p:cNvPr id="16" name="Text 13"/>
          <p:cNvSpPr/>
          <p:nvPr/>
        </p:nvSpPr>
        <p:spPr>
          <a:xfrm>
            <a:off x="8284464" y="2185416"/>
            <a:ext cx="3172968" cy="658368"/>
          </a:xfrm>
          <a:prstGeom prst="rect">
            <a:avLst/>
          </a:prstGeom>
          <a:noFill/>
          <a:ln/>
        </p:spPr>
        <p:txBody>
          <a:bodyPr wrap="square" lIns="0" tIns="0" rIns="0" bIns="0" rtlCol="0" anchor="t"/>
          <a:lstStyle/>
          <a:p>
            <a:pPr indent="0" marL="0">
              <a:buNone/>
            </a:pPr>
            <a:r>
              <a:rPr lang="en-US" sz="2200" b="1" dirty="0">
                <a:solidFill>
                  <a:srgbClr val="B36A10"/>
                </a:solidFill>
                <a:latin typeface="Arial" pitchFamily="34" charset="0"/>
                <a:ea typeface="Arial" pitchFamily="34" charset="-122"/>
                <a:cs typeface="Arial" pitchFamily="34" charset="-120"/>
              </a:rPr>
              <a:t>Control que falta reforzar</a:t>
            </a:r>
            <a:endParaRPr lang="en-US" sz="2200" dirty="0"/>
          </a:p>
        </p:txBody>
      </p:sp>
      <p:sp>
        <p:nvSpPr>
          <p:cNvPr id="17" name="Text 14"/>
          <p:cNvSpPr/>
          <p:nvPr/>
        </p:nvSpPr>
        <p:spPr>
          <a:xfrm>
            <a:off x="8284464"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Evitar mezclar versiones o políticas distintas solo porque coinciden los IDs.</a:t>
            </a:r>
            <a:endParaRPr lang="en-US" sz="1900" dirty="0"/>
          </a:p>
        </p:txBody>
      </p:sp>
      <p:sp>
        <p:nvSpPr>
          <p:cNvPr id="18" name="Shape 15"/>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19" name="Text 16"/>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Una comparación visual correcta requiere también una cohorte de entradas y políticas compatible.</a:t>
            </a:r>
            <a:endParaRPr lang="en-US" sz="1550" dirty="0"/>
          </a:p>
        </p:txBody>
      </p:sp>
      <p:sp>
        <p:nvSpPr>
          <p:cNvPr id="20" name="Shape 17"/>
          <p:cNvSpPr/>
          <p:nvPr/>
        </p:nvSpPr>
        <p:spPr>
          <a:xfrm>
            <a:off x="585216" y="6492240"/>
            <a:ext cx="11009376" cy="0"/>
          </a:xfrm>
          <a:prstGeom prst="line">
            <a:avLst/>
          </a:prstGeom>
          <a:noFill/>
          <a:ln w="8890">
            <a:solidFill>
              <a:srgbClr val="D9E2E9"/>
            </a:solidFill>
            <a:prstDash val="solid"/>
            <a:headEnd type="none"/>
            <a:tailEnd type="none"/>
          </a:ln>
        </p:spPr>
      </p:sp>
      <p:sp>
        <p:nvSpPr>
          <p:cNvPr id="21" name="Text 18"/>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F14 | ComparisonPanel.tsx · contracts.ts · repository.list(limit=100)</a:t>
            </a:r>
            <a:endParaRPr lang="en-US" sz="870" dirty="0"/>
          </a:p>
        </p:txBody>
      </p:sp>
      <p:sp>
        <p:nvSpPr>
          <p:cNvPr id="22" name="Text 19"/>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28 / 53</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27 · COBERTURA REAL</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La evidencia completa alcanza 30 de las 33 combinaciones planeadas</a:t>
            </a:r>
            <a:endParaRPr lang="en-US" sz="2800" dirty="0"/>
          </a:p>
        </p:txBody>
      </p:sp>
      <p:sp>
        <p:nvSpPr>
          <p:cNvPr id="6" name="Text 3"/>
          <p:cNvSpPr/>
          <p:nvPr/>
        </p:nvSpPr>
        <p:spPr>
          <a:xfrm>
            <a:off x="914400" y="1883664"/>
            <a:ext cx="2743200" cy="274320"/>
          </a:xfrm>
          <a:prstGeom prst="rect">
            <a:avLst/>
          </a:prstGeom>
          <a:noFill/>
          <a:ln/>
        </p:spPr>
        <p:txBody>
          <a:bodyPr wrap="square" lIns="0" tIns="0" rIns="0" bIns="0" rtlCol="0" anchor="t"/>
          <a:lstStyle/>
          <a:p>
            <a:pPr indent="0" marL="0">
              <a:buNone/>
            </a:pPr>
            <a:r>
              <a:rPr lang="en-US" sz="1300" b="1" dirty="0">
                <a:solidFill>
                  <a:srgbClr val="526474"/>
                </a:solidFill>
                <a:latin typeface="Arial" pitchFamily="34" charset="0"/>
                <a:ea typeface="Arial" pitchFamily="34" charset="-122"/>
                <a:cs typeface="Arial" pitchFamily="34" charset="-120"/>
              </a:rPr>
              <a:t>DPU / formato</a:t>
            </a:r>
            <a:endParaRPr lang="en-US" sz="1300" dirty="0"/>
          </a:p>
        </p:txBody>
      </p:sp>
      <p:sp>
        <p:nvSpPr>
          <p:cNvPr id="7" name="Text 4"/>
          <p:cNvSpPr/>
          <p:nvPr/>
        </p:nvSpPr>
        <p:spPr>
          <a:xfrm>
            <a:off x="4023360" y="1883664"/>
            <a:ext cx="2194560" cy="274320"/>
          </a:xfrm>
          <a:prstGeom prst="rect">
            <a:avLst/>
          </a:prstGeom>
          <a:noFill/>
          <a:ln/>
        </p:spPr>
        <p:txBody>
          <a:bodyPr wrap="square" lIns="0" tIns="0" rIns="0" bIns="0" rtlCol="0" anchor="t"/>
          <a:lstStyle/>
          <a:p>
            <a:pPr algn="ctr" indent="0" marL="0">
              <a:buNone/>
            </a:pPr>
            <a:r>
              <a:rPr lang="en-US" sz="1400" b="1" dirty="0">
                <a:solidFill>
                  <a:srgbClr val="14293B"/>
                </a:solidFill>
                <a:latin typeface="Arial" pitchFamily="34" charset="0"/>
                <a:ea typeface="Arial" pitchFamily="34" charset="-122"/>
                <a:cs typeface="Arial" pitchFamily="34" charset="-120"/>
              </a:rPr>
              <a:t>ihp130</a:t>
            </a:r>
            <a:endParaRPr lang="en-US" sz="1400" dirty="0"/>
          </a:p>
        </p:txBody>
      </p:sp>
      <p:sp>
        <p:nvSpPr>
          <p:cNvPr id="8" name="Text 5"/>
          <p:cNvSpPr/>
          <p:nvPr/>
        </p:nvSpPr>
        <p:spPr>
          <a:xfrm>
            <a:off x="6492240" y="1883664"/>
            <a:ext cx="2194560" cy="274320"/>
          </a:xfrm>
          <a:prstGeom prst="rect">
            <a:avLst/>
          </a:prstGeom>
          <a:noFill/>
          <a:ln/>
        </p:spPr>
        <p:txBody>
          <a:bodyPr wrap="square" lIns="0" tIns="0" rIns="0" bIns="0" rtlCol="0" anchor="t"/>
          <a:lstStyle/>
          <a:p>
            <a:pPr algn="ctr" indent="0" marL="0">
              <a:buNone/>
            </a:pPr>
            <a:r>
              <a:rPr lang="en-US" sz="1400" b="1" dirty="0">
                <a:solidFill>
                  <a:srgbClr val="14293B"/>
                </a:solidFill>
                <a:latin typeface="Arial" pitchFamily="34" charset="0"/>
                <a:ea typeface="Arial" pitchFamily="34" charset="-122"/>
                <a:cs typeface="Arial" pitchFamily="34" charset="-120"/>
              </a:rPr>
              <a:t>nangate45</a:t>
            </a:r>
            <a:endParaRPr lang="en-US" sz="1400" dirty="0"/>
          </a:p>
        </p:txBody>
      </p:sp>
      <p:sp>
        <p:nvSpPr>
          <p:cNvPr id="9" name="Text 6"/>
          <p:cNvSpPr/>
          <p:nvPr/>
        </p:nvSpPr>
        <p:spPr>
          <a:xfrm>
            <a:off x="8961120" y="1883664"/>
            <a:ext cx="2194560" cy="274320"/>
          </a:xfrm>
          <a:prstGeom prst="rect">
            <a:avLst/>
          </a:prstGeom>
          <a:noFill/>
          <a:ln/>
        </p:spPr>
        <p:txBody>
          <a:bodyPr wrap="square" lIns="0" tIns="0" rIns="0" bIns="0" rtlCol="0" anchor="t"/>
          <a:lstStyle/>
          <a:p>
            <a:pPr algn="ctr" indent="0" marL="0">
              <a:buNone/>
            </a:pPr>
            <a:r>
              <a:rPr lang="en-US" sz="1400" b="1" dirty="0">
                <a:solidFill>
                  <a:srgbClr val="14293B"/>
                </a:solidFill>
                <a:latin typeface="Arial" pitchFamily="34" charset="0"/>
                <a:ea typeface="Arial" pitchFamily="34" charset="-122"/>
                <a:cs typeface="Arial" pitchFamily="34" charset="-120"/>
              </a:rPr>
              <a:t>nangate15</a:t>
            </a:r>
            <a:endParaRPr lang="en-US" sz="1400" dirty="0"/>
          </a:p>
        </p:txBody>
      </p:sp>
      <p:sp>
        <p:nvSpPr>
          <p:cNvPr id="10" name="Text 7"/>
          <p:cNvSpPr/>
          <p:nvPr/>
        </p:nvSpPr>
        <p:spPr>
          <a:xfrm>
            <a:off x="941832" y="2350008"/>
            <a:ext cx="2743200" cy="210312"/>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int8_16</a:t>
            </a:r>
            <a:endParaRPr lang="en-US" sz="1350" dirty="0"/>
          </a:p>
        </p:txBody>
      </p:sp>
      <p:sp>
        <p:nvSpPr>
          <p:cNvPr id="11" name="Shape 8"/>
          <p:cNvSpPr/>
          <p:nvPr/>
        </p:nvSpPr>
        <p:spPr>
          <a:xfrm>
            <a:off x="4023360" y="2313432"/>
            <a:ext cx="2194560" cy="242316"/>
          </a:xfrm>
          <a:prstGeom prst="roundRect">
            <a:avLst>
              <a:gd name="adj" fmla="val 11321"/>
            </a:avLst>
          </a:prstGeom>
          <a:solidFill>
            <a:srgbClr val="E5F3F3"/>
          </a:solidFill>
          <a:ln w="8255">
            <a:solidFill>
              <a:srgbClr val="E5F3F3"/>
            </a:solidFill>
            <a:prstDash val="solid"/>
          </a:ln>
        </p:spPr>
      </p:sp>
      <p:sp>
        <p:nvSpPr>
          <p:cNvPr id="12" name="Text 9"/>
          <p:cNvSpPr/>
          <p:nvPr/>
        </p:nvSpPr>
        <p:spPr>
          <a:xfrm>
            <a:off x="4069080" y="2336292"/>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13" name="Shape 10"/>
          <p:cNvSpPr/>
          <p:nvPr/>
        </p:nvSpPr>
        <p:spPr>
          <a:xfrm>
            <a:off x="6492240" y="2313432"/>
            <a:ext cx="2194560" cy="242316"/>
          </a:xfrm>
          <a:prstGeom prst="roundRect">
            <a:avLst>
              <a:gd name="adj" fmla="val 11321"/>
            </a:avLst>
          </a:prstGeom>
          <a:solidFill>
            <a:srgbClr val="E5F3F3"/>
          </a:solidFill>
          <a:ln w="8255">
            <a:solidFill>
              <a:srgbClr val="E5F3F3"/>
            </a:solidFill>
            <a:prstDash val="solid"/>
          </a:ln>
        </p:spPr>
      </p:sp>
      <p:sp>
        <p:nvSpPr>
          <p:cNvPr id="14" name="Text 11"/>
          <p:cNvSpPr/>
          <p:nvPr/>
        </p:nvSpPr>
        <p:spPr>
          <a:xfrm>
            <a:off x="6537960" y="2336292"/>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15" name="Shape 12"/>
          <p:cNvSpPr/>
          <p:nvPr/>
        </p:nvSpPr>
        <p:spPr>
          <a:xfrm>
            <a:off x="8961120" y="2313432"/>
            <a:ext cx="2194560" cy="242316"/>
          </a:xfrm>
          <a:prstGeom prst="roundRect">
            <a:avLst>
              <a:gd name="adj" fmla="val 11321"/>
            </a:avLst>
          </a:prstGeom>
          <a:solidFill>
            <a:srgbClr val="E5F3F3"/>
          </a:solidFill>
          <a:ln w="8255">
            <a:solidFill>
              <a:srgbClr val="E5F3F3"/>
            </a:solidFill>
            <a:prstDash val="solid"/>
          </a:ln>
        </p:spPr>
      </p:sp>
      <p:sp>
        <p:nvSpPr>
          <p:cNvPr id="16" name="Text 13"/>
          <p:cNvSpPr/>
          <p:nvPr/>
        </p:nvSpPr>
        <p:spPr>
          <a:xfrm>
            <a:off x="9006840" y="2336292"/>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17" name="Text 14"/>
          <p:cNvSpPr/>
          <p:nvPr/>
        </p:nvSpPr>
        <p:spPr>
          <a:xfrm>
            <a:off x="941832" y="2638044"/>
            <a:ext cx="2743200" cy="210312"/>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int16_32</a:t>
            </a:r>
            <a:endParaRPr lang="en-US" sz="1350" dirty="0"/>
          </a:p>
        </p:txBody>
      </p:sp>
      <p:sp>
        <p:nvSpPr>
          <p:cNvPr id="18" name="Shape 15"/>
          <p:cNvSpPr/>
          <p:nvPr/>
        </p:nvSpPr>
        <p:spPr>
          <a:xfrm>
            <a:off x="4023360" y="2601468"/>
            <a:ext cx="2194560" cy="242316"/>
          </a:xfrm>
          <a:prstGeom prst="roundRect">
            <a:avLst>
              <a:gd name="adj" fmla="val 11321"/>
            </a:avLst>
          </a:prstGeom>
          <a:solidFill>
            <a:srgbClr val="E5F3F3"/>
          </a:solidFill>
          <a:ln w="8255">
            <a:solidFill>
              <a:srgbClr val="E5F3F3"/>
            </a:solidFill>
            <a:prstDash val="solid"/>
          </a:ln>
        </p:spPr>
      </p:sp>
      <p:sp>
        <p:nvSpPr>
          <p:cNvPr id="19" name="Text 16"/>
          <p:cNvSpPr/>
          <p:nvPr/>
        </p:nvSpPr>
        <p:spPr>
          <a:xfrm>
            <a:off x="4069080" y="2624328"/>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20" name="Shape 17"/>
          <p:cNvSpPr/>
          <p:nvPr/>
        </p:nvSpPr>
        <p:spPr>
          <a:xfrm>
            <a:off x="6492240" y="2601468"/>
            <a:ext cx="2194560" cy="242316"/>
          </a:xfrm>
          <a:prstGeom prst="roundRect">
            <a:avLst>
              <a:gd name="adj" fmla="val 11321"/>
            </a:avLst>
          </a:prstGeom>
          <a:solidFill>
            <a:srgbClr val="E5F3F3"/>
          </a:solidFill>
          <a:ln w="8255">
            <a:solidFill>
              <a:srgbClr val="E5F3F3"/>
            </a:solidFill>
            <a:prstDash val="solid"/>
          </a:ln>
        </p:spPr>
      </p:sp>
      <p:sp>
        <p:nvSpPr>
          <p:cNvPr id="21" name="Text 18"/>
          <p:cNvSpPr/>
          <p:nvPr/>
        </p:nvSpPr>
        <p:spPr>
          <a:xfrm>
            <a:off x="6537960" y="2624328"/>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22" name="Shape 19"/>
          <p:cNvSpPr/>
          <p:nvPr/>
        </p:nvSpPr>
        <p:spPr>
          <a:xfrm>
            <a:off x="8961120" y="2601468"/>
            <a:ext cx="2194560" cy="242316"/>
          </a:xfrm>
          <a:prstGeom prst="roundRect">
            <a:avLst>
              <a:gd name="adj" fmla="val 11321"/>
            </a:avLst>
          </a:prstGeom>
          <a:solidFill>
            <a:srgbClr val="E5F3F3"/>
          </a:solidFill>
          <a:ln w="8255">
            <a:solidFill>
              <a:srgbClr val="E5F3F3"/>
            </a:solidFill>
            <a:prstDash val="solid"/>
          </a:ln>
        </p:spPr>
      </p:sp>
      <p:sp>
        <p:nvSpPr>
          <p:cNvPr id="23" name="Text 20"/>
          <p:cNvSpPr/>
          <p:nvPr/>
        </p:nvSpPr>
        <p:spPr>
          <a:xfrm>
            <a:off x="9006840" y="2624328"/>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24" name="Text 21"/>
          <p:cNvSpPr/>
          <p:nvPr/>
        </p:nvSpPr>
        <p:spPr>
          <a:xfrm>
            <a:off x="941832" y="2926080"/>
            <a:ext cx="2743200" cy="210312"/>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fxp8_16</a:t>
            </a:r>
            <a:endParaRPr lang="en-US" sz="1350" dirty="0"/>
          </a:p>
        </p:txBody>
      </p:sp>
      <p:sp>
        <p:nvSpPr>
          <p:cNvPr id="25" name="Shape 22"/>
          <p:cNvSpPr/>
          <p:nvPr/>
        </p:nvSpPr>
        <p:spPr>
          <a:xfrm>
            <a:off x="4023360" y="2889504"/>
            <a:ext cx="2194560" cy="242316"/>
          </a:xfrm>
          <a:prstGeom prst="roundRect">
            <a:avLst>
              <a:gd name="adj" fmla="val 11321"/>
            </a:avLst>
          </a:prstGeom>
          <a:solidFill>
            <a:srgbClr val="E5F3F3"/>
          </a:solidFill>
          <a:ln w="8255">
            <a:solidFill>
              <a:srgbClr val="E5F3F3"/>
            </a:solidFill>
            <a:prstDash val="solid"/>
          </a:ln>
        </p:spPr>
      </p:sp>
      <p:sp>
        <p:nvSpPr>
          <p:cNvPr id="26" name="Text 23"/>
          <p:cNvSpPr/>
          <p:nvPr/>
        </p:nvSpPr>
        <p:spPr>
          <a:xfrm>
            <a:off x="4069080" y="2912364"/>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27" name="Shape 24"/>
          <p:cNvSpPr/>
          <p:nvPr/>
        </p:nvSpPr>
        <p:spPr>
          <a:xfrm>
            <a:off x="6492240" y="2889504"/>
            <a:ext cx="2194560" cy="242316"/>
          </a:xfrm>
          <a:prstGeom prst="roundRect">
            <a:avLst>
              <a:gd name="adj" fmla="val 11321"/>
            </a:avLst>
          </a:prstGeom>
          <a:solidFill>
            <a:srgbClr val="E5F3F3"/>
          </a:solidFill>
          <a:ln w="8255">
            <a:solidFill>
              <a:srgbClr val="E5F3F3"/>
            </a:solidFill>
            <a:prstDash val="solid"/>
          </a:ln>
        </p:spPr>
      </p:sp>
      <p:sp>
        <p:nvSpPr>
          <p:cNvPr id="28" name="Text 25"/>
          <p:cNvSpPr/>
          <p:nvPr/>
        </p:nvSpPr>
        <p:spPr>
          <a:xfrm>
            <a:off x="6537960" y="2912364"/>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29" name="Shape 26"/>
          <p:cNvSpPr/>
          <p:nvPr/>
        </p:nvSpPr>
        <p:spPr>
          <a:xfrm>
            <a:off x="8961120" y="2889504"/>
            <a:ext cx="2194560" cy="242316"/>
          </a:xfrm>
          <a:prstGeom prst="roundRect">
            <a:avLst>
              <a:gd name="adj" fmla="val 11321"/>
            </a:avLst>
          </a:prstGeom>
          <a:solidFill>
            <a:srgbClr val="E5F3F3"/>
          </a:solidFill>
          <a:ln w="8255">
            <a:solidFill>
              <a:srgbClr val="E5F3F3"/>
            </a:solidFill>
            <a:prstDash val="solid"/>
          </a:ln>
        </p:spPr>
      </p:sp>
      <p:sp>
        <p:nvSpPr>
          <p:cNvPr id="30" name="Text 27"/>
          <p:cNvSpPr/>
          <p:nvPr/>
        </p:nvSpPr>
        <p:spPr>
          <a:xfrm>
            <a:off x="9006840" y="2912364"/>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31" name="Text 28"/>
          <p:cNvSpPr/>
          <p:nvPr/>
        </p:nvSpPr>
        <p:spPr>
          <a:xfrm>
            <a:off x="941832" y="3214116"/>
            <a:ext cx="2743200" cy="210312"/>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fxp16_32</a:t>
            </a:r>
            <a:endParaRPr lang="en-US" sz="1350" dirty="0"/>
          </a:p>
        </p:txBody>
      </p:sp>
      <p:sp>
        <p:nvSpPr>
          <p:cNvPr id="32" name="Shape 29"/>
          <p:cNvSpPr/>
          <p:nvPr/>
        </p:nvSpPr>
        <p:spPr>
          <a:xfrm>
            <a:off x="4023360" y="3177540"/>
            <a:ext cx="2194560" cy="242316"/>
          </a:xfrm>
          <a:prstGeom prst="roundRect">
            <a:avLst>
              <a:gd name="adj" fmla="val 11321"/>
            </a:avLst>
          </a:prstGeom>
          <a:solidFill>
            <a:srgbClr val="E5F3F3"/>
          </a:solidFill>
          <a:ln w="8255">
            <a:solidFill>
              <a:srgbClr val="E5F3F3"/>
            </a:solidFill>
            <a:prstDash val="solid"/>
          </a:ln>
        </p:spPr>
      </p:sp>
      <p:sp>
        <p:nvSpPr>
          <p:cNvPr id="33" name="Text 30"/>
          <p:cNvSpPr/>
          <p:nvPr/>
        </p:nvSpPr>
        <p:spPr>
          <a:xfrm>
            <a:off x="4069080" y="3200400"/>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34" name="Shape 31"/>
          <p:cNvSpPr/>
          <p:nvPr/>
        </p:nvSpPr>
        <p:spPr>
          <a:xfrm>
            <a:off x="6492240" y="3177540"/>
            <a:ext cx="2194560" cy="242316"/>
          </a:xfrm>
          <a:prstGeom prst="roundRect">
            <a:avLst>
              <a:gd name="adj" fmla="val 11321"/>
            </a:avLst>
          </a:prstGeom>
          <a:solidFill>
            <a:srgbClr val="E5F3F3"/>
          </a:solidFill>
          <a:ln w="8255">
            <a:solidFill>
              <a:srgbClr val="E5F3F3"/>
            </a:solidFill>
            <a:prstDash val="solid"/>
          </a:ln>
        </p:spPr>
      </p:sp>
      <p:sp>
        <p:nvSpPr>
          <p:cNvPr id="35" name="Text 32"/>
          <p:cNvSpPr/>
          <p:nvPr/>
        </p:nvSpPr>
        <p:spPr>
          <a:xfrm>
            <a:off x="6537960" y="3200400"/>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36" name="Shape 33"/>
          <p:cNvSpPr/>
          <p:nvPr/>
        </p:nvSpPr>
        <p:spPr>
          <a:xfrm>
            <a:off x="8961120" y="3177540"/>
            <a:ext cx="2194560" cy="242316"/>
          </a:xfrm>
          <a:prstGeom prst="roundRect">
            <a:avLst>
              <a:gd name="adj" fmla="val 11321"/>
            </a:avLst>
          </a:prstGeom>
          <a:solidFill>
            <a:srgbClr val="E5F3F3"/>
          </a:solidFill>
          <a:ln w="8255">
            <a:solidFill>
              <a:srgbClr val="E5F3F3"/>
            </a:solidFill>
            <a:prstDash val="solid"/>
          </a:ln>
        </p:spPr>
      </p:sp>
      <p:sp>
        <p:nvSpPr>
          <p:cNvPr id="37" name="Text 34"/>
          <p:cNvSpPr/>
          <p:nvPr/>
        </p:nvSpPr>
        <p:spPr>
          <a:xfrm>
            <a:off x="9006840" y="3200400"/>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38" name="Text 35"/>
          <p:cNvSpPr/>
          <p:nvPr/>
        </p:nvSpPr>
        <p:spPr>
          <a:xfrm>
            <a:off x="941832" y="3502152"/>
            <a:ext cx="2743200" cy="210312"/>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fp8</a:t>
            </a:r>
            <a:endParaRPr lang="en-US" sz="1350" dirty="0"/>
          </a:p>
        </p:txBody>
      </p:sp>
      <p:sp>
        <p:nvSpPr>
          <p:cNvPr id="39" name="Shape 36"/>
          <p:cNvSpPr/>
          <p:nvPr/>
        </p:nvSpPr>
        <p:spPr>
          <a:xfrm>
            <a:off x="4023360" y="3465576"/>
            <a:ext cx="2194560" cy="242316"/>
          </a:xfrm>
          <a:prstGeom prst="roundRect">
            <a:avLst>
              <a:gd name="adj" fmla="val 11321"/>
            </a:avLst>
          </a:prstGeom>
          <a:solidFill>
            <a:srgbClr val="E5F3F3"/>
          </a:solidFill>
          <a:ln w="8255">
            <a:solidFill>
              <a:srgbClr val="E5F3F3"/>
            </a:solidFill>
            <a:prstDash val="solid"/>
          </a:ln>
        </p:spPr>
      </p:sp>
      <p:sp>
        <p:nvSpPr>
          <p:cNvPr id="40" name="Text 37"/>
          <p:cNvSpPr/>
          <p:nvPr/>
        </p:nvSpPr>
        <p:spPr>
          <a:xfrm>
            <a:off x="4069080" y="3488436"/>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41" name="Shape 38"/>
          <p:cNvSpPr/>
          <p:nvPr/>
        </p:nvSpPr>
        <p:spPr>
          <a:xfrm>
            <a:off x="6492240" y="3465576"/>
            <a:ext cx="2194560" cy="242316"/>
          </a:xfrm>
          <a:prstGeom prst="roundRect">
            <a:avLst>
              <a:gd name="adj" fmla="val 11321"/>
            </a:avLst>
          </a:prstGeom>
          <a:solidFill>
            <a:srgbClr val="E5F3F3"/>
          </a:solidFill>
          <a:ln w="8255">
            <a:solidFill>
              <a:srgbClr val="E5F3F3"/>
            </a:solidFill>
            <a:prstDash val="solid"/>
          </a:ln>
        </p:spPr>
      </p:sp>
      <p:sp>
        <p:nvSpPr>
          <p:cNvPr id="42" name="Text 39"/>
          <p:cNvSpPr/>
          <p:nvPr/>
        </p:nvSpPr>
        <p:spPr>
          <a:xfrm>
            <a:off x="6537960" y="3488436"/>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43" name="Shape 40"/>
          <p:cNvSpPr/>
          <p:nvPr/>
        </p:nvSpPr>
        <p:spPr>
          <a:xfrm>
            <a:off x="8961120" y="3465576"/>
            <a:ext cx="2194560" cy="242316"/>
          </a:xfrm>
          <a:prstGeom prst="roundRect">
            <a:avLst>
              <a:gd name="adj" fmla="val 11321"/>
            </a:avLst>
          </a:prstGeom>
          <a:solidFill>
            <a:srgbClr val="E5F3F3"/>
          </a:solidFill>
          <a:ln w="8255">
            <a:solidFill>
              <a:srgbClr val="E5F3F3"/>
            </a:solidFill>
            <a:prstDash val="solid"/>
          </a:ln>
        </p:spPr>
      </p:sp>
      <p:sp>
        <p:nvSpPr>
          <p:cNvPr id="44" name="Text 41"/>
          <p:cNvSpPr/>
          <p:nvPr/>
        </p:nvSpPr>
        <p:spPr>
          <a:xfrm>
            <a:off x="9006840" y="3488436"/>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45" name="Text 42"/>
          <p:cNvSpPr/>
          <p:nvPr/>
        </p:nvSpPr>
        <p:spPr>
          <a:xfrm>
            <a:off x="941832" y="3790188"/>
            <a:ext cx="2743200" cy="210312"/>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fp16</a:t>
            </a:r>
            <a:endParaRPr lang="en-US" sz="1350" dirty="0"/>
          </a:p>
        </p:txBody>
      </p:sp>
      <p:sp>
        <p:nvSpPr>
          <p:cNvPr id="46" name="Shape 43"/>
          <p:cNvSpPr/>
          <p:nvPr/>
        </p:nvSpPr>
        <p:spPr>
          <a:xfrm>
            <a:off x="4023360" y="3753612"/>
            <a:ext cx="2194560" cy="242316"/>
          </a:xfrm>
          <a:prstGeom prst="roundRect">
            <a:avLst>
              <a:gd name="adj" fmla="val 11321"/>
            </a:avLst>
          </a:prstGeom>
          <a:solidFill>
            <a:srgbClr val="E5F3F3"/>
          </a:solidFill>
          <a:ln w="8255">
            <a:solidFill>
              <a:srgbClr val="E5F3F3"/>
            </a:solidFill>
            <a:prstDash val="solid"/>
          </a:ln>
        </p:spPr>
      </p:sp>
      <p:sp>
        <p:nvSpPr>
          <p:cNvPr id="47" name="Text 44"/>
          <p:cNvSpPr/>
          <p:nvPr/>
        </p:nvSpPr>
        <p:spPr>
          <a:xfrm>
            <a:off x="4069080" y="3776472"/>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48" name="Shape 45"/>
          <p:cNvSpPr/>
          <p:nvPr/>
        </p:nvSpPr>
        <p:spPr>
          <a:xfrm>
            <a:off x="6492240" y="3753612"/>
            <a:ext cx="2194560" cy="242316"/>
          </a:xfrm>
          <a:prstGeom prst="roundRect">
            <a:avLst>
              <a:gd name="adj" fmla="val 11321"/>
            </a:avLst>
          </a:prstGeom>
          <a:solidFill>
            <a:srgbClr val="E5F3F3"/>
          </a:solidFill>
          <a:ln w="8255">
            <a:solidFill>
              <a:srgbClr val="E5F3F3"/>
            </a:solidFill>
            <a:prstDash val="solid"/>
          </a:ln>
        </p:spPr>
      </p:sp>
      <p:sp>
        <p:nvSpPr>
          <p:cNvPr id="49" name="Text 46"/>
          <p:cNvSpPr/>
          <p:nvPr/>
        </p:nvSpPr>
        <p:spPr>
          <a:xfrm>
            <a:off x="6537960" y="3776472"/>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50" name="Shape 47"/>
          <p:cNvSpPr/>
          <p:nvPr/>
        </p:nvSpPr>
        <p:spPr>
          <a:xfrm>
            <a:off x="8961120" y="3753612"/>
            <a:ext cx="2194560" cy="242316"/>
          </a:xfrm>
          <a:prstGeom prst="roundRect">
            <a:avLst>
              <a:gd name="adj" fmla="val 11321"/>
            </a:avLst>
          </a:prstGeom>
          <a:solidFill>
            <a:srgbClr val="E5F3F3"/>
          </a:solidFill>
          <a:ln w="8255">
            <a:solidFill>
              <a:srgbClr val="E5F3F3"/>
            </a:solidFill>
            <a:prstDash val="solid"/>
          </a:ln>
        </p:spPr>
      </p:sp>
      <p:sp>
        <p:nvSpPr>
          <p:cNvPr id="51" name="Text 48"/>
          <p:cNvSpPr/>
          <p:nvPr/>
        </p:nvSpPr>
        <p:spPr>
          <a:xfrm>
            <a:off x="9006840" y="3776472"/>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52" name="Text 49"/>
          <p:cNvSpPr/>
          <p:nvPr/>
        </p:nvSpPr>
        <p:spPr>
          <a:xfrm>
            <a:off x="941832" y="4078224"/>
            <a:ext cx="2743200" cy="210312"/>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fp32</a:t>
            </a:r>
            <a:endParaRPr lang="en-US" sz="1350" dirty="0"/>
          </a:p>
        </p:txBody>
      </p:sp>
      <p:sp>
        <p:nvSpPr>
          <p:cNvPr id="53" name="Shape 50"/>
          <p:cNvSpPr/>
          <p:nvPr/>
        </p:nvSpPr>
        <p:spPr>
          <a:xfrm>
            <a:off x="4023360" y="4041648"/>
            <a:ext cx="2194560" cy="242316"/>
          </a:xfrm>
          <a:prstGeom prst="roundRect">
            <a:avLst>
              <a:gd name="adj" fmla="val 11321"/>
            </a:avLst>
          </a:prstGeom>
          <a:solidFill>
            <a:srgbClr val="E5F3F3"/>
          </a:solidFill>
          <a:ln w="8255">
            <a:solidFill>
              <a:srgbClr val="E5F3F3"/>
            </a:solidFill>
            <a:prstDash val="solid"/>
          </a:ln>
        </p:spPr>
      </p:sp>
      <p:sp>
        <p:nvSpPr>
          <p:cNvPr id="54" name="Text 51"/>
          <p:cNvSpPr/>
          <p:nvPr/>
        </p:nvSpPr>
        <p:spPr>
          <a:xfrm>
            <a:off x="4069080" y="4064508"/>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55" name="Shape 52"/>
          <p:cNvSpPr/>
          <p:nvPr/>
        </p:nvSpPr>
        <p:spPr>
          <a:xfrm>
            <a:off x="6492240" y="4041648"/>
            <a:ext cx="2194560" cy="242316"/>
          </a:xfrm>
          <a:prstGeom prst="roundRect">
            <a:avLst>
              <a:gd name="adj" fmla="val 11321"/>
            </a:avLst>
          </a:prstGeom>
          <a:solidFill>
            <a:srgbClr val="E5F3F3"/>
          </a:solidFill>
          <a:ln w="8255">
            <a:solidFill>
              <a:srgbClr val="E5F3F3"/>
            </a:solidFill>
            <a:prstDash val="solid"/>
          </a:ln>
        </p:spPr>
      </p:sp>
      <p:sp>
        <p:nvSpPr>
          <p:cNvPr id="56" name="Text 53"/>
          <p:cNvSpPr/>
          <p:nvPr/>
        </p:nvSpPr>
        <p:spPr>
          <a:xfrm>
            <a:off x="6537960" y="4064508"/>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57" name="Shape 54"/>
          <p:cNvSpPr/>
          <p:nvPr/>
        </p:nvSpPr>
        <p:spPr>
          <a:xfrm>
            <a:off x="8961120" y="4041648"/>
            <a:ext cx="2194560" cy="242316"/>
          </a:xfrm>
          <a:prstGeom prst="roundRect">
            <a:avLst>
              <a:gd name="adj" fmla="val 11321"/>
            </a:avLst>
          </a:prstGeom>
          <a:solidFill>
            <a:srgbClr val="E5F3F3"/>
          </a:solidFill>
          <a:ln w="8255">
            <a:solidFill>
              <a:srgbClr val="E5F3F3"/>
            </a:solidFill>
            <a:prstDash val="solid"/>
          </a:ln>
        </p:spPr>
      </p:sp>
      <p:sp>
        <p:nvSpPr>
          <p:cNvPr id="58" name="Text 55"/>
          <p:cNvSpPr/>
          <p:nvPr/>
        </p:nvSpPr>
        <p:spPr>
          <a:xfrm>
            <a:off x="9006840" y="4064508"/>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59" name="Text 56"/>
          <p:cNvSpPr/>
          <p:nvPr/>
        </p:nvSpPr>
        <p:spPr>
          <a:xfrm>
            <a:off x="941832" y="4366260"/>
            <a:ext cx="2743200" cy="210312"/>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posit8</a:t>
            </a:r>
            <a:endParaRPr lang="en-US" sz="1350" dirty="0"/>
          </a:p>
        </p:txBody>
      </p:sp>
      <p:sp>
        <p:nvSpPr>
          <p:cNvPr id="60" name="Shape 57"/>
          <p:cNvSpPr/>
          <p:nvPr/>
        </p:nvSpPr>
        <p:spPr>
          <a:xfrm>
            <a:off x="4023360" y="4329684"/>
            <a:ext cx="2194560" cy="242316"/>
          </a:xfrm>
          <a:prstGeom prst="roundRect">
            <a:avLst>
              <a:gd name="adj" fmla="val 11321"/>
            </a:avLst>
          </a:prstGeom>
          <a:solidFill>
            <a:srgbClr val="E5F3F3"/>
          </a:solidFill>
          <a:ln w="8255">
            <a:solidFill>
              <a:srgbClr val="E5F3F3"/>
            </a:solidFill>
            <a:prstDash val="solid"/>
          </a:ln>
        </p:spPr>
      </p:sp>
      <p:sp>
        <p:nvSpPr>
          <p:cNvPr id="61" name="Text 58"/>
          <p:cNvSpPr/>
          <p:nvPr/>
        </p:nvSpPr>
        <p:spPr>
          <a:xfrm>
            <a:off x="4069080" y="4352544"/>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62" name="Shape 59"/>
          <p:cNvSpPr/>
          <p:nvPr/>
        </p:nvSpPr>
        <p:spPr>
          <a:xfrm>
            <a:off x="6492240" y="4329684"/>
            <a:ext cx="2194560" cy="242316"/>
          </a:xfrm>
          <a:prstGeom prst="roundRect">
            <a:avLst>
              <a:gd name="adj" fmla="val 11321"/>
            </a:avLst>
          </a:prstGeom>
          <a:solidFill>
            <a:srgbClr val="E5F3F3"/>
          </a:solidFill>
          <a:ln w="8255">
            <a:solidFill>
              <a:srgbClr val="E5F3F3"/>
            </a:solidFill>
            <a:prstDash val="solid"/>
          </a:ln>
        </p:spPr>
      </p:sp>
      <p:sp>
        <p:nvSpPr>
          <p:cNvPr id="63" name="Text 60"/>
          <p:cNvSpPr/>
          <p:nvPr/>
        </p:nvSpPr>
        <p:spPr>
          <a:xfrm>
            <a:off x="6537960" y="4352544"/>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64" name="Shape 61"/>
          <p:cNvSpPr/>
          <p:nvPr/>
        </p:nvSpPr>
        <p:spPr>
          <a:xfrm>
            <a:off x="8961120" y="4329684"/>
            <a:ext cx="2194560" cy="242316"/>
          </a:xfrm>
          <a:prstGeom prst="roundRect">
            <a:avLst>
              <a:gd name="adj" fmla="val 11321"/>
            </a:avLst>
          </a:prstGeom>
          <a:solidFill>
            <a:srgbClr val="E5F3F3"/>
          </a:solidFill>
          <a:ln w="8255">
            <a:solidFill>
              <a:srgbClr val="E5F3F3"/>
            </a:solidFill>
            <a:prstDash val="solid"/>
          </a:ln>
        </p:spPr>
      </p:sp>
      <p:sp>
        <p:nvSpPr>
          <p:cNvPr id="65" name="Text 62"/>
          <p:cNvSpPr/>
          <p:nvPr/>
        </p:nvSpPr>
        <p:spPr>
          <a:xfrm>
            <a:off x="9006840" y="4352544"/>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66" name="Text 63"/>
          <p:cNvSpPr/>
          <p:nvPr/>
        </p:nvSpPr>
        <p:spPr>
          <a:xfrm>
            <a:off x="941832" y="4654296"/>
            <a:ext cx="2743200" cy="210312"/>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posit16</a:t>
            </a:r>
            <a:endParaRPr lang="en-US" sz="1350" dirty="0"/>
          </a:p>
        </p:txBody>
      </p:sp>
      <p:sp>
        <p:nvSpPr>
          <p:cNvPr id="67" name="Shape 64"/>
          <p:cNvSpPr/>
          <p:nvPr/>
        </p:nvSpPr>
        <p:spPr>
          <a:xfrm>
            <a:off x="4023360" y="4617720"/>
            <a:ext cx="2194560" cy="242316"/>
          </a:xfrm>
          <a:prstGeom prst="roundRect">
            <a:avLst>
              <a:gd name="adj" fmla="val 11321"/>
            </a:avLst>
          </a:prstGeom>
          <a:solidFill>
            <a:srgbClr val="E5F3F3"/>
          </a:solidFill>
          <a:ln w="8255">
            <a:solidFill>
              <a:srgbClr val="E5F3F3"/>
            </a:solidFill>
            <a:prstDash val="solid"/>
          </a:ln>
        </p:spPr>
      </p:sp>
      <p:sp>
        <p:nvSpPr>
          <p:cNvPr id="68" name="Text 65"/>
          <p:cNvSpPr/>
          <p:nvPr/>
        </p:nvSpPr>
        <p:spPr>
          <a:xfrm>
            <a:off x="4069080" y="4640580"/>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69" name="Shape 66"/>
          <p:cNvSpPr/>
          <p:nvPr/>
        </p:nvSpPr>
        <p:spPr>
          <a:xfrm>
            <a:off x="6492240" y="4617720"/>
            <a:ext cx="2194560" cy="242316"/>
          </a:xfrm>
          <a:prstGeom prst="roundRect">
            <a:avLst>
              <a:gd name="adj" fmla="val 11321"/>
            </a:avLst>
          </a:prstGeom>
          <a:solidFill>
            <a:srgbClr val="E5F3F3"/>
          </a:solidFill>
          <a:ln w="8255">
            <a:solidFill>
              <a:srgbClr val="E5F3F3"/>
            </a:solidFill>
            <a:prstDash val="solid"/>
          </a:ln>
        </p:spPr>
      </p:sp>
      <p:sp>
        <p:nvSpPr>
          <p:cNvPr id="70" name="Text 67"/>
          <p:cNvSpPr/>
          <p:nvPr/>
        </p:nvSpPr>
        <p:spPr>
          <a:xfrm>
            <a:off x="6537960" y="4640580"/>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71" name="Shape 68"/>
          <p:cNvSpPr/>
          <p:nvPr/>
        </p:nvSpPr>
        <p:spPr>
          <a:xfrm>
            <a:off x="8961120" y="4617720"/>
            <a:ext cx="2194560" cy="242316"/>
          </a:xfrm>
          <a:prstGeom prst="roundRect">
            <a:avLst>
              <a:gd name="adj" fmla="val 11321"/>
            </a:avLst>
          </a:prstGeom>
          <a:solidFill>
            <a:srgbClr val="E5F3F3"/>
          </a:solidFill>
          <a:ln w="8255">
            <a:solidFill>
              <a:srgbClr val="E5F3F3"/>
            </a:solidFill>
            <a:prstDash val="solid"/>
          </a:ln>
        </p:spPr>
      </p:sp>
      <p:sp>
        <p:nvSpPr>
          <p:cNvPr id="72" name="Text 69"/>
          <p:cNvSpPr/>
          <p:nvPr/>
        </p:nvSpPr>
        <p:spPr>
          <a:xfrm>
            <a:off x="9006840" y="4640580"/>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73" name="Text 70"/>
          <p:cNvSpPr/>
          <p:nvPr/>
        </p:nvSpPr>
        <p:spPr>
          <a:xfrm>
            <a:off x="941832" y="4942332"/>
            <a:ext cx="2743200" cy="210312"/>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posit32</a:t>
            </a:r>
            <a:endParaRPr lang="en-US" sz="1350" dirty="0"/>
          </a:p>
        </p:txBody>
      </p:sp>
      <p:sp>
        <p:nvSpPr>
          <p:cNvPr id="74" name="Shape 71"/>
          <p:cNvSpPr/>
          <p:nvPr/>
        </p:nvSpPr>
        <p:spPr>
          <a:xfrm>
            <a:off x="4023360" y="4905756"/>
            <a:ext cx="2194560" cy="242316"/>
          </a:xfrm>
          <a:prstGeom prst="roundRect">
            <a:avLst>
              <a:gd name="adj" fmla="val 11321"/>
            </a:avLst>
          </a:prstGeom>
          <a:solidFill>
            <a:srgbClr val="E5F3F3"/>
          </a:solidFill>
          <a:ln w="8255">
            <a:solidFill>
              <a:srgbClr val="E5F3F3"/>
            </a:solidFill>
            <a:prstDash val="solid"/>
          </a:ln>
        </p:spPr>
      </p:sp>
      <p:sp>
        <p:nvSpPr>
          <p:cNvPr id="75" name="Text 72"/>
          <p:cNvSpPr/>
          <p:nvPr/>
        </p:nvSpPr>
        <p:spPr>
          <a:xfrm>
            <a:off x="4069080" y="4928616"/>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76" name="Shape 73"/>
          <p:cNvSpPr/>
          <p:nvPr/>
        </p:nvSpPr>
        <p:spPr>
          <a:xfrm>
            <a:off x="6492240" y="4905756"/>
            <a:ext cx="2194560" cy="242316"/>
          </a:xfrm>
          <a:prstGeom prst="roundRect">
            <a:avLst>
              <a:gd name="adj" fmla="val 11321"/>
            </a:avLst>
          </a:prstGeom>
          <a:solidFill>
            <a:srgbClr val="E5F3F3"/>
          </a:solidFill>
          <a:ln w="8255">
            <a:solidFill>
              <a:srgbClr val="E5F3F3"/>
            </a:solidFill>
            <a:prstDash val="solid"/>
          </a:ln>
        </p:spPr>
      </p:sp>
      <p:sp>
        <p:nvSpPr>
          <p:cNvPr id="77" name="Text 74"/>
          <p:cNvSpPr/>
          <p:nvPr/>
        </p:nvSpPr>
        <p:spPr>
          <a:xfrm>
            <a:off x="6537960" y="4928616"/>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78" name="Shape 75"/>
          <p:cNvSpPr/>
          <p:nvPr/>
        </p:nvSpPr>
        <p:spPr>
          <a:xfrm>
            <a:off x="8961120" y="4905756"/>
            <a:ext cx="2194560" cy="242316"/>
          </a:xfrm>
          <a:prstGeom prst="roundRect">
            <a:avLst>
              <a:gd name="adj" fmla="val 11321"/>
            </a:avLst>
          </a:prstGeom>
          <a:solidFill>
            <a:srgbClr val="E5F3F3"/>
          </a:solidFill>
          <a:ln w="8255">
            <a:solidFill>
              <a:srgbClr val="E5F3F3"/>
            </a:solidFill>
            <a:prstDash val="solid"/>
          </a:ln>
        </p:spPr>
      </p:sp>
      <p:sp>
        <p:nvSpPr>
          <p:cNvPr id="79" name="Text 76"/>
          <p:cNvSpPr/>
          <p:nvPr/>
        </p:nvSpPr>
        <p:spPr>
          <a:xfrm>
            <a:off x="9006840" y="4928616"/>
            <a:ext cx="2103120" cy="201168"/>
          </a:xfrm>
          <a:prstGeom prst="rect">
            <a:avLst/>
          </a:prstGeom>
          <a:noFill/>
          <a:ln/>
        </p:spPr>
        <p:txBody>
          <a:bodyPr wrap="square" lIns="0" tIns="0" rIns="0" bIns="0" rtlCol="0" anchor="t"/>
          <a:lstStyle/>
          <a:p>
            <a:pPr algn="ctr" indent="0" marL="0">
              <a:buNone/>
            </a:pPr>
            <a:r>
              <a:rPr lang="en-US" sz="1130" b="1" dirty="0">
                <a:solidFill>
                  <a:srgbClr val="087E60"/>
                </a:solidFill>
                <a:latin typeface="Arial" pitchFamily="34" charset="0"/>
                <a:ea typeface="Arial" pitchFamily="34" charset="-122"/>
                <a:cs typeface="Arial" pitchFamily="34" charset="-120"/>
              </a:rPr>
              <a:t>Documentado</a:t>
            </a:r>
            <a:endParaRPr lang="en-US" sz="1130" dirty="0"/>
          </a:p>
        </p:txBody>
      </p:sp>
      <p:sp>
        <p:nvSpPr>
          <p:cNvPr id="80" name="Text 77"/>
          <p:cNvSpPr/>
          <p:nvPr/>
        </p:nvSpPr>
        <p:spPr>
          <a:xfrm>
            <a:off x="941832" y="5230368"/>
            <a:ext cx="2743200" cy="210312"/>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lns16</a:t>
            </a:r>
            <a:endParaRPr lang="en-US" sz="1350" dirty="0"/>
          </a:p>
        </p:txBody>
      </p:sp>
      <p:sp>
        <p:nvSpPr>
          <p:cNvPr id="81" name="Shape 78"/>
          <p:cNvSpPr/>
          <p:nvPr/>
        </p:nvSpPr>
        <p:spPr>
          <a:xfrm>
            <a:off x="4023360" y="5193792"/>
            <a:ext cx="2194560" cy="242316"/>
          </a:xfrm>
          <a:prstGeom prst="roundRect">
            <a:avLst>
              <a:gd name="adj" fmla="val 11321"/>
            </a:avLst>
          </a:prstGeom>
          <a:solidFill>
            <a:srgbClr val="FFF1D9"/>
          </a:solidFill>
          <a:ln w="8255">
            <a:solidFill>
              <a:srgbClr val="FFF1D9"/>
            </a:solidFill>
            <a:prstDash val="solid"/>
          </a:ln>
        </p:spPr>
      </p:sp>
      <p:sp>
        <p:nvSpPr>
          <p:cNvPr id="82" name="Text 79"/>
          <p:cNvSpPr/>
          <p:nvPr/>
        </p:nvSpPr>
        <p:spPr>
          <a:xfrm>
            <a:off x="4069080" y="5216652"/>
            <a:ext cx="2103120" cy="201168"/>
          </a:xfrm>
          <a:prstGeom prst="rect">
            <a:avLst/>
          </a:prstGeom>
          <a:noFill/>
          <a:ln/>
        </p:spPr>
        <p:txBody>
          <a:bodyPr wrap="square" lIns="0" tIns="0" rIns="0" bIns="0" rtlCol="0" anchor="t"/>
          <a:lstStyle/>
          <a:p>
            <a:pPr algn="ctr" indent="0" marL="0">
              <a:buNone/>
            </a:pPr>
            <a:r>
              <a:rPr lang="en-US" sz="1130" b="1" dirty="0">
                <a:solidFill>
                  <a:srgbClr val="B36A10"/>
                </a:solidFill>
                <a:latin typeface="Arial" pitchFamily="34" charset="0"/>
                <a:ea typeface="Arial" pitchFamily="34" charset="-122"/>
                <a:cs typeface="Arial" pitchFamily="34" charset="-120"/>
              </a:rPr>
              <a:t>Pendiente</a:t>
            </a:r>
            <a:endParaRPr lang="en-US" sz="1130" dirty="0"/>
          </a:p>
        </p:txBody>
      </p:sp>
      <p:sp>
        <p:nvSpPr>
          <p:cNvPr id="83" name="Shape 80"/>
          <p:cNvSpPr/>
          <p:nvPr/>
        </p:nvSpPr>
        <p:spPr>
          <a:xfrm>
            <a:off x="6492240" y="5193792"/>
            <a:ext cx="2194560" cy="242316"/>
          </a:xfrm>
          <a:prstGeom prst="roundRect">
            <a:avLst>
              <a:gd name="adj" fmla="val 11321"/>
            </a:avLst>
          </a:prstGeom>
          <a:solidFill>
            <a:srgbClr val="FFF1D9"/>
          </a:solidFill>
          <a:ln w="8255">
            <a:solidFill>
              <a:srgbClr val="FFF1D9"/>
            </a:solidFill>
            <a:prstDash val="solid"/>
          </a:ln>
        </p:spPr>
      </p:sp>
      <p:sp>
        <p:nvSpPr>
          <p:cNvPr id="84" name="Text 81"/>
          <p:cNvSpPr/>
          <p:nvPr/>
        </p:nvSpPr>
        <p:spPr>
          <a:xfrm>
            <a:off x="6537960" y="5216652"/>
            <a:ext cx="2103120" cy="201168"/>
          </a:xfrm>
          <a:prstGeom prst="rect">
            <a:avLst/>
          </a:prstGeom>
          <a:noFill/>
          <a:ln/>
        </p:spPr>
        <p:txBody>
          <a:bodyPr wrap="square" lIns="0" tIns="0" rIns="0" bIns="0" rtlCol="0" anchor="t"/>
          <a:lstStyle/>
          <a:p>
            <a:pPr algn="ctr" indent="0" marL="0">
              <a:buNone/>
            </a:pPr>
            <a:r>
              <a:rPr lang="en-US" sz="1130" b="1" dirty="0">
                <a:solidFill>
                  <a:srgbClr val="B36A10"/>
                </a:solidFill>
                <a:latin typeface="Arial" pitchFamily="34" charset="0"/>
                <a:ea typeface="Arial" pitchFamily="34" charset="-122"/>
                <a:cs typeface="Arial" pitchFamily="34" charset="-120"/>
              </a:rPr>
              <a:t>Pendiente</a:t>
            </a:r>
            <a:endParaRPr lang="en-US" sz="1130" dirty="0"/>
          </a:p>
        </p:txBody>
      </p:sp>
      <p:sp>
        <p:nvSpPr>
          <p:cNvPr id="85" name="Shape 82"/>
          <p:cNvSpPr/>
          <p:nvPr/>
        </p:nvSpPr>
        <p:spPr>
          <a:xfrm>
            <a:off x="8961120" y="5193792"/>
            <a:ext cx="2194560" cy="242316"/>
          </a:xfrm>
          <a:prstGeom prst="roundRect">
            <a:avLst>
              <a:gd name="adj" fmla="val 11321"/>
            </a:avLst>
          </a:prstGeom>
          <a:solidFill>
            <a:srgbClr val="FFF1D9"/>
          </a:solidFill>
          <a:ln w="8255">
            <a:solidFill>
              <a:srgbClr val="FFF1D9"/>
            </a:solidFill>
            <a:prstDash val="solid"/>
          </a:ln>
        </p:spPr>
      </p:sp>
      <p:sp>
        <p:nvSpPr>
          <p:cNvPr id="86" name="Text 83"/>
          <p:cNvSpPr/>
          <p:nvPr/>
        </p:nvSpPr>
        <p:spPr>
          <a:xfrm>
            <a:off x="9006840" y="5216652"/>
            <a:ext cx="2103120" cy="201168"/>
          </a:xfrm>
          <a:prstGeom prst="rect">
            <a:avLst/>
          </a:prstGeom>
          <a:noFill/>
          <a:ln/>
        </p:spPr>
        <p:txBody>
          <a:bodyPr wrap="square" lIns="0" tIns="0" rIns="0" bIns="0" rtlCol="0" anchor="t"/>
          <a:lstStyle/>
          <a:p>
            <a:pPr algn="ctr" indent="0" marL="0">
              <a:buNone/>
            </a:pPr>
            <a:r>
              <a:rPr lang="en-US" sz="1130" b="1" dirty="0">
                <a:solidFill>
                  <a:srgbClr val="B36A10"/>
                </a:solidFill>
                <a:latin typeface="Arial" pitchFamily="34" charset="0"/>
                <a:ea typeface="Arial" pitchFamily="34" charset="-122"/>
                <a:cs typeface="Arial" pitchFamily="34" charset="-120"/>
              </a:rPr>
              <a:t>Pendiente</a:t>
            </a:r>
            <a:endParaRPr lang="en-US" sz="1130" dirty="0"/>
          </a:p>
        </p:txBody>
      </p:sp>
      <p:sp>
        <p:nvSpPr>
          <p:cNvPr id="87" name="Shape 84"/>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88" name="Text 85"/>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30 casos documentados no significa que LNS16 ni las TCU completas estén validadas.</a:t>
            </a:r>
            <a:endParaRPr lang="en-US" sz="1550" dirty="0"/>
          </a:p>
        </p:txBody>
      </p:sp>
      <p:sp>
        <p:nvSpPr>
          <p:cNvPr id="89" name="Shape 86"/>
          <p:cNvSpPr/>
          <p:nvPr/>
        </p:nvSpPr>
        <p:spPr>
          <a:xfrm>
            <a:off x="585216" y="6492240"/>
            <a:ext cx="11009376" cy="0"/>
          </a:xfrm>
          <a:prstGeom prst="line">
            <a:avLst/>
          </a:prstGeom>
          <a:noFill/>
          <a:ln w="8890">
            <a:solidFill>
              <a:srgbClr val="D9E2E9"/>
            </a:solidFill>
            <a:prstDash val="solid"/>
            <a:headEnd type="none"/>
            <a:tailEnd type="none"/>
          </a:ln>
        </p:spPr>
      </p:sp>
      <p:sp>
        <p:nvSpPr>
          <p:cNvPr id="90" name="Text 87"/>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docs/validation/dpu-matrix-20261018/ · auditoria_evidencias.json</a:t>
            </a:r>
            <a:endParaRPr lang="en-US" sz="870" dirty="0"/>
          </a:p>
        </p:txBody>
      </p:sp>
      <p:sp>
        <p:nvSpPr>
          <p:cNvPr id="91" name="Text 88"/>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29 / 53</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28 · REPORTE REAL</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El ejemplo INT8 muestra valores existentes y su fuente verificable</a:t>
            </a:r>
            <a:endParaRPr lang="en-US" sz="2800" dirty="0"/>
          </a:p>
        </p:txBody>
      </p:sp>
      <p:graphicFrame>
        <p:nvGraphicFramePr>
          <p:cNvPr id="6" name="Chart 0" descr=""/>
          <p:cNvGraphicFramePr/>
          <p:nvPr/>
        </p:nvGraphicFramePr>
        <p:xfrm>
          <a:off x="713232" y="1901952"/>
          <a:ext cx="10652760" cy="3749040"/>
        </p:xfrm>
        <a:graphic xmlns:a="http://schemas.openxmlformats.org/drawingml/2006/main">
          <a:graphicData uri="http://schemas.openxmlformats.org/drawingml/2006/chart">
            <c:chart xmlns:c="http://schemas.openxmlformats.org/drawingml/2006/chart" r:id="rId2"/>
          </a:graphicData>
        </a:graphic>
      </p:graphicFrame>
      <p:sp>
        <p:nvSpPr>
          <p:cNvPr id="7" name="Text 3"/>
          <p:cNvSpPr/>
          <p:nvPr/>
        </p:nvSpPr>
        <p:spPr>
          <a:xfrm>
            <a:off x="7955280" y="5596128"/>
            <a:ext cx="3291840" cy="201168"/>
          </a:xfrm>
          <a:prstGeom prst="rect">
            <a:avLst/>
          </a:prstGeom>
          <a:noFill/>
          <a:ln/>
        </p:spPr>
        <p:txBody>
          <a:bodyPr wrap="square" lIns="0" tIns="0" rIns="0" bIns="0" rtlCol="0" anchor="t"/>
          <a:lstStyle/>
          <a:p>
            <a:pPr algn="r" indent="0" marL="0">
              <a:buNone/>
            </a:pPr>
            <a:r>
              <a:rPr lang="en-US" sz="1100" dirty="0">
                <a:solidFill>
                  <a:srgbClr val="526474"/>
                </a:solidFill>
                <a:latin typeface="Arial" pitchFamily="34" charset="0"/>
                <a:ea typeface="Arial" pitchFamily="34" charset="-122"/>
                <a:cs typeface="Arial" pitchFamily="34" charset="-120"/>
              </a:rPr>
              <a:t>Área nominal de celdas · µm²</a:t>
            </a:r>
            <a:endParaRPr lang="en-US" sz="1100" dirty="0"/>
          </a:p>
        </p:txBody>
      </p:sp>
      <p:sp>
        <p:nvSpPr>
          <p:cNvPr id="8" name="Shape 4"/>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9" name="Text 5"/>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Es una comparación de bibliotecas e implementaciones; no de velocidad, potencia o silicio fabricado.</a:t>
            </a:r>
            <a:endParaRPr lang="en-US" sz="1550" dirty="0"/>
          </a:p>
        </p:txBody>
      </p:sp>
      <p:sp>
        <p:nvSpPr>
          <p:cNvPr id="10" name="Shape 6"/>
          <p:cNvSpPr/>
          <p:nvPr/>
        </p:nvSpPr>
        <p:spPr>
          <a:xfrm>
            <a:off x="585216" y="6492240"/>
            <a:ext cx="11009376" cy="0"/>
          </a:xfrm>
          <a:prstGeom prst="line">
            <a:avLst/>
          </a:prstGeom>
          <a:noFill/>
          <a:ln w="8890">
            <a:solidFill>
              <a:srgbClr val="D9E2E9"/>
            </a:solidFill>
            <a:prstDash val="solid"/>
            <a:headEnd type="none"/>
            <a:tailEnd type="none"/>
          </a:ln>
        </p:spPr>
      </p:sp>
      <p:sp>
        <p:nvSpPr>
          <p:cNvPr id="11" name="Text 7"/>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F04 | int8_16/{ihp130,nangate45,nangate15}/report.json</a:t>
            </a:r>
            <a:endParaRPr lang="en-US" sz="870" dirty="0"/>
          </a:p>
        </p:txBody>
      </p:sp>
      <p:sp>
        <p:nvSpPr>
          <p:cNvPr id="12" name="Text 8"/>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30 / 53</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29 · COMPARACIÓN CON BIBLIOTECA FIJA</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Dentro de Nangate45, el formato cambia la implementación y el área</a:t>
            </a:r>
            <a:endParaRPr lang="en-US" sz="2800" dirty="0"/>
          </a:p>
        </p:txBody>
      </p:sp>
      <p:graphicFrame>
        <p:nvGraphicFramePr>
          <p:cNvPr id="6" name="Chart 0" descr=""/>
          <p:cNvGraphicFramePr/>
          <p:nvPr/>
        </p:nvGraphicFramePr>
        <p:xfrm>
          <a:off x="713232" y="1901952"/>
          <a:ext cx="10652760" cy="3749040"/>
        </p:xfrm>
        <a:graphic xmlns:a="http://schemas.openxmlformats.org/drawingml/2006/main">
          <a:graphicData uri="http://schemas.openxmlformats.org/drawingml/2006/chart">
            <c:chart xmlns:c="http://schemas.openxmlformats.org/drawingml/2006/chart" r:id="rId2"/>
          </a:graphicData>
        </a:graphic>
      </p:graphicFrame>
      <p:sp>
        <p:nvSpPr>
          <p:cNvPr id="7" name="Text 3"/>
          <p:cNvSpPr/>
          <p:nvPr/>
        </p:nvSpPr>
        <p:spPr>
          <a:xfrm>
            <a:off x="7955280" y="5596128"/>
            <a:ext cx="3291840" cy="201168"/>
          </a:xfrm>
          <a:prstGeom prst="rect">
            <a:avLst/>
          </a:prstGeom>
          <a:noFill/>
          <a:ln/>
        </p:spPr>
        <p:txBody>
          <a:bodyPr wrap="square" lIns="0" tIns="0" rIns="0" bIns="0" rtlCol="0" anchor="t"/>
          <a:lstStyle/>
          <a:p>
            <a:pPr algn="r" indent="0" marL="0">
              <a:buNone/>
            </a:pPr>
            <a:r>
              <a:rPr lang="en-US" sz="1100" dirty="0">
                <a:solidFill>
                  <a:srgbClr val="526474"/>
                </a:solidFill>
                <a:latin typeface="Arial" pitchFamily="34" charset="0"/>
                <a:ea typeface="Arial" pitchFamily="34" charset="-122"/>
                <a:cs typeface="Arial" pitchFamily="34" charset="-120"/>
              </a:rPr>
              <a:t>Área nominal de celdas · µm²</a:t>
            </a:r>
            <a:endParaRPr lang="en-US" sz="1100" dirty="0"/>
          </a:p>
        </p:txBody>
      </p:sp>
      <p:sp>
        <p:nvSpPr>
          <p:cNvPr id="8" name="Shape 4"/>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9" name="Text 5"/>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LNS16 no se grafica: no existe un área final validada en el archivo.</a:t>
            </a:r>
            <a:endParaRPr lang="en-US" sz="1550" dirty="0"/>
          </a:p>
        </p:txBody>
      </p:sp>
      <p:sp>
        <p:nvSpPr>
          <p:cNvPr id="10" name="Shape 6"/>
          <p:cNvSpPr/>
          <p:nvPr/>
        </p:nvSpPr>
        <p:spPr>
          <a:xfrm>
            <a:off x="585216" y="6492240"/>
            <a:ext cx="11009376" cy="0"/>
          </a:xfrm>
          <a:prstGeom prst="line">
            <a:avLst/>
          </a:prstGeom>
          <a:noFill/>
          <a:ln w="8890">
            <a:solidFill>
              <a:srgbClr val="D9E2E9"/>
            </a:solidFill>
            <a:prstDash val="solid"/>
            <a:headEnd type="none"/>
            <a:tailEnd type="none"/>
          </a:ln>
        </p:spPr>
      </p:sp>
      <p:sp>
        <p:nvSpPr>
          <p:cNvPr id="11" name="Text 7"/>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auditoria_evidencias.json · casos nangate45</a:t>
            </a:r>
            <a:endParaRPr lang="en-US" sz="870" dirty="0"/>
          </a:p>
        </p:txBody>
      </p:sp>
      <p:sp>
        <p:nvSpPr>
          <p:cNvPr id="12" name="Text 8"/>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31 / 53</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30 · VERIFICACIÓN DE ESTA REVISIÓN</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La auditoría volvió a comprobar el archivo sin ejecutar EDA</a:t>
            </a:r>
            <a:endParaRPr lang="en-US" sz="2800" dirty="0"/>
          </a:p>
        </p:txBody>
      </p:sp>
      <p:sp>
        <p:nvSpPr>
          <p:cNvPr id="6" name="Shape 3"/>
          <p:cNvSpPr/>
          <p:nvPr/>
        </p:nvSpPr>
        <p:spPr>
          <a:xfrm>
            <a:off x="621792" y="1975104"/>
            <a:ext cx="3575304" cy="3511296"/>
          </a:xfrm>
          <a:prstGeom prst="rect">
            <a:avLst/>
          </a:prstGeom>
          <a:solidFill>
            <a:srgbClr val="FFFFFF"/>
          </a:solidFill>
          <a:ln w="8255">
            <a:solidFill>
              <a:srgbClr val="D9E2E9"/>
            </a:solidFill>
            <a:prstDash val="solid"/>
          </a:ln>
        </p:spPr>
      </p:sp>
      <p:sp>
        <p:nvSpPr>
          <p:cNvPr id="7" name="Shape 4"/>
          <p:cNvSpPr/>
          <p:nvPr/>
        </p:nvSpPr>
        <p:spPr>
          <a:xfrm>
            <a:off x="621792" y="1975104"/>
            <a:ext cx="50292" cy="3511296"/>
          </a:xfrm>
          <a:prstGeom prst="rect">
            <a:avLst/>
          </a:prstGeom>
          <a:solidFill>
            <a:srgbClr val="007C83"/>
          </a:solidFill>
          <a:ln w="8255">
            <a:solidFill>
              <a:srgbClr val="007C83"/>
            </a:solidFill>
            <a:prstDash val="solid"/>
          </a:ln>
        </p:spPr>
      </p:sp>
      <p:sp>
        <p:nvSpPr>
          <p:cNvPr id="8" name="Text 5"/>
          <p:cNvSpPr/>
          <p:nvPr/>
        </p:nvSpPr>
        <p:spPr>
          <a:xfrm>
            <a:off x="822960"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44 entradas</a:t>
            </a:r>
            <a:endParaRPr lang="en-US" sz="2200" dirty="0"/>
          </a:p>
        </p:txBody>
      </p:sp>
      <p:sp>
        <p:nvSpPr>
          <p:cNvPr id="9" name="Text 6"/>
          <p:cNvSpPr/>
          <p:nvPr/>
        </p:nvSpPr>
        <p:spPr>
          <a:xfrm>
            <a:off x="822960"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Originales y snapshots coinciden con los SHA-256 registrados.</a:t>
            </a:r>
            <a:endParaRPr lang="en-US" sz="1900" dirty="0"/>
          </a:p>
        </p:txBody>
      </p:sp>
      <p:sp>
        <p:nvSpPr>
          <p:cNvPr id="10" name="Shape 7"/>
          <p:cNvSpPr/>
          <p:nvPr/>
        </p:nvSpPr>
        <p:spPr>
          <a:xfrm>
            <a:off x="4352544" y="1975104"/>
            <a:ext cx="3575304" cy="3511296"/>
          </a:xfrm>
          <a:prstGeom prst="rect">
            <a:avLst/>
          </a:prstGeom>
          <a:solidFill>
            <a:srgbClr val="FFFFFF"/>
          </a:solidFill>
          <a:ln w="8255">
            <a:solidFill>
              <a:srgbClr val="D9E2E9"/>
            </a:solidFill>
            <a:prstDash val="solid"/>
          </a:ln>
        </p:spPr>
      </p:sp>
      <p:sp>
        <p:nvSpPr>
          <p:cNvPr id="11" name="Shape 8"/>
          <p:cNvSpPr/>
          <p:nvPr/>
        </p:nvSpPr>
        <p:spPr>
          <a:xfrm>
            <a:off x="4352544" y="1975104"/>
            <a:ext cx="50292" cy="3511296"/>
          </a:xfrm>
          <a:prstGeom prst="rect">
            <a:avLst/>
          </a:prstGeom>
          <a:solidFill>
            <a:srgbClr val="007C83"/>
          </a:solidFill>
          <a:ln w="8255">
            <a:solidFill>
              <a:srgbClr val="007C83"/>
            </a:solidFill>
            <a:prstDash val="solid"/>
          </a:ln>
        </p:spPr>
      </p:sp>
      <p:sp>
        <p:nvSpPr>
          <p:cNvPr id="12" name="Text 9"/>
          <p:cNvSpPr/>
          <p:nvPr/>
        </p:nvSpPr>
        <p:spPr>
          <a:xfrm>
            <a:off x="4553712"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30 cuentas de área</a:t>
            </a:r>
            <a:endParaRPr lang="en-US" sz="2200" dirty="0"/>
          </a:p>
        </p:txBody>
      </p:sp>
      <p:sp>
        <p:nvSpPr>
          <p:cNvPr id="13" name="Text 10"/>
          <p:cNvSpPr/>
          <p:nvPr/>
        </p:nvSpPr>
        <p:spPr>
          <a:xfrm>
            <a:off x="4553712"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Filas y categorías coinciden con Liberty y stat. Desacuerdo observado: 0.</a:t>
            </a:r>
            <a:endParaRPr lang="en-US" sz="1900" dirty="0"/>
          </a:p>
        </p:txBody>
      </p:sp>
      <p:sp>
        <p:nvSpPr>
          <p:cNvPr id="14" name="Shape 11"/>
          <p:cNvSpPr/>
          <p:nvPr/>
        </p:nvSpPr>
        <p:spPr>
          <a:xfrm>
            <a:off x="8083296" y="1975104"/>
            <a:ext cx="3575304" cy="3511296"/>
          </a:xfrm>
          <a:prstGeom prst="rect">
            <a:avLst/>
          </a:prstGeom>
          <a:solidFill>
            <a:srgbClr val="FFFFFF"/>
          </a:solidFill>
          <a:ln w="8255">
            <a:solidFill>
              <a:srgbClr val="D9E2E9"/>
            </a:solidFill>
            <a:prstDash val="solid"/>
          </a:ln>
        </p:spPr>
      </p:sp>
      <p:sp>
        <p:nvSpPr>
          <p:cNvPr id="15" name="Shape 12"/>
          <p:cNvSpPr/>
          <p:nvPr/>
        </p:nvSpPr>
        <p:spPr>
          <a:xfrm>
            <a:off x="8083296" y="1975104"/>
            <a:ext cx="50292" cy="3511296"/>
          </a:xfrm>
          <a:prstGeom prst="rect">
            <a:avLst/>
          </a:prstGeom>
          <a:solidFill>
            <a:srgbClr val="B36A10"/>
          </a:solidFill>
          <a:ln w="8255">
            <a:solidFill>
              <a:srgbClr val="B36A10"/>
            </a:solidFill>
            <a:prstDash val="solid"/>
          </a:ln>
        </p:spPr>
      </p:sp>
      <p:sp>
        <p:nvSpPr>
          <p:cNvPr id="16" name="Text 13"/>
          <p:cNvSpPr/>
          <p:nvPr/>
        </p:nvSpPr>
        <p:spPr>
          <a:xfrm>
            <a:off x="8284464" y="2185416"/>
            <a:ext cx="3172968" cy="658368"/>
          </a:xfrm>
          <a:prstGeom prst="rect">
            <a:avLst/>
          </a:prstGeom>
          <a:noFill/>
          <a:ln/>
        </p:spPr>
        <p:txBody>
          <a:bodyPr wrap="square" lIns="0" tIns="0" rIns="0" bIns="0" rtlCol="0" anchor="t"/>
          <a:lstStyle/>
          <a:p>
            <a:pPr indent="0" marL="0">
              <a:buNone/>
            </a:pPr>
            <a:r>
              <a:rPr lang="en-US" sz="2200" b="1" dirty="0">
                <a:solidFill>
                  <a:srgbClr val="B36A10"/>
                </a:solidFill>
                <a:latin typeface="Arial" pitchFamily="34" charset="0"/>
                <a:ea typeface="Arial" pitchFamily="34" charset="-122"/>
                <a:cs typeface="Arial" pitchFamily="34" charset="-120"/>
              </a:rPr>
              <a:t>1.536 resultados INT</a:t>
            </a:r>
            <a:endParaRPr lang="en-US" sz="2200" dirty="0"/>
          </a:p>
        </p:txBody>
      </p:sp>
      <p:sp>
        <p:nvSpPr>
          <p:cNvPr id="17" name="Text 14"/>
          <p:cNvSpPr/>
          <p:nvPr/>
        </p:nvSpPr>
        <p:spPr>
          <a:xfrm>
            <a:off x="8284464"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Recalculados en Python. Además: 20 tests backend y 42 tests frontend aprobados.</a:t>
            </a:r>
            <a:endParaRPr lang="en-US" sz="1900" dirty="0"/>
          </a:p>
        </p:txBody>
      </p:sp>
      <p:sp>
        <p:nvSpPr>
          <p:cNvPr id="18" name="Shape 15"/>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19" name="Text 16"/>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Hoy se verificó el archivo conservado; no se volvieron a sintetizar los circuitos.</a:t>
            </a:r>
            <a:endParaRPr lang="en-US" sz="1550" dirty="0"/>
          </a:p>
        </p:txBody>
      </p:sp>
      <p:sp>
        <p:nvSpPr>
          <p:cNvPr id="20" name="Shape 17"/>
          <p:cNvSpPr/>
          <p:nvPr/>
        </p:nvSpPr>
        <p:spPr>
          <a:xfrm>
            <a:off x="585216" y="6492240"/>
            <a:ext cx="11009376" cy="0"/>
          </a:xfrm>
          <a:prstGeom prst="line">
            <a:avLst/>
          </a:prstGeom>
          <a:noFill/>
          <a:ln w="8890">
            <a:solidFill>
              <a:srgbClr val="D9E2E9"/>
            </a:solidFill>
            <a:prstDash val="solid"/>
            <a:headEnd type="none"/>
            <a:tailEnd type="none"/>
          </a:ln>
        </p:spPr>
      </p:sp>
      <p:sp>
        <p:nvSpPr>
          <p:cNvPr id="21" name="Text 18"/>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auditar_evidencias.py · auditoria_evidencias.json/.csv · pytest/vitest 19/10</a:t>
            </a:r>
            <a:endParaRPr lang="en-US" sz="870" dirty="0"/>
          </a:p>
        </p:txBody>
      </p:sp>
      <p:sp>
        <p:nvSpPr>
          <p:cNvPr id="22" name="Text 19"/>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32 / 53</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31 · BRECHA DE EVIDENCIA</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El archivo compacto permite auditar cuentas, pero no repetir toda la simulación</a:t>
            </a:r>
            <a:endParaRPr lang="en-US" sz="2800" dirty="0"/>
          </a:p>
        </p:txBody>
      </p:sp>
      <p:sp>
        <p:nvSpPr>
          <p:cNvPr id="6" name="Shape 3"/>
          <p:cNvSpPr/>
          <p:nvPr/>
        </p:nvSpPr>
        <p:spPr>
          <a:xfrm>
            <a:off x="621792" y="1975104"/>
            <a:ext cx="3575304" cy="3511296"/>
          </a:xfrm>
          <a:prstGeom prst="rect">
            <a:avLst/>
          </a:prstGeom>
          <a:solidFill>
            <a:srgbClr val="FFFFFF"/>
          </a:solidFill>
          <a:ln w="8255">
            <a:solidFill>
              <a:srgbClr val="D9E2E9"/>
            </a:solidFill>
            <a:prstDash val="solid"/>
          </a:ln>
        </p:spPr>
      </p:sp>
      <p:sp>
        <p:nvSpPr>
          <p:cNvPr id="7" name="Shape 4"/>
          <p:cNvSpPr/>
          <p:nvPr/>
        </p:nvSpPr>
        <p:spPr>
          <a:xfrm>
            <a:off x="621792" y="1975104"/>
            <a:ext cx="50292" cy="3511296"/>
          </a:xfrm>
          <a:prstGeom prst="rect">
            <a:avLst/>
          </a:prstGeom>
          <a:solidFill>
            <a:srgbClr val="007C83"/>
          </a:solidFill>
          <a:ln w="8255">
            <a:solidFill>
              <a:srgbClr val="007C83"/>
            </a:solidFill>
            <a:prstDash val="solid"/>
          </a:ln>
        </p:spPr>
      </p:sp>
      <p:sp>
        <p:nvSpPr>
          <p:cNvPr id="8" name="Text 5"/>
          <p:cNvSpPr/>
          <p:nvPr/>
        </p:nvSpPr>
        <p:spPr>
          <a:xfrm>
            <a:off x="822960"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Conservado</a:t>
            </a:r>
            <a:endParaRPr lang="en-US" sz="2200" dirty="0"/>
          </a:p>
        </p:txBody>
      </p:sp>
      <p:sp>
        <p:nvSpPr>
          <p:cNvPr id="9" name="Text 6"/>
          <p:cNvSpPr/>
          <p:nvPr/>
        </p:nvSpPr>
        <p:spPr>
          <a:xfrm>
            <a:off x="822960"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Reportes, manifiestos, stat, scripts, vectores, testbenches y logs gzip.</a:t>
            </a:r>
            <a:endParaRPr lang="en-US" sz="1900" dirty="0"/>
          </a:p>
        </p:txBody>
      </p:sp>
      <p:sp>
        <p:nvSpPr>
          <p:cNvPr id="10" name="Shape 7"/>
          <p:cNvSpPr/>
          <p:nvPr/>
        </p:nvSpPr>
        <p:spPr>
          <a:xfrm>
            <a:off x="4352544" y="1975104"/>
            <a:ext cx="3575304" cy="3511296"/>
          </a:xfrm>
          <a:prstGeom prst="rect">
            <a:avLst/>
          </a:prstGeom>
          <a:solidFill>
            <a:srgbClr val="FFFFFF"/>
          </a:solidFill>
          <a:ln w="8255">
            <a:solidFill>
              <a:srgbClr val="D9E2E9"/>
            </a:solidFill>
            <a:prstDash val="solid"/>
          </a:ln>
        </p:spPr>
      </p:sp>
      <p:sp>
        <p:nvSpPr>
          <p:cNvPr id="11" name="Shape 8"/>
          <p:cNvSpPr/>
          <p:nvPr/>
        </p:nvSpPr>
        <p:spPr>
          <a:xfrm>
            <a:off x="4352544" y="1975104"/>
            <a:ext cx="50292" cy="3511296"/>
          </a:xfrm>
          <a:prstGeom prst="rect">
            <a:avLst/>
          </a:prstGeom>
          <a:solidFill>
            <a:srgbClr val="007C83"/>
          </a:solidFill>
          <a:ln w="8255">
            <a:solidFill>
              <a:srgbClr val="007C83"/>
            </a:solidFill>
            <a:prstDash val="solid"/>
          </a:ln>
        </p:spPr>
      </p:sp>
      <p:sp>
        <p:nvSpPr>
          <p:cNvPr id="12" name="Text 9"/>
          <p:cNvSpPr/>
          <p:nvPr/>
        </p:nvSpPr>
        <p:spPr>
          <a:xfrm>
            <a:off x="4553712"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No conservado</a:t>
            </a:r>
            <a:endParaRPr lang="en-US" sz="2200" dirty="0"/>
          </a:p>
        </p:txBody>
      </p:sp>
      <p:sp>
        <p:nvSpPr>
          <p:cNvPr id="13" name="Text 10"/>
          <p:cNvSpPr/>
          <p:nvPr/>
        </p:nvSpPr>
        <p:spPr>
          <a:xfrm>
            <a:off x="4553712"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Netlists mapped.v / mapped.json, conversión design.v y modelos cells_sim.v.</a:t>
            </a:r>
            <a:endParaRPr lang="en-US" sz="1900" dirty="0"/>
          </a:p>
        </p:txBody>
      </p:sp>
      <p:sp>
        <p:nvSpPr>
          <p:cNvPr id="14" name="Shape 11"/>
          <p:cNvSpPr/>
          <p:nvPr/>
        </p:nvSpPr>
        <p:spPr>
          <a:xfrm>
            <a:off x="8083296" y="1975104"/>
            <a:ext cx="3575304" cy="3511296"/>
          </a:xfrm>
          <a:prstGeom prst="rect">
            <a:avLst/>
          </a:prstGeom>
          <a:solidFill>
            <a:srgbClr val="FFFFFF"/>
          </a:solidFill>
          <a:ln w="8255">
            <a:solidFill>
              <a:srgbClr val="D9E2E9"/>
            </a:solidFill>
            <a:prstDash val="solid"/>
          </a:ln>
        </p:spPr>
      </p:sp>
      <p:sp>
        <p:nvSpPr>
          <p:cNvPr id="15" name="Shape 12"/>
          <p:cNvSpPr/>
          <p:nvPr/>
        </p:nvSpPr>
        <p:spPr>
          <a:xfrm>
            <a:off x="8083296" y="1975104"/>
            <a:ext cx="50292" cy="3511296"/>
          </a:xfrm>
          <a:prstGeom prst="rect">
            <a:avLst/>
          </a:prstGeom>
          <a:solidFill>
            <a:srgbClr val="B36A10"/>
          </a:solidFill>
          <a:ln w="8255">
            <a:solidFill>
              <a:srgbClr val="B36A10"/>
            </a:solidFill>
            <a:prstDash val="solid"/>
          </a:ln>
        </p:spPr>
      </p:sp>
      <p:sp>
        <p:nvSpPr>
          <p:cNvPr id="16" name="Text 13"/>
          <p:cNvSpPr/>
          <p:nvPr/>
        </p:nvSpPr>
        <p:spPr>
          <a:xfrm>
            <a:off x="8284464" y="2185416"/>
            <a:ext cx="3172968" cy="658368"/>
          </a:xfrm>
          <a:prstGeom prst="rect">
            <a:avLst/>
          </a:prstGeom>
          <a:noFill/>
          <a:ln/>
        </p:spPr>
        <p:txBody>
          <a:bodyPr wrap="square" lIns="0" tIns="0" rIns="0" bIns="0" rtlCol="0" anchor="t"/>
          <a:lstStyle/>
          <a:p>
            <a:pPr indent="0" marL="0">
              <a:buNone/>
            </a:pPr>
            <a:r>
              <a:rPr lang="en-US" sz="2200" b="1" dirty="0">
                <a:solidFill>
                  <a:srgbClr val="B36A10"/>
                </a:solidFill>
                <a:latin typeface="Arial" pitchFamily="34" charset="0"/>
                <a:ea typeface="Arial" pitchFamily="34" charset="-122"/>
                <a:cs typeface="Arial" pitchFamily="34" charset="-120"/>
              </a:rPr>
              <a:t>Cierre recomendado</a:t>
            </a:r>
            <a:endParaRPr lang="en-US" sz="2200" dirty="0"/>
          </a:p>
        </p:txBody>
      </p:sp>
      <p:sp>
        <p:nvSpPr>
          <p:cNvPr id="17" name="Text 14"/>
          <p:cNvSpPr/>
          <p:nvPr/>
        </p:nvSpPr>
        <p:spPr>
          <a:xfrm>
            <a:off x="8284464"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Retener el ZIP completo y sus hashes en futuras corridas controladas.</a:t>
            </a:r>
            <a:endParaRPr lang="en-US" sz="1900" dirty="0"/>
          </a:p>
        </p:txBody>
      </p:sp>
      <p:sp>
        <p:nvSpPr>
          <p:cNvPr id="18" name="Shape 15"/>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19" name="Text 16"/>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Los logs documentan una ejecución; no sustituyen los archivos necesarios para repetirla.</a:t>
            </a:r>
            <a:endParaRPr lang="en-US" sz="1550" dirty="0"/>
          </a:p>
        </p:txBody>
      </p:sp>
      <p:sp>
        <p:nvSpPr>
          <p:cNvPr id="20" name="Shape 17"/>
          <p:cNvSpPr/>
          <p:nvPr/>
        </p:nvSpPr>
        <p:spPr>
          <a:xfrm>
            <a:off x="585216" y="6492240"/>
            <a:ext cx="11009376" cy="0"/>
          </a:xfrm>
          <a:prstGeom prst="line">
            <a:avLst/>
          </a:prstGeom>
          <a:noFill/>
          <a:ln w="8890">
            <a:solidFill>
              <a:srgbClr val="D9E2E9"/>
            </a:solidFill>
            <a:prstDash val="solid"/>
            <a:headEnd type="none"/>
            <a:tailEnd type="none"/>
          </a:ln>
        </p:spPr>
      </p:sp>
      <p:sp>
        <p:nvSpPr>
          <p:cNvPr id="21" name="Text 18"/>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Inventario real de docs/validation/dpu-matrix-20261018/</a:t>
            </a:r>
            <a:endParaRPr lang="en-US" sz="870" dirty="0"/>
          </a:p>
        </p:txBody>
      </p:sp>
      <p:sp>
        <p:nvSpPr>
          <p:cNvPr id="22" name="Text 19"/>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33 / 53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32 · INCIDENTE Y CONTROL OPERATIVO</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LNS16 expuso un límite de recursos del entorno de pruebas</a:t>
            </a:r>
            <a:endParaRPr lang="en-US" sz="2800" dirty="0"/>
          </a:p>
        </p:txBody>
      </p:sp>
      <p:sp>
        <p:nvSpPr>
          <p:cNvPr id="6" name="Shape 3"/>
          <p:cNvSpPr/>
          <p:nvPr/>
        </p:nvSpPr>
        <p:spPr>
          <a:xfrm>
            <a:off x="621792" y="1975104"/>
            <a:ext cx="3575304" cy="3511296"/>
          </a:xfrm>
          <a:prstGeom prst="rect">
            <a:avLst/>
          </a:prstGeom>
          <a:solidFill>
            <a:srgbClr val="FFFFFF"/>
          </a:solidFill>
          <a:ln w="8255">
            <a:solidFill>
              <a:srgbClr val="D9E2E9"/>
            </a:solidFill>
            <a:prstDash val="solid"/>
          </a:ln>
        </p:spPr>
      </p:sp>
      <p:sp>
        <p:nvSpPr>
          <p:cNvPr id="7" name="Shape 4"/>
          <p:cNvSpPr/>
          <p:nvPr/>
        </p:nvSpPr>
        <p:spPr>
          <a:xfrm>
            <a:off x="621792" y="1975104"/>
            <a:ext cx="50292" cy="3511296"/>
          </a:xfrm>
          <a:prstGeom prst="rect">
            <a:avLst/>
          </a:prstGeom>
          <a:solidFill>
            <a:srgbClr val="007C83"/>
          </a:solidFill>
          <a:ln w="8255">
            <a:solidFill>
              <a:srgbClr val="007C83"/>
            </a:solidFill>
            <a:prstDash val="solid"/>
          </a:ln>
        </p:spPr>
      </p:sp>
      <p:sp>
        <p:nvSpPr>
          <p:cNvPr id="8" name="Text 5"/>
          <p:cNvSpPr/>
          <p:nvPr/>
        </p:nvSpPr>
        <p:spPr>
          <a:xfrm>
            <a:off x="822960"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Límite temporal</a:t>
            </a:r>
            <a:endParaRPr lang="en-US" sz="2200" dirty="0"/>
          </a:p>
        </p:txBody>
      </p:sp>
      <p:sp>
        <p:nvSpPr>
          <p:cNvPr id="9" name="Text 6"/>
          <p:cNvSpPr/>
          <p:nvPr/>
        </p:nvSpPr>
        <p:spPr>
          <a:xfrm>
            <a:off x="822960"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900 s por comando; código de salida y stdout/stderr al log.</a:t>
            </a:r>
            <a:endParaRPr lang="en-US" sz="1900" dirty="0"/>
          </a:p>
        </p:txBody>
      </p:sp>
      <p:sp>
        <p:nvSpPr>
          <p:cNvPr id="10" name="Shape 7"/>
          <p:cNvSpPr/>
          <p:nvPr/>
        </p:nvSpPr>
        <p:spPr>
          <a:xfrm>
            <a:off x="4352544" y="1975104"/>
            <a:ext cx="3575304" cy="3511296"/>
          </a:xfrm>
          <a:prstGeom prst="rect">
            <a:avLst/>
          </a:prstGeom>
          <a:solidFill>
            <a:srgbClr val="FFFFFF"/>
          </a:solidFill>
          <a:ln w="8255">
            <a:solidFill>
              <a:srgbClr val="D9E2E9"/>
            </a:solidFill>
            <a:prstDash val="solid"/>
          </a:ln>
        </p:spPr>
      </p:sp>
      <p:sp>
        <p:nvSpPr>
          <p:cNvPr id="11" name="Shape 8"/>
          <p:cNvSpPr/>
          <p:nvPr/>
        </p:nvSpPr>
        <p:spPr>
          <a:xfrm>
            <a:off x="4352544" y="1975104"/>
            <a:ext cx="50292" cy="3511296"/>
          </a:xfrm>
          <a:prstGeom prst="rect">
            <a:avLst/>
          </a:prstGeom>
          <a:solidFill>
            <a:srgbClr val="007C83"/>
          </a:solidFill>
          <a:ln w="8255">
            <a:solidFill>
              <a:srgbClr val="007C83"/>
            </a:solidFill>
            <a:prstDash val="solid"/>
          </a:ln>
        </p:spPr>
      </p:sp>
      <p:sp>
        <p:nvSpPr>
          <p:cNvPr id="12" name="Text 9"/>
          <p:cNvSpPr/>
          <p:nvPr/>
        </p:nvSpPr>
        <p:spPr>
          <a:xfrm>
            <a:off x="4553712"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Límite de memoria</a:t>
            </a:r>
            <a:endParaRPr lang="en-US" sz="2200" dirty="0"/>
          </a:p>
        </p:txBody>
      </p:sp>
      <p:sp>
        <p:nvSpPr>
          <p:cNvPr id="13" name="Text 10"/>
          <p:cNvSpPr/>
          <p:nvPr/>
        </p:nvSpPr>
        <p:spPr>
          <a:xfrm>
            <a:off x="4553712"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Compose: 4 GB y 2 CPU. El runner local no impone límite de RAM.</a:t>
            </a:r>
            <a:endParaRPr lang="en-US" sz="1900" dirty="0"/>
          </a:p>
        </p:txBody>
      </p:sp>
      <p:sp>
        <p:nvSpPr>
          <p:cNvPr id="14" name="Shape 11"/>
          <p:cNvSpPr/>
          <p:nvPr/>
        </p:nvSpPr>
        <p:spPr>
          <a:xfrm>
            <a:off x="8083296" y="1975104"/>
            <a:ext cx="3575304" cy="3511296"/>
          </a:xfrm>
          <a:prstGeom prst="rect">
            <a:avLst/>
          </a:prstGeom>
          <a:solidFill>
            <a:srgbClr val="FFFFFF"/>
          </a:solidFill>
          <a:ln w="8255">
            <a:solidFill>
              <a:srgbClr val="D9E2E9"/>
            </a:solidFill>
            <a:prstDash val="solid"/>
          </a:ln>
        </p:spPr>
      </p:sp>
      <p:sp>
        <p:nvSpPr>
          <p:cNvPr id="15" name="Shape 12"/>
          <p:cNvSpPr/>
          <p:nvPr/>
        </p:nvSpPr>
        <p:spPr>
          <a:xfrm>
            <a:off x="8083296" y="1975104"/>
            <a:ext cx="50292" cy="3511296"/>
          </a:xfrm>
          <a:prstGeom prst="rect">
            <a:avLst/>
          </a:prstGeom>
          <a:solidFill>
            <a:srgbClr val="B36A10"/>
          </a:solidFill>
          <a:ln w="8255">
            <a:solidFill>
              <a:srgbClr val="B36A10"/>
            </a:solidFill>
            <a:prstDash val="solid"/>
          </a:ln>
        </p:spPr>
      </p:sp>
      <p:sp>
        <p:nvSpPr>
          <p:cNvPr id="16" name="Text 13"/>
          <p:cNvSpPr/>
          <p:nvPr/>
        </p:nvSpPr>
        <p:spPr>
          <a:xfrm>
            <a:off x="8284464" y="2185416"/>
            <a:ext cx="3172968" cy="658368"/>
          </a:xfrm>
          <a:prstGeom prst="rect">
            <a:avLst/>
          </a:prstGeom>
          <a:noFill/>
          <a:ln/>
        </p:spPr>
        <p:txBody>
          <a:bodyPr wrap="square" lIns="0" tIns="0" rIns="0" bIns="0" rtlCol="0" anchor="t"/>
          <a:lstStyle/>
          <a:p>
            <a:pPr indent="0" marL="0">
              <a:buNone/>
            </a:pPr>
            <a:r>
              <a:rPr lang="en-US" sz="2200" b="1" dirty="0">
                <a:solidFill>
                  <a:srgbClr val="B36A10"/>
                </a:solidFill>
                <a:latin typeface="Arial" pitchFamily="34" charset="0"/>
                <a:ea typeface="Arial" pitchFamily="34" charset="-122"/>
                <a:cs typeface="Arial" pitchFamily="34" charset="-120"/>
              </a:rPr>
              <a:t>LNS16 pendiente</a:t>
            </a:r>
            <a:endParaRPr lang="en-US" sz="2200" dirty="0"/>
          </a:p>
        </p:txBody>
      </p:sp>
      <p:sp>
        <p:nvSpPr>
          <p:cNvPr id="17" name="Text 14"/>
          <p:cNvSpPr/>
          <p:nvPr/>
        </p:nvSpPr>
        <p:spPr>
          <a:xfrm>
            <a:off x="8284464"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No cerrar sus tres casos hasta evaluar recursos en ejecución acotada.</a:t>
            </a:r>
            <a:endParaRPr lang="en-US" sz="1900" dirty="0"/>
          </a:p>
        </p:txBody>
      </p:sp>
      <p:sp>
        <p:nvSpPr>
          <p:cNvPr id="18" name="Shape 15"/>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19" name="Text 16"/>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Un fallo por recursos no invalida los otros reportes; tampoco habilita a inventar el faltante.</a:t>
            </a:r>
            <a:endParaRPr lang="en-US" sz="1550" dirty="0"/>
          </a:p>
        </p:txBody>
      </p:sp>
      <p:sp>
        <p:nvSpPr>
          <p:cNvPr id="20" name="Shape 17"/>
          <p:cNvSpPr/>
          <p:nvPr/>
        </p:nvSpPr>
        <p:spPr>
          <a:xfrm>
            <a:off x="585216" y="6492240"/>
            <a:ext cx="11009376" cy="0"/>
          </a:xfrm>
          <a:prstGeom prst="line">
            <a:avLst/>
          </a:prstGeom>
          <a:noFill/>
          <a:ln w="8890">
            <a:solidFill>
              <a:srgbClr val="D9E2E9"/>
            </a:solidFill>
            <a:prstDash val="solid"/>
            <a:headEnd type="none"/>
            <a:tailEnd type="none"/>
          </a:ln>
        </p:spPr>
      </p:sp>
      <p:sp>
        <p:nvSpPr>
          <p:cNvPr id="21" name="Text 18"/>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process_runner.py · Settings · compose.yaml · lns16-incomplete/</a:t>
            </a:r>
            <a:endParaRPr lang="en-US" sz="870" dirty="0"/>
          </a:p>
        </p:txBody>
      </p:sp>
      <p:sp>
        <p:nvSpPr>
          <p:cNvPr id="22" name="Text 19"/>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34 / 53</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33 · MEJORAS ANTES DE CONCLUSIONES FUERTES</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La calidad del método depende de cerrar cuatro brechas concretas</a:t>
            </a:r>
            <a:endParaRPr lang="en-US" sz="2800" dirty="0"/>
          </a:p>
        </p:txBody>
      </p:sp>
      <p:sp>
        <p:nvSpPr>
          <p:cNvPr id="6" name="Shape 3"/>
          <p:cNvSpPr/>
          <p:nvPr/>
        </p:nvSpPr>
        <p:spPr>
          <a:xfrm>
            <a:off x="685800" y="1874520"/>
            <a:ext cx="1965960" cy="429768"/>
          </a:xfrm>
          <a:prstGeom prst="rect">
            <a:avLst/>
          </a:prstGeom>
          <a:solidFill>
            <a:srgbClr val="14293B"/>
          </a:solidFill>
          <a:ln w="8255">
            <a:solidFill>
              <a:srgbClr val="F5F6F8"/>
            </a:solidFill>
            <a:prstDash val="solid"/>
          </a:ln>
        </p:spPr>
      </p:sp>
      <p:sp>
        <p:nvSpPr>
          <p:cNvPr id="7" name="Text 4"/>
          <p:cNvSpPr/>
          <p:nvPr/>
        </p:nvSpPr>
        <p:spPr>
          <a:xfrm>
            <a:off x="777240" y="1938528"/>
            <a:ext cx="178308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Brecha</a:t>
            </a:r>
            <a:endParaRPr lang="en-US" sz="1350" dirty="0"/>
          </a:p>
        </p:txBody>
      </p:sp>
      <p:sp>
        <p:nvSpPr>
          <p:cNvPr id="8" name="Shape 5"/>
          <p:cNvSpPr/>
          <p:nvPr/>
        </p:nvSpPr>
        <p:spPr>
          <a:xfrm>
            <a:off x="2651760" y="1874520"/>
            <a:ext cx="3749040" cy="429768"/>
          </a:xfrm>
          <a:prstGeom prst="rect">
            <a:avLst/>
          </a:prstGeom>
          <a:solidFill>
            <a:srgbClr val="14293B"/>
          </a:solidFill>
          <a:ln w="8255">
            <a:solidFill>
              <a:srgbClr val="F5F6F8"/>
            </a:solidFill>
            <a:prstDash val="solid"/>
          </a:ln>
        </p:spPr>
      </p:sp>
      <p:sp>
        <p:nvSpPr>
          <p:cNvPr id="9" name="Text 6"/>
          <p:cNvSpPr/>
          <p:nvPr/>
        </p:nvSpPr>
        <p:spPr>
          <a:xfrm>
            <a:off x="2743200" y="1938528"/>
            <a:ext cx="356616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Por qué importa</a:t>
            </a:r>
            <a:endParaRPr lang="en-US" sz="1350" dirty="0"/>
          </a:p>
        </p:txBody>
      </p:sp>
      <p:sp>
        <p:nvSpPr>
          <p:cNvPr id="10" name="Shape 7"/>
          <p:cNvSpPr/>
          <p:nvPr/>
        </p:nvSpPr>
        <p:spPr>
          <a:xfrm>
            <a:off x="6400800" y="1874520"/>
            <a:ext cx="4572000" cy="429768"/>
          </a:xfrm>
          <a:prstGeom prst="rect">
            <a:avLst/>
          </a:prstGeom>
          <a:solidFill>
            <a:srgbClr val="14293B"/>
          </a:solidFill>
          <a:ln w="8255">
            <a:solidFill>
              <a:srgbClr val="F5F6F8"/>
            </a:solidFill>
            <a:prstDash val="solid"/>
          </a:ln>
        </p:spPr>
      </p:sp>
      <p:sp>
        <p:nvSpPr>
          <p:cNvPr id="11" name="Text 8"/>
          <p:cNvSpPr/>
          <p:nvPr/>
        </p:nvSpPr>
        <p:spPr>
          <a:xfrm>
            <a:off x="6492240" y="1938528"/>
            <a:ext cx="438912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Acción verificable</a:t>
            </a:r>
            <a:endParaRPr lang="en-US" sz="1350" dirty="0"/>
          </a:p>
        </p:txBody>
      </p:sp>
      <p:sp>
        <p:nvSpPr>
          <p:cNvPr id="12" name="Shape 9"/>
          <p:cNvSpPr/>
          <p:nvPr/>
        </p:nvSpPr>
        <p:spPr>
          <a:xfrm>
            <a:off x="685800" y="2304288"/>
            <a:ext cx="1965960" cy="685800"/>
          </a:xfrm>
          <a:prstGeom prst="rect">
            <a:avLst/>
          </a:prstGeom>
          <a:solidFill>
            <a:srgbClr val="FFFFFF"/>
          </a:solidFill>
          <a:ln w="8255">
            <a:solidFill>
              <a:srgbClr val="F5F6F8"/>
            </a:solidFill>
            <a:prstDash val="solid"/>
          </a:ln>
        </p:spPr>
      </p:sp>
      <p:sp>
        <p:nvSpPr>
          <p:cNvPr id="13" name="Text 10"/>
          <p:cNvSpPr/>
          <p:nvPr/>
        </p:nvSpPr>
        <p:spPr>
          <a:xfrm>
            <a:off x="777240" y="2368296"/>
            <a:ext cx="178308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Artefactos / versiones</a:t>
            </a:r>
            <a:endParaRPr lang="en-US" sz="1600" dirty="0"/>
          </a:p>
        </p:txBody>
      </p:sp>
      <p:sp>
        <p:nvSpPr>
          <p:cNvPr id="14" name="Shape 11"/>
          <p:cNvSpPr/>
          <p:nvPr/>
        </p:nvSpPr>
        <p:spPr>
          <a:xfrm>
            <a:off x="2651760" y="2304288"/>
            <a:ext cx="3749040" cy="685800"/>
          </a:xfrm>
          <a:prstGeom prst="rect">
            <a:avLst/>
          </a:prstGeom>
          <a:solidFill>
            <a:srgbClr val="FFFFFF"/>
          </a:solidFill>
          <a:ln w="8255">
            <a:solidFill>
              <a:srgbClr val="F5F6F8"/>
            </a:solidFill>
            <a:prstDash val="solid"/>
          </a:ln>
        </p:spPr>
      </p:sp>
      <p:sp>
        <p:nvSpPr>
          <p:cNvPr id="15" name="Text 12"/>
          <p:cNvSpPr/>
          <p:nvPr/>
        </p:nvSpPr>
        <p:spPr>
          <a:xfrm>
            <a:off x="2743200" y="2368296"/>
            <a:ext cx="35661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Repetir y revisar el resultado exacto</a:t>
            </a:r>
            <a:endParaRPr lang="en-US" sz="1600" dirty="0"/>
          </a:p>
        </p:txBody>
      </p:sp>
      <p:sp>
        <p:nvSpPr>
          <p:cNvPr id="16" name="Shape 13"/>
          <p:cNvSpPr/>
          <p:nvPr/>
        </p:nvSpPr>
        <p:spPr>
          <a:xfrm>
            <a:off x="6400800" y="2304288"/>
            <a:ext cx="4572000" cy="685800"/>
          </a:xfrm>
          <a:prstGeom prst="rect">
            <a:avLst/>
          </a:prstGeom>
          <a:solidFill>
            <a:srgbClr val="FFFFFF"/>
          </a:solidFill>
          <a:ln w="8255">
            <a:solidFill>
              <a:srgbClr val="F5F6F8"/>
            </a:solidFill>
            <a:prstDash val="solid"/>
          </a:ln>
        </p:spPr>
      </p:sp>
      <p:sp>
        <p:nvSpPr>
          <p:cNvPr id="17" name="Text 14"/>
          <p:cNvSpPr/>
          <p:nvPr/>
        </p:nvSpPr>
        <p:spPr>
          <a:xfrm>
            <a:off x="6492240" y="2368296"/>
            <a:ext cx="438912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ZIP completo + hashes de código, imagen y script</a:t>
            </a:r>
            <a:endParaRPr lang="en-US" sz="1600" dirty="0"/>
          </a:p>
        </p:txBody>
      </p:sp>
      <p:sp>
        <p:nvSpPr>
          <p:cNvPr id="18" name="Shape 15"/>
          <p:cNvSpPr/>
          <p:nvPr/>
        </p:nvSpPr>
        <p:spPr>
          <a:xfrm>
            <a:off x="685800" y="2990088"/>
            <a:ext cx="1965960" cy="685800"/>
          </a:xfrm>
          <a:prstGeom prst="rect">
            <a:avLst/>
          </a:prstGeom>
          <a:solidFill>
            <a:srgbClr val="EAF0F5"/>
          </a:solidFill>
          <a:ln w="8255">
            <a:solidFill>
              <a:srgbClr val="F5F6F8"/>
            </a:solidFill>
            <a:prstDash val="solid"/>
          </a:ln>
        </p:spPr>
      </p:sp>
      <p:sp>
        <p:nvSpPr>
          <p:cNvPr id="19" name="Text 16"/>
          <p:cNvSpPr/>
          <p:nvPr/>
        </p:nvSpPr>
        <p:spPr>
          <a:xfrm>
            <a:off x="777240" y="3054096"/>
            <a:ext cx="178308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LNS16 / recursos</a:t>
            </a:r>
            <a:endParaRPr lang="en-US" sz="1600" dirty="0"/>
          </a:p>
        </p:txBody>
      </p:sp>
      <p:sp>
        <p:nvSpPr>
          <p:cNvPr id="20" name="Shape 17"/>
          <p:cNvSpPr/>
          <p:nvPr/>
        </p:nvSpPr>
        <p:spPr>
          <a:xfrm>
            <a:off x="2651760" y="2990088"/>
            <a:ext cx="3749040" cy="685800"/>
          </a:xfrm>
          <a:prstGeom prst="rect">
            <a:avLst/>
          </a:prstGeom>
          <a:solidFill>
            <a:srgbClr val="EAF0F5"/>
          </a:solidFill>
          <a:ln w="8255">
            <a:solidFill>
              <a:srgbClr val="F5F6F8"/>
            </a:solidFill>
            <a:prstDash val="solid"/>
          </a:ln>
        </p:spPr>
      </p:sp>
      <p:sp>
        <p:nvSpPr>
          <p:cNvPr id="21" name="Text 18"/>
          <p:cNvSpPr/>
          <p:nvPr/>
        </p:nvSpPr>
        <p:spPr>
          <a:xfrm>
            <a:off x="2743200" y="3054096"/>
            <a:ext cx="35661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Tres casos sin área publicada</a:t>
            </a:r>
            <a:endParaRPr lang="en-US" sz="1600" dirty="0"/>
          </a:p>
        </p:txBody>
      </p:sp>
      <p:sp>
        <p:nvSpPr>
          <p:cNvPr id="22" name="Shape 19"/>
          <p:cNvSpPr/>
          <p:nvPr/>
        </p:nvSpPr>
        <p:spPr>
          <a:xfrm>
            <a:off x="6400800" y="2990088"/>
            <a:ext cx="4572000" cy="685800"/>
          </a:xfrm>
          <a:prstGeom prst="rect">
            <a:avLst/>
          </a:prstGeom>
          <a:solidFill>
            <a:srgbClr val="EAF0F5"/>
          </a:solidFill>
          <a:ln w="8255">
            <a:solidFill>
              <a:srgbClr val="F5F6F8"/>
            </a:solidFill>
            <a:prstDash val="solid"/>
          </a:ln>
        </p:spPr>
      </p:sp>
      <p:sp>
        <p:nvSpPr>
          <p:cNvPr id="23" name="Text 20"/>
          <p:cNvSpPr/>
          <p:nvPr/>
        </p:nvSpPr>
        <p:spPr>
          <a:xfrm>
            <a:off x="6492240" y="3054096"/>
            <a:ext cx="438912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Ejecutar con memoria y tiempo acotados</a:t>
            </a:r>
            <a:endParaRPr lang="en-US" sz="1600" dirty="0"/>
          </a:p>
        </p:txBody>
      </p:sp>
      <p:sp>
        <p:nvSpPr>
          <p:cNvPr id="24" name="Shape 21"/>
          <p:cNvSpPr/>
          <p:nvPr/>
        </p:nvSpPr>
        <p:spPr>
          <a:xfrm>
            <a:off x="685800" y="3675888"/>
            <a:ext cx="1965960" cy="685800"/>
          </a:xfrm>
          <a:prstGeom prst="rect">
            <a:avLst/>
          </a:prstGeom>
          <a:solidFill>
            <a:srgbClr val="FFFFFF"/>
          </a:solidFill>
          <a:ln w="8255">
            <a:solidFill>
              <a:srgbClr val="F5F6F8"/>
            </a:solidFill>
            <a:prstDash val="solid"/>
          </a:ln>
        </p:spPr>
      </p:sp>
      <p:sp>
        <p:nvSpPr>
          <p:cNvPr id="25" name="Text 22"/>
          <p:cNvSpPr/>
          <p:nvPr/>
        </p:nvSpPr>
        <p:spPr>
          <a:xfrm>
            <a:off x="777240" y="3739896"/>
            <a:ext cx="178308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Oráculos no enteros</a:t>
            </a:r>
            <a:endParaRPr lang="en-US" sz="1600" dirty="0"/>
          </a:p>
        </p:txBody>
      </p:sp>
      <p:sp>
        <p:nvSpPr>
          <p:cNvPr id="26" name="Shape 23"/>
          <p:cNvSpPr/>
          <p:nvPr/>
        </p:nvSpPr>
        <p:spPr>
          <a:xfrm>
            <a:off x="2651760" y="3675888"/>
            <a:ext cx="3749040" cy="685800"/>
          </a:xfrm>
          <a:prstGeom prst="rect">
            <a:avLst/>
          </a:prstGeom>
          <a:solidFill>
            <a:srgbClr val="FFFFFF"/>
          </a:solidFill>
          <a:ln w="8255">
            <a:solidFill>
              <a:srgbClr val="F5F6F8"/>
            </a:solidFill>
            <a:prstDash val="solid"/>
          </a:ln>
        </p:spPr>
      </p:sp>
      <p:sp>
        <p:nvSpPr>
          <p:cNvPr id="27" name="Text 24"/>
          <p:cNvSpPr/>
          <p:nvPr/>
        </p:nvSpPr>
        <p:spPr>
          <a:xfrm>
            <a:off x="2743200" y="3739896"/>
            <a:ext cx="35661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El RTL puede compartir un error con su referencia</a:t>
            </a:r>
            <a:endParaRPr lang="en-US" sz="1600" dirty="0"/>
          </a:p>
        </p:txBody>
      </p:sp>
      <p:sp>
        <p:nvSpPr>
          <p:cNvPr id="28" name="Shape 25"/>
          <p:cNvSpPr/>
          <p:nvPr/>
        </p:nvSpPr>
        <p:spPr>
          <a:xfrm>
            <a:off x="6400800" y="3675888"/>
            <a:ext cx="4572000" cy="685800"/>
          </a:xfrm>
          <a:prstGeom prst="rect">
            <a:avLst/>
          </a:prstGeom>
          <a:solidFill>
            <a:srgbClr val="FFFFFF"/>
          </a:solidFill>
          <a:ln w="8255">
            <a:solidFill>
              <a:srgbClr val="F5F6F8"/>
            </a:solidFill>
            <a:prstDash val="solid"/>
          </a:ln>
        </p:spPr>
      </p:sp>
      <p:sp>
        <p:nvSpPr>
          <p:cNvPr id="29" name="Text 26"/>
          <p:cNvSpPr/>
          <p:nvPr/>
        </p:nvSpPr>
        <p:spPr>
          <a:xfrm>
            <a:off x="6492240" y="3739896"/>
            <a:ext cx="438912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Referencia numérica independiente si se afirma exactitud</a:t>
            </a:r>
            <a:endParaRPr lang="en-US" sz="1600" dirty="0"/>
          </a:p>
        </p:txBody>
      </p:sp>
      <p:sp>
        <p:nvSpPr>
          <p:cNvPr id="30" name="Shape 27"/>
          <p:cNvSpPr/>
          <p:nvPr/>
        </p:nvSpPr>
        <p:spPr>
          <a:xfrm>
            <a:off x="685800" y="4361688"/>
            <a:ext cx="1965960" cy="685800"/>
          </a:xfrm>
          <a:prstGeom prst="rect">
            <a:avLst/>
          </a:prstGeom>
          <a:solidFill>
            <a:srgbClr val="EAF0F5"/>
          </a:solidFill>
          <a:ln w="8255">
            <a:solidFill>
              <a:srgbClr val="F5F6F8"/>
            </a:solidFill>
            <a:prstDash val="solid"/>
          </a:ln>
        </p:spPr>
      </p:sp>
      <p:sp>
        <p:nvSpPr>
          <p:cNvPr id="31" name="Text 28"/>
          <p:cNvSpPr/>
          <p:nvPr/>
        </p:nvSpPr>
        <p:spPr>
          <a:xfrm>
            <a:off x="777240" y="4425696"/>
            <a:ext cx="178308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Cohortes comparables</a:t>
            </a:r>
            <a:endParaRPr lang="en-US" sz="1600" dirty="0"/>
          </a:p>
        </p:txBody>
      </p:sp>
      <p:sp>
        <p:nvSpPr>
          <p:cNvPr id="32" name="Shape 29"/>
          <p:cNvSpPr/>
          <p:nvPr/>
        </p:nvSpPr>
        <p:spPr>
          <a:xfrm>
            <a:off x="2651760" y="4361688"/>
            <a:ext cx="3749040" cy="685800"/>
          </a:xfrm>
          <a:prstGeom prst="rect">
            <a:avLst/>
          </a:prstGeom>
          <a:solidFill>
            <a:srgbClr val="EAF0F5"/>
          </a:solidFill>
          <a:ln w="8255">
            <a:solidFill>
              <a:srgbClr val="F5F6F8"/>
            </a:solidFill>
            <a:prstDash val="solid"/>
          </a:ln>
        </p:spPr>
      </p:sp>
      <p:sp>
        <p:nvSpPr>
          <p:cNvPr id="33" name="Text 30"/>
          <p:cNvSpPr/>
          <p:nvPr/>
        </p:nvSpPr>
        <p:spPr>
          <a:xfrm>
            <a:off x="2743200" y="4425696"/>
            <a:ext cx="35661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IDs iguales pueden ocultar cambios de biblioteca</a:t>
            </a:r>
            <a:endParaRPr lang="en-US" sz="1600" dirty="0"/>
          </a:p>
        </p:txBody>
      </p:sp>
      <p:sp>
        <p:nvSpPr>
          <p:cNvPr id="34" name="Shape 31"/>
          <p:cNvSpPr/>
          <p:nvPr/>
        </p:nvSpPr>
        <p:spPr>
          <a:xfrm>
            <a:off x="6400800" y="4361688"/>
            <a:ext cx="4572000" cy="685800"/>
          </a:xfrm>
          <a:prstGeom prst="rect">
            <a:avLst/>
          </a:prstGeom>
          <a:solidFill>
            <a:srgbClr val="EAF0F5"/>
          </a:solidFill>
          <a:ln w="8255">
            <a:solidFill>
              <a:srgbClr val="F5F6F8"/>
            </a:solidFill>
            <a:prstDash val="solid"/>
          </a:ln>
        </p:spPr>
      </p:sp>
      <p:sp>
        <p:nvSpPr>
          <p:cNvPr id="35" name="Text 32"/>
          <p:cNvSpPr/>
          <p:nvPr/>
        </p:nvSpPr>
        <p:spPr>
          <a:xfrm>
            <a:off x="6492240" y="4425696"/>
            <a:ext cx="438912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Filtrar por hash y política de mapeo</a:t>
            </a:r>
            <a:endParaRPr lang="en-US" sz="1600" dirty="0"/>
          </a:p>
        </p:txBody>
      </p:sp>
      <p:sp>
        <p:nvSpPr>
          <p:cNvPr id="36" name="Shape 33"/>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37" name="Text 34"/>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Estas mejoras refuerzan las afirmaciones; no se presentan como implementadas hoy.</a:t>
            </a:r>
            <a:endParaRPr lang="en-US" sz="1550" dirty="0"/>
          </a:p>
        </p:txBody>
      </p:sp>
      <p:sp>
        <p:nvSpPr>
          <p:cNvPr id="38" name="Shape 35"/>
          <p:cNvSpPr/>
          <p:nvPr/>
        </p:nvSpPr>
        <p:spPr>
          <a:xfrm>
            <a:off x="585216" y="6492240"/>
            <a:ext cx="11009376" cy="0"/>
          </a:xfrm>
          <a:prstGeom prst="line">
            <a:avLst/>
          </a:prstGeom>
          <a:noFill/>
          <a:ln w="8890">
            <a:solidFill>
              <a:srgbClr val="D9E2E9"/>
            </a:solidFill>
            <a:prstDash val="solid"/>
            <a:headEnd type="none"/>
            <a:tailEnd type="none"/>
          </a:ln>
        </p:spPr>
      </p:sp>
      <p:sp>
        <p:nvSpPr>
          <p:cNvPr id="39" name="Text 36"/>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Hallazgos de la auditoría de código y evidencias</a:t>
            </a:r>
            <a:endParaRPr lang="en-US" sz="870" dirty="0"/>
          </a:p>
        </p:txBody>
      </p:sp>
      <p:sp>
        <p:nvSpPr>
          <p:cNvPr id="40" name="Text 37"/>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35 / 53</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34 · SUSTENTACIÓN PARA LA REUNIÓN</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La conclusión debe nombrar implementación, biblioteca y nivel de prueba</a:t>
            </a:r>
            <a:endParaRPr lang="en-US" sz="2800" dirty="0"/>
          </a:p>
        </p:txBody>
      </p:sp>
      <p:sp>
        <p:nvSpPr>
          <p:cNvPr id="6" name="Shape 3"/>
          <p:cNvSpPr/>
          <p:nvPr/>
        </p:nvSpPr>
        <p:spPr>
          <a:xfrm>
            <a:off x="722376" y="1947672"/>
            <a:ext cx="10762488" cy="1426464"/>
          </a:xfrm>
          <a:prstGeom prst="roundRect">
            <a:avLst>
              <a:gd name="adj" fmla="val 6410"/>
            </a:avLst>
          </a:prstGeom>
          <a:solidFill>
            <a:srgbClr val="112B3C"/>
          </a:solidFill>
          <a:ln w="8255">
            <a:solidFill>
              <a:srgbClr val="112B3C"/>
            </a:solidFill>
            <a:prstDash val="solid"/>
          </a:ln>
        </p:spPr>
      </p:sp>
      <p:sp>
        <p:nvSpPr>
          <p:cNvPr id="7" name="Text 4"/>
          <p:cNvSpPr/>
          <p:nvPr/>
        </p:nvSpPr>
        <p:spPr>
          <a:xfrm>
            <a:off x="1005840" y="2221992"/>
            <a:ext cx="10168128" cy="868680"/>
          </a:xfrm>
          <a:prstGeom prst="rect">
            <a:avLst/>
          </a:prstGeom>
          <a:noFill/>
          <a:ln/>
        </p:spPr>
        <p:txBody>
          <a:bodyPr wrap="square" lIns="0" tIns="0" rIns="0" bIns="0" rtlCol="0" anchor="t"/>
          <a:lstStyle/>
          <a:p>
            <a:pPr algn="ctr" indent="0" marL="0">
              <a:buNone/>
            </a:pPr>
            <a:r>
              <a:rPr lang="en-US" sz="2600" b="1" dirty="0">
                <a:solidFill>
                  <a:srgbClr val="FFFFFF"/>
                </a:solidFill>
                <a:latin typeface="Arial" pitchFamily="34" charset="0"/>
                <a:ea typeface="Arial" pitchFamily="34" charset="-122"/>
                <a:cs typeface="Arial" pitchFamily="34" charset="-120"/>
              </a:rPr>
              <a:t>“Estimación prelayout del área nominal de celdas de la DPU registrada, mapeada con la biblioteca y política documentadas.”</a:t>
            </a:r>
            <a:endParaRPr lang="en-US" sz="2600" dirty="0"/>
          </a:p>
        </p:txBody>
      </p:sp>
      <p:sp>
        <p:nvSpPr>
          <p:cNvPr id="8" name="Shape 5"/>
          <p:cNvSpPr/>
          <p:nvPr/>
        </p:nvSpPr>
        <p:spPr>
          <a:xfrm>
            <a:off x="758952" y="3685032"/>
            <a:ext cx="5166360" cy="1828800"/>
          </a:xfrm>
          <a:prstGeom prst="rect">
            <a:avLst/>
          </a:prstGeom>
          <a:solidFill>
            <a:srgbClr val="FFFFFF"/>
          </a:solidFill>
          <a:ln w="8255">
            <a:solidFill>
              <a:srgbClr val="D9E2E9"/>
            </a:solidFill>
            <a:prstDash val="solid"/>
          </a:ln>
        </p:spPr>
      </p:sp>
      <p:sp>
        <p:nvSpPr>
          <p:cNvPr id="9" name="Shape 6"/>
          <p:cNvSpPr/>
          <p:nvPr/>
        </p:nvSpPr>
        <p:spPr>
          <a:xfrm>
            <a:off x="758952" y="3685032"/>
            <a:ext cx="50292" cy="1828800"/>
          </a:xfrm>
          <a:prstGeom prst="rect">
            <a:avLst/>
          </a:prstGeom>
          <a:solidFill>
            <a:srgbClr val="007C83"/>
          </a:solidFill>
          <a:ln w="8255">
            <a:solidFill>
              <a:srgbClr val="007C83"/>
            </a:solidFill>
            <a:prstDash val="solid"/>
          </a:ln>
        </p:spPr>
      </p:sp>
      <p:sp>
        <p:nvSpPr>
          <p:cNvPr id="10" name="Text 7"/>
          <p:cNvSpPr/>
          <p:nvPr/>
        </p:nvSpPr>
        <p:spPr>
          <a:xfrm>
            <a:off x="960120" y="3840480"/>
            <a:ext cx="4764024" cy="347472"/>
          </a:xfrm>
          <a:prstGeom prst="rect">
            <a:avLst/>
          </a:prstGeom>
          <a:noFill/>
          <a:ln/>
        </p:spPr>
        <p:txBody>
          <a:bodyPr wrap="square" lIns="0" tIns="0" rIns="0" bIns="0" rtlCol="0" anchor="t"/>
          <a:lstStyle/>
          <a:p>
            <a:pPr indent="0" marL="0">
              <a:buNone/>
            </a:pPr>
            <a:r>
              <a:rPr lang="en-US" sz="2000" b="1" dirty="0">
                <a:solidFill>
                  <a:srgbClr val="007C83"/>
                </a:solidFill>
                <a:latin typeface="Arial" pitchFamily="34" charset="0"/>
                <a:ea typeface="Arial" pitchFamily="34" charset="-122"/>
                <a:cs typeface="Arial" pitchFamily="34" charset="-120"/>
              </a:rPr>
              <a:t>Lo sustentado</a:t>
            </a:r>
            <a:endParaRPr lang="en-US" sz="2000" dirty="0"/>
          </a:p>
        </p:txBody>
      </p:sp>
      <p:sp>
        <p:nvSpPr>
          <p:cNvPr id="11" name="Text 8"/>
          <p:cNvSpPr/>
          <p:nvPr/>
        </p:nvSpPr>
        <p:spPr>
          <a:xfrm>
            <a:off x="960120" y="4389120"/>
            <a:ext cx="4764024" cy="996696"/>
          </a:xfrm>
          <a:prstGeom prst="rect">
            <a:avLst/>
          </a:prstGeom>
          <a:noFill/>
          <a:ln/>
        </p:spPr>
        <p:txBody>
          <a:bodyPr wrap="square" lIns="0" tIns="0" rIns="0" bIns="0" rtlCol="0" anchor="t"/>
          <a:lstStyle/>
          <a:p>
            <a:pPr indent="0" marL="0">
              <a:buNone/>
            </a:pPr>
            <a:r>
              <a:rPr lang="en-US" sz="1700" dirty="0">
                <a:solidFill>
                  <a:srgbClr val="14293B"/>
                </a:solidFill>
                <a:latin typeface="Arial" pitchFamily="34" charset="0"/>
                <a:ea typeface="Arial" pitchFamily="34" charset="-122"/>
                <a:cs typeface="Arial" pitchFamily="34" charset="-120"/>
              </a:rPr>
              <a:t>Sustentado: identidad de entradas, cuenta de celdas y comportamiento en los casos registrados.</a:t>
            </a:r>
            <a:endParaRPr lang="en-US" sz="1700" dirty="0"/>
          </a:p>
        </p:txBody>
      </p:sp>
      <p:sp>
        <p:nvSpPr>
          <p:cNvPr id="12" name="Shape 9"/>
          <p:cNvSpPr/>
          <p:nvPr/>
        </p:nvSpPr>
        <p:spPr>
          <a:xfrm>
            <a:off x="6263640" y="3685032"/>
            <a:ext cx="5166360" cy="1828800"/>
          </a:xfrm>
          <a:prstGeom prst="rect">
            <a:avLst/>
          </a:prstGeom>
          <a:solidFill>
            <a:srgbClr val="FFFFFF"/>
          </a:solidFill>
          <a:ln w="8255">
            <a:solidFill>
              <a:srgbClr val="D9E2E9"/>
            </a:solidFill>
            <a:prstDash val="solid"/>
          </a:ln>
        </p:spPr>
      </p:sp>
      <p:sp>
        <p:nvSpPr>
          <p:cNvPr id="13" name="Shape 10"/>
          <p:cNvSpPr/>
          <p:nvPr/>
        </p:nvSpPr>
        <p:spPr>
          <a:xfrm>
            <a:off x="6263640" y="3685032"/>
            <a:ext cx="50292" cy="1828800"/>
          </a:xfrm>
          <a:prstGeom prst="rect">
            <a:avLst/>
          </a:prstGeom>
          <a:solidFill>
            <a:srgbClr val="B36A10"/>
          </a:solidFill>
          <a:ln w="8255">
            <a:solidFill>
              <a:srgbClr val="B36A10"/>
            </a:solidFill>
            <a:prstDash val="solid"/>
          </a:ln>
        </p:spPr>
      </p:sp>
      <p:sp>
        <p:nvSpPr>
          <p:cNvPr id="14" name="Text 11"/>
          <p:cNvSpPr/>
          <p:nvPr/>
        </p:nvSpPr>
        <p:spPr>
          <a:xfrm>
            <a:off x="6464808" y="3840480"/>
            <a:ext cx="4764024" cy="347472"/>
          </a:xfrm>
          <a:prstGeom prst="rect">
            <a:avLst/>
          </a:prstGeom>
          <a:noFill/>
          <a:ln/>
        </p:spPr>
        <p:txBody>
          <a:bodyPr wrap="square" lIns="0" tIns="0" rIns="0" bIns="0" rtlCol="0" anchor="t"/>
          <a:lstStyle/>
          <a:p>
            <a:pPr indent="0" marL="0">
              <a:buNone/>
            </a:pPr>
            <a:r>
              <a:rPr lang="en-US" sz="2000" b="1" dirty="0">
                <a:solidFill>
                  <a:srgbClr val="B36A10"/>
                </a:solidFill>
                <a:latin typeface="Arial" pitchFamily="34" charset="0"/>
                <a:ea typeface="Arial" pitchFamily="34" charset="-122"/>
                <a:cs typeface="Arial" pitchFamily="34" charset="-120"/>
              </a:rPr>
              <a:t>Lo pendiente</a:t>
            </a:r>
            <a:endParaRPr lang="en-US" sz="2000" dirty="0"/>
          </a:p>
        </p:txBody>
      </p:sp>
      <p:sp>
        <p:nvSpPr>
          <p:cNvPr id="15" name="Text 12"/>
          <p:cNvSpPr/>
          <p:nvPr/>
        </p:nvSpPr>
        <p:spPr>
          <a:xfrm>
            <a:off x="6464808" y="4389120"/>
            <a:ext cx="4764024" cy="996696"/>
          </a:xfrm>
          <a:prstGeom prst="rect">
            <a:avLst/>
          </a:prstGeom>
          <a:noFill/>
          <a:ln/>
        </p:spPr>
        <p:txBody>
          <a:bodyPr wrap="square" lIns="0" tIns="0" rIns="0" bIns="0" rtlCol="0" anchor="t"/>
          <a:lstStyle/>
          <a:p>
            <a:pPr indent="0" marL="0">
              <a:buNone/>
            </a:pPr>
            <a:r>
              <a:rPr lang="en-US" sz="1700" dirty="0">
                <a:solidFill>
                  <a:srgbClr val="14293B"/>
                </a:solidFill>
                <a:latin typeface="Arial" pitchFamily="34" charset="0"/>
                <a:ea typeface="Arial" pitchFamily="34" charset="-122"/>
                <a:cs typeface="Arial" pitchFamily="34" charset="-120"/>
              </a:rPr>
              <a:t>Pendiente: cobertura LNS16, archivo completo y cualquier afirmación de precisión, timing o silicio.</a:t>
            </a:r>
            <a:endParaRPr lang="en-US" sz="1700" dirty="0"/>
          </a:p>
        </p:txBody>
      </p:sp>
      <p:sp>
        <p:nvSpPr>
          <p:cNvPr id="16" name="Shape 13"/>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17" name="Text 14"/>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Es defendible como estudio de área de celdas, con validación y límites expresamente acotados.</a:t>
            </a:r>
            <a:endParaRPr lang="en-US" sz="1550" dirty="0"/>
          </a:p>
        </p:txBody>
      </p:sp>
      <p:sp>
        <p:nvSpPr>
          <p:cNvPr id="18" name="Shape 15"/>
          <p:cNvSpPr/>
          <p:nvPr/>
        </p:nvSpPr>
        <p:spPr>
          <a:xfrm>
            <a:off x="585216" y="6492240"/>
            <a:ext cx="11009376" cy="0"/>
          </a:xfrm>
          <a:prstGeom prst="line">
            <a:avLst/>
          </a:prstGeom>
          <a:noFill/>
          <a:ln w="8890">
            <a:solidFill>
              <a:srgbClr val="D9E2E9"/>
            </a:solidFill>
            <a:prstDash val="solid"/>
            <a:headEnd type="none"/>
            <a:tailEnd type="none"/>
          </a:ln>
        </p:spPr>
      </p:sp>
      <p:sp>
        <p:nvSpPr>
          <p:cNvPr id="19" name="Text 16"/>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F01 · F04 · F06 · F18 | Código auditado + 30 paquetes de evidencia</a:t>
            </a:r>
            <a:endParaRPr lang="en-US" sz="870" dirty="0"/>
          </a:p>
        </p:txBody>
      </p:sp>
      <p:sp>
        <p:nvSpPr>
          <p:cNvPr id="20" name="Text 17"/>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36 / 53</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35 · PREGUNTAS PARA FEEDBACK</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La revisión necesita decisiones sobre evidencia y alcance</a:t>
            </a:r>
            <a:endParaRPr lang="en-US" sz="2800" dirty="0"/>
          </a:p>
        </p:txBody>
      </p:sp>
      <p:sp>
        <p:nvSpPr>
          <p:cNvPr id="6" name="Shape 3"/>
          <p:cNvSpPr/>
          <p:nvPr/>
        </p:nvSpPr>
        <p:spPr>
          <a:xfrm>
            <a:off x="621792" y="1975104"/>
            <a:ext cx="3575304" cy="3511296"/>
          </a:xfrm>
          <a:prstGeom prst="rect">
            <a:avLst/>
          </a:prstGeom>
          <a:solidFill>
            <a:srgbClr val="FFFFFF"/>
          </a:solidFill>
          <a:ln w="8255">
            <a:solidFill>
              <a:srgbClr val="D9E2E9"/>
            </a:solidFill>
            <a:prstDash val="solid"/>
          </a:ln>
        </p:spPr>
      </p:sp>
      <p:sp>
        <p:nvSpPr>
          <p:cNvPr id="7" name="Shape 4"/>
          <p:cNvSpPr/>
          <p:nvPr/>
        </p:nvSpPr>
        <p:spPr>
          <a:xfrm>
            <a:off x="621792" y="1975104"/>
            <a:ext cx="50292" cy="3511296"/>
          </a:xfrm>
          <a:prstGeom prst="rect">
            <a:avLst/>
          </a:prstGeom>
          <a:solidFill>
            <a:srgbClr val="007C83"/>
          </a:solidFill>
          <a:ln w="8255">
            <a:solidFill>
              <a:srgbClr val="007C83"/>
            </a:solidFill>
            <a:prstDash val="solid"/>
          </a:ln>
        </p:spPr>
      </p:sp>
      <p:sp>
        <p:nvSpPr>
          <p:cNvPr id="8" name="Text 5"/>
          <p:cNvSpPr/>
          <p:nvPr/>
        </p:nvSpPr>
        <p:spPr>
          <a:xfrm>
            <a:off x="822960"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Alcance</a:t>
            </a:r>
            <a:endParaRPr lang="en-US" sz="2200" dirty="0"/>
          </a:p>
        </p:txBody>
      </p:sp>
      <p:sp>
        <p:nvSpPr>
          <p:cNvPr id="9" name="Text 6"/>
          <p:cNvSpPr/>
          <p:nvPr/>
        </p:nvSpPr>
        <p:spPr>
          <a:xfrm>
            <a:off x="822960"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¿Se acepta área de celdas con wrapper, sin PnR ni objetivos de frecuencia?</a:t>
            </a:r>
            <a:endParaRPr lang="en-US" sz="1900" dirty="0"/>
          </a:p>
        </p:txBody>
      </p:sp>
      <p:sp>
        <p:nvSpPr>
          <p:cNvPr id="10" name="Shape 7"/>
          <p:cNvSpPr/>
          <p:nvPr/>
        </p:nvSpPr>
        <p:spPr>
          <a:xfrm>
            <a:off x="4352544" y="1975104"/>
            <a:ext cx="3575304" cy="3511296"/>
          </a:xfrm>
          <a:prstGeom prst="rect">
            <a:avLst/>
          </a:prstGeom>
          <a:solidFill>
            <a:srgbClr val="FFFFFF"/>
          </a:solidFill>
          <a:ln w="8255">
            <a:solidFill>
              <a:srgbClr val="D9E2E9"/>
            </a:solidFill>
            <a:prstDash val="solid"/>
          </a:ln>
        </p:spPr>
      </p:sp>
      <p:sp>
        <p:nvSpPr>
          <p:cNvPr id="11" name="Shape 8"/>
          <p:cNvSpPr/>
          <p:nvPr/>
        </p:nvSpPr>
        <p:spPr>
          <a:xfrm>
            <a:off x="4352544" y="1975104"/>
            <a:ext cx="50292" cy="3511296"/>
          </a:xfrm>
          <a:prstGeom prst="rect">
            <a:avLst/>
          </a:prstGeom>
          <a:solidFill>
            <a:srgbClr val="007C83"/>
          </a:solidFill>
          <a:ln w="8255">
            <a:solidFill>
              <a:srgbClr val="007C83"/>
            </a:solidFill>
            <a:prstDash val="solid"/>
          </a:ln>
        </p:spPr>
      </p:sp>
      <p:sp>
        <p:nvSpPr>
          <p:cNvPr id="12" name="Text 9"/>
          <p:cNvSpPr/>
          <p:nvPr/>
        </p:nvSpPr>
        <p:spPr>
          <a:xfrm>
            <a:off x="4553712"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Evidencia</a:t>
            </a:r>
            <a:endParaRPr lang="en-US" sz="2200" dirty="0"/>
          </a:p>
        </p:txBody>
      </p:sp>
      <p:sp>
        <p:nvSpPr>
          <p:cNvPr id="13" name="Text 10"/>
          <p:cNvSpPr/>
          <p:nvPr/>
        </p:nvSpPr>
        <p:spPr>
          <a:xfrm>
            <a:off x="4553712"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¿Se exige ZIP completo, hashes de código/imagen y repetición controlada antes de publicar?</a:t>
            </a:r>
            <a:endParaRPr lang="en-US" sz="1900" dirty="0"/>
          </a:p>
        </p:txBody>
      </p:sp>
      <p:sp>
        <p:nvSpPr>
          <p:cNvPr id="14" name="Shape 11"/>
          <p:cNvSpPr/>
          <p:nvPr/>
        </p:nvSpPr>
        <p:spPr>
          <a:xfrm>
            <a:off x="8083296" y="1975104"/>
            <a:ext cx="3575304" cy="3511296"/>
          </a:xfrm>
          <a:prstGeom prst="rect">
            <a:avLst/>
          </a:prstGeom>
          <a:solidFill>
            <a:srgbClr val="FFFFFF"/>
          </a:solidFill>
          <a:ln w="8255">
            <a:solidFill>
              <a:srgbClr val="D9E2E9"/>
            </a:solidFill>
            <a:prstDash val="solid"/>
          </a:ln>
        </p:spPr>
      </p:sp>
      <p:sp>
        <p:nvSpPr>
          <p:cNvPr id="15" name="Shape 12"/>
          <p:cNvSpPr/>
          <p:nvPr/>
        </p:nvSpPr>
        <p:spPr>
          <a:xfrm>
            <a:off x="8083296" y="1975104"/>
            <a:ext cx="50292" cy="3511296"/>
          </a:xfrm>
          <a:prstGeom prst="rect">
            <a:avLst/>
          </a:prstGeom>
          <a:solidFill>
            <a:srgbClr val="B36A10"/>
          </a:solidFill>
          <a:ln w="8255">
            <a:solidFill>
              <a:srgbClr val="B36A10"/>
            </a:solidFill>
            <a:prstDash val="solid"/>
          </a:ln>
        </p:spPr>
      </p:sp>
      <p:sp>
        <p:nvSpPr>
          <p:cNvPr id="16" name="Text 13"/>
          <p:cNvSpPr/>
          <p:nvPr/>
        </p:nvSpPr>
        <p:spPr>
          <a:xfrm>
            <a:off x="8284464" y="2185416"/>
            <a:ext cx="3172968" cy="658368"/>
          </a:xfrm>
          <a:prstGeom prst="rect">
            <a:avLst/>
          </a:prstGeom>
          <a:noFill/>
          <a:ln/>
        </p:spPr>
        <p:txBody>
          <a:bodyPr wrap="square" lIns="0" tIns="0" rIns="0" bIns="0" rtlCol="0" anchor="t"/>
          <a:lstStyle/>
          <a:p>
            <a:pPr indent="0" marL="0">
              <a:buNone/>
            </a:pPr>
            <a:r>
              <a:rPr lang="en-US" sz="2200" b="1" dirty="0">
                <a:solidFill>
                  <a:srgbClr val="B36A10"/>
                </a:solidFill>
                <a:latin typeface="Arial" pitchFamily="34" charset="0"/>
                <a:ea typeface="Arial" pitchFamily="34" charset="-122"/>
                <a:cs typeface="Arial" pitchFamily="34" charset="-120"/>
              </a:rPr>
              <a:t>Ampliación</a:t>
            </a:r>
            <a:endParaRPr lang="en-US" sz="2200" dirty="0"/>
          </a:p>
        </p:txBody>
      </p:sp>
      <p:sp>
        <p:nvSpPr>
          <p:cNvPr id="17" name="Text 14"/>
          <p:cNvSpPr/>
          <p:nvPr/>
        </p:nvSpPr>
        <p:spPr>
          <a:xfrm>
            <a:off x="8284464"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¿Se prioriza cerrar LNS16, estudiar otros corners o desarrollar oráculos numéricos?</a:t>
            </a:r>
            <a:endParaRPr lang="en-US" sz="1900" dirty="0"/>
          </a:p>
        </p:txBody>
      </p:sp>
      <p:sp>
        <p:nvSpPr>
          <p:cNvPr id="18" name="Shape 15"/>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19" name="Text 16"/>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El visto bueno debe referirse al método y a sus condiciones, no a una precisión física no demostrada.</a:t>
            </a:r>
            <a:endParaRPr lang="en-US" sz="1550" dirty="0"/>
          </a:p>
        </p:txBody>
      </p:sp>
      <p:sp>
        <p:nvSpPr>
          <p:cNvPr id="20" name="Shape 17"/>
          <p:cNvSpPr/>
          <p:nvPr/>
        </p:nvSpPr>
        <p:spPr>
          <a:xfrm>
            <a:off x="585216" y="6492240"/>
            <a:ext cx="11009376" cy="0"/>
          </a:xfrm>
          <a:prstGeom prst="line">
            <a:avLst/>
          </a:prstGeom>
          <a:noFill/>
          <a:ln w="8890">
            <a:solidFill>
              <a:srgbClr val="D9E2E9"/>
            </a:solidFill>
            <a:prstDash val="solid"/>
            <a:headEnd type="none"/>
            <a:tailEnd type="none"/>
          </a:ln>
        </p:spPr>
      </p:sp>
      <p:sp>
        <p:nvSpPr>
          <p:cNvPr id="21" name="Text 18"/>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a:t>
            </a:r>
            <a:endParaRPr lang="en-US" sz="870" dirty="0"/>
          </a:p>
        </p:txBody>
      </p:sp>
      <p:sp>
        <p:nvSpPr>
          <p:cNvPr id="22" name="Text 19"/>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37 / 53</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ANEXO TÉCNICO</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Anexo A · El mapa de archivos conecta cada afirmación con su implementación</a:t>
            </a:r>
            <a:endParaRPr lang="en-US" sz="2800" dirty="0"/>
          </a:p>
        </p:txBody>
      </p:sp>
      <p:sp>
        <p:nvSpPr>
          <p:cNvPr id="6" name="Shape 3"/>
          <p:cNvSpPr/>
          <p:nvPr/>
        </p:nvSpPr>
        <p:spPr>
          <a:xfrm>
            <a:off x="685800" y="1874520"/>
            <a:ext cx="2743200" cy="429768"/>
          </a:xfrm>
          <a:prstGeom prst="rect">
            <a:avLst/>
          </a:prstGeom>
          <a:solidFill>
            <a:srgbClr val="14293B"/>
          </a:solidFill>
          <a:ln w="8255">
            <a:solidFill>
              <a:srgbClr val="F5F6F8"/>
            </a:solidFill>
            <a:prstDash val="solid"/>
          </a:ln>
        </p:spPr>
      </p:sp>
      <p:sp>
        <p:nvSpPr>
          <p:cNvPr id="7" name="Text 4"/>
          <p:cNvSpPr/>
          <p:nvPr/>
        </p:nvSpPr>
        <p:spPr>
          <a:xfrm>
            <a:off x="777240" y="1938528"/>
            <a:ext cx="256032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Responsabilidad</a:t>
            </a:r>
            <a:endParaRPr lang="en-US" sz="1350" dirty="0"/>
          </a:p>
        </p:txBody>
      </p:sp>
      <p:sp>
        <p:nvSpPr>
          <p:cNvPr id="8" name="Shape 5"/>
          <p:cNvSpPr/>
          <p:nvPr/>
        </p:nvSpPr>
        <p:spPr>
          <a:xfrm>
            <a:off x="3429000" y="1874520"/>
            <a:ext cx="7543800" cy="429768"/>
          </a:xfrm>
          <a:prstGeom prst="rect">
            <a:avLst/>
          </a:prstGeom>
          <a:solidFill>
            <a:srgbClr val="14293B"/>
          </a:solidFill>
          <a:ln w="8255">
            <a:solidFill>
              <a:srgbClr val="F5F6F8"/>
            </a:solidFill>
            <a:prstDash val="solid"/>
          </a:ln>
        </p:spPr>
      </p:sp>
      <p:sp>
        <p:nvSpPr>
          <p:cNvPr id="9" name="Text 6"/>
          <p:cNvSpPr/>
          <p:nvPr/>
        </p:nvSpPr>
        <p:spPr>
          <a:xfrm>
            <a:off x="3520440" y="1938528"/>
            <a:ext cx="736092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Archivo / símbolo</a:t>
            </a:r>
            <a:endParaRPr lang="en-US" sz="1350" dirty="0"/>
          </a:p>
        </p:txBody>
      </p:sp>
      <p:sp>
        <p:nvSpPr>
          <p:cNvPr id="10" name="Shape 7"/>
          <p:cNvSpPr/>
          <p:nvPr/>
        </p:nvSpPr>
        <p:spPr>
          <a:xfrm>
            <a:off x="685800" y="2304288"/>
            <a:ext cx="2743200" cy="329184"/>
          </a:xfrm>
          <a:prstGeom prst="rect">
            <a:avLst/>
          </a:prstGeom>
          <a:solidFill>
            <a:srgbClr val="FFFFFF"/>
          </a:solidFill>
          <a:ln w="8255">
            <a:solidFill>
              <a:srgbClr val="F5F6F8"/>
            </a:solidFill>
            <a:prstDash val="solid"/>
          </a:ln>
        </p:spPr>
      </p:sp>
      <p:sp>
        <p:nvSpPr>
          <p:cNvPr id="11" name="Text 8"/>
          <p:cNvSpPr/>
          <p:nvPr/>
        </p:nvSpPr>
        <p:spPr>
          <a:xfrm>
            <a:off x="777240" y="2368296"/>
            <a:ext cx="25603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Perfil y tecnología</a:t>
            </a:r>
            <a:endParaRPr lang="en-US" sz="1350" dirty="0"/>
          </a:p>
        </p:txBody>
      </p:sp>
      <p:sp>
        <p:nvSpPr>
          <p:cNvPr id="12" name="Shape 9"/>
          <p:cNvSpPr/>
          <p:nvPr/>
        </p:nvSpPr>
        <p:spPr>
          <a:xfrm>
            <a:off x="3429000" y="2304288"/>
            <a:ext cx="7543800" cy="329184"/>
          </a:xfrm>
          <a:prstGeom prst="rect">
            <a:avLst/>
          </a:prstGeom>
          <a:solidFill>
            <a:srgbClr val="FFFFFF"/>
          </a:solidFill>
          <a:ln w="8255">
            <a:solidFill>
              <a:srgbClr val="F5F6F8"/>
            </a:solidFill>
            <a:prstDash val="solid"/>
          </a:ln>
        </p:spPr>
      </p:sp>
      <p:sp>
        <p:nvSpPr>
          <p:cNvPr id="13" name="Text 10"/>
          <p:cNvSpPr/>
          <p:nvPr/>
        </p:nvSpPr>
        <p:spPr>
          <a:xfrm>
            <a:off x="3520440" y="2368296"/>
            <a:ext cx="73609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infrastructure/designs.py · catalog.py</a:t>
            </a:r>
            <a:endParaRPr lang="en-US" sz="1350" dirty="0"/>
          </a:p>
        </p:txBody>
      </p:sp>
      <p:sp>
        <p:nvSpPr>
          <p:cNvPr id="14" name="Shape 11"/>
          <p:cNvSpPr/>
          <p:nvPr/>
        </p:nvSpPr>
        <p:spPr>
          <a:xfrm>
            <a:off x="685800" y="2633472"/>
            <a:ext cx="2743200" cy="329184"/>
          </a:xfrm>
          <a:prstGeom prst="rect">
            <a:avLst/>
          </a:prstGeom>
          <a:solidFill>
            <a:srgbClr val="EAF0F5"/>
          </a:solidFill>
          <a:ln w="8255">
            <a:solidFill>
              <a:srgbClr val="F5F6F8"/>
            </a:solidFill>
            <a:prstDash val="solid"/>
          </a:ln>
        </p:spPr>
      </p:sp>
      <p:sp>
        <p:nvSpPr>
          <p:cNvPr id="15" name="Text 12"/>
          <p:cNvSpPr/>
          <p:nvPr/>
        </p:nvSpPr>
        <p:spPr>
          <a:xfrm>
            <a:off x="777240" y="2697480"/>
            <a:ext cx="25603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Contrato de entrada</a:t>
            </a:r>
            <a:endParaRPr lang="en-US" sz="1350" dirty="0"/>
          </a:p>
        </p:txBody>
      </p:sp>
      <p:sp>
        <p:nvSpPr>
          <p:cNvPr id="16" name="Shape 13"/>
          <p:cNvSpPr/>
          <p:nvPr/>
        </p:nvSpPr>
        <p:spPr>
          <a:xfrm>
            <a:off x="3429000" y="2633472"/>
            <a:ext cx="7543800" cy="329184"/>
          </a:xfrm>
          <a:prstGeom prst="rect">
            <a:avLst/>
          </a:prstGeom>
          <a:solidFill>
            <a:srgbClr val="EAF0F5"/>
          </a:solidFill>
          <a:ln w="8255">
            <a:solidFill>
              <a:srgbClr val="F5F6F8"/>
            </a:solidFill>
            <a:prstDash val="solid"/>
          </a:ln>
        </p:spPr>
      </p:sp>
      <p:sp>
        <p:nvSpPr>
          <p:cNvPr id="17" name="Text 14"/>
          <p:cNvSpPr/>
          <p:nvPr/>
        </p:nvSpPr>
        <p:spPr>
          <a:xfrm>
            <a:off x="3520440" y="2697480"/>
            <a:ext cx="73609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api/schemas.py · CreateExperimentRequest</a:t>
            </a:r>
            <a:endParaRPr lang="en-US" sz="1350" dirty="0"/>
          </a:p>
        </p:txBody>
      </p:sp>
      <p:sp>
        <p:nvSpPr>
          <p:cNvPr id="18" name="Shape 15"/>
          <p:cNvSpPr/>
          <p:nvPr/>
        </p:nvSpPr>
        <p:spPr>
          <a:xfrm>
            <a:off x="685800" y="2962656"/>
            <a:ext cx="2743200" cy="329184"/>
          </a:xfrm>
          <a:prstGeom prst="rect">
            <a:avLst/>
          </a:prstGeom>
          <a:solidFill>
            <a:srgbClr val="FFFFFF"/>
          </a:solidFill>
          <a:ln w="8255">
            <a:solidFill>
              <a:srgbClr val="F5F6F8"/>
            </a:solidFill>
            <a:prstDash val="solid"/>
          </a:ln>
        </p:spPr>
      </p:sp>
      <p:sp>
        <p:nvSpPr>
          <p:cNvPr id="19" name="Text 16"/>
          <p:cNvSpPr/>
          <p:nvPr/>
        </p:nvSpPr>
        <p:spPr>
          <a:xfrm>
            <a:off x="777240" y="3026664"/>
            <a:ext cx="25603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Cola y estado</a:t>
            </a:r>
            <a:endParaRPr lang="en-US" sz="1350" dirty="0"/>
          </a:p>
        </p:txBody>
      </p:sp>
      <p:sp>
        <p:nvSpPr>
          <p:cNvPr id="20" name="Shape 17"/>
          <p:cNvSpPr/>
          <p:nvPr/>
        </p:nvSpPr>
        <p:spPr>
          <a:xfrm>
            <a:off x="3429000" y="2962656"/>
            <a:ext cx="7543800" cy="329184"/>
          </a:xfrm>
          <a:prstGeom prst="rect">
            <a:avLst/>
          </a:prstGeom>
          <a:solidFill>
            <a:srgbClr val="FFFFFF"/>
          </a:solidFill>
          <a:ln w="8255">
            <a:solidFill>
              <a:srgbClr val="F5F6F8"/>
            </a:solidFill>
            <a:prstDash val="solid"/>
          </a:ln>
        </p:spPr>
      </p:sp>
      <p:sp>
        <p:nvSpPr>
          <p:cNvPr id="21" name="Text 18"/>
          <p:cNvSpPr/>
          <p:nvPr/>
        </p:nvSpPr>
        <p:spPr>
          <a:xfrm>
            <a:off x="3520440" y="3026664"/>
            <a:ext cx="73609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application/services.py · ExperimentService</a:t>
            </a:r>
            <a:endParaRPr lang="en-US" sz="1350" dirty="0"/>
          </a:p>
        </p:txBody>
      </p:sp>
      <p:sp>
        <p:nvSpPr>
          <p:cNvPr id="22" name="Shape 19"/>
          <p:cNvSpPr/>
          <p:nvPr/>
        </p:nvSpPr>
        <p:spPr>
          <a:xfrm>
            <a:off x="685800" y="3291840"/>
            <a:ext cx="2743200" cy="329184"/>
          </a:xfrm>
          <a:prstGeom prst="rect">
            <a:avLst/>
          </a:prstGeom>
          <a:solidFill>
            <a:srgbClr val="EAF0F5"/>
          </a:solidFill>
          <a:ln w="8255">
            <a:solidFill>
              <a:srgbClr val="F5F6F8"/>
            </a:solidFill>
            <a:prstDash val="solid"/>
          </a:ln>
        </p:spPr>
      </p:sp>
      <p:sp>
        <p:nvSpPr>
          <p:cNvPr id="23" name="Text 20"/>
          <p:cNvSpPr/>
          <p:nvPr/>
        </p:nvSpPr>
        <p:spPr>
          <a:xfrm>
            <a:off x="777240" y="3355848"/>
            <a:ext cx="25603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Preparación VHDL</a:t>
            </a:r>
            <a:endParaRPr lang="en-US" sz="1350" dirty="0"/>
          </a:p>
        </p:txBody>
      </p:sp>
      <p:sp>
        <p:nvSpPr>
          <p:cNvPr id="24" name="Shape 21"/>
          <p:cNvSpPr/>
          <p:nvPr/>
        </p:nvSpPr>
        <p:spPr>
          <a:xfrm>
            <a:off x="3429000" y="3291840"/>
            <a:ext cx="7543800" cy="329184"/>
          </a:xfrm>
          <a:prstGeom prst="rect">
            <a:avLst/>
          </a:prstGeom>
          <a:solidFill>
            <a:srgbClr val="EAF0F5"/>
          </a:solidFill>
          <a:ln w="8255">
            <a:solidFill>
              <a:srgbClr val="F5F6F8"/>
            </a:solidFill>
            <a:prstDash val="solid"/>
          </a:ln>
        </p:spPr>
      </p:sp>
      <p:sp>
        <p:nvSpPr>
          <p:cNvPr id="25" name="Text 22"/>
          <p:cNvSpPr/>
          <p:nvPr/>
        </p:nvSpPr>
        <p:spPr>
          <a:xfrm>
            <a:off x="3520440" y="3355848"/>
            <a:ext cx="73609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infrastructure/vhdl.py · analyze_sources</a:t>
            </a:r>
            <a:endParaRPr lang="en-US" sz="1350" dirty="0"/>
          </a:p>
        </p:txBody>
      </p:sp>
      <p:sp>
        <p:nvSpPr>
          <p:cNvPr id="26" name="Shape 23"/>
          <p:cNvSpPr/>
          <p:nvPr/>
        </p:nvSpPr>
        <p:spPr>
          <a:xfrm>
            <a:off x="685800" y="3621024"/>
            <a:ext cx="2743200" cy="329184"/>
          </a:xfrm>
          <a:prstGeom prst="rect">
            <a:avLst/>
          </a:prstGeom>
          <a:solidFill>
            <a:srgbClr val="FFFFFF"/>
          </a:solidFill>
          <a:ln w="8255">
            <a:solidFill>
              <a:srgbClr val="F5F6F8"/>
            </a:solidFill>
            <a:prstDash val="solid"/>
          </a:ln>
        </p:spPr>
      </p:sp>
      <p:sp>
        <p:nvSpPr>
          <p:cNvPr id="27" name="Text 24"/>
          <p:cNvSpPr/>
          <p:nvPr/>
        </p:nvSpPr>
        <p:spPr>
          <a:xfrm>
            <a:off x="777240" y="3685032"/>
            <a:ext cx="25603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Oráculo y comparación</a:t>
            </a:r>
            <a:endParaRPr lang="en-US" sz="1350" dirty="0"/>
          </a:p>
        </p:txBody>
      </p:sp>
      <p:sp>
        <p:nvSpPr>
          <p:cNvPr id="28" name="Shape 25"/>
          <p:cNvSpPr/>
          <p:nvPr/>
        </p:nvSpPr>
        <p:spPr>
          <a:xfrm>
            <a:off x="3429000" y="3621024"/>
            <a:ext cx="7543800" cy="329184"/>
          </a:xfrm>
          <a:prstGeom prst="rect">
            <a:avLst/>
          </a:prstGeom>
          <a:solidFill>
            <a:srgbClr val="FFFFFF"/>
          </a:solidFill>
          <a:ln w="8255">
            <a:solidFill>
              <a:srgbClr val="F5F6F8"/>
            </a:solidFill>
            <a:prstDash val="solid"/>
          </a:ln>
        </p:spPr>
      </p:sp>
      <p:sp>
        <p:nvSpPr>
          <p:cNvPr id="29" name="Text 26"/>
          <p:cNvSpPr/>
          <p:nvPr/>
        </p:nvSpPr>
        <p:spPr>
          <a:xfrm>
            <a:off x="3520440" y="3685032"/>
            <a:ext cx="73609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infrastructure/validation.py</a:t>
            </a:r>
            <a:endParaRPr lang="en-US" sz="1350" dirty="0"/>
          </a:p>
        </p:txBody>
      </p:sp>
      <p:sp>
        <p:nvSpPr>
          <p:cNvPr id="30" name="Shape 27"/>
          <p:cNvSpPr/>
          <p:nvPr/>
        </p:nvSpPr>
        <p:spPr>
          <a:xfrm>
            <a:off x="685800" y="3950208"/>
            <a:ext cx="2743200" cy="329184"/>
          </a:xfrm>
          <a:prstGeom prst="rect">
            <a:avLst/>
          </a:prstGeom>
          <a:solidFill>
            <a:srgbClr val="EAF0F5"/>
          </a:solidFill>
          <a:ln w="8255">
            <a:solidFill>
              <a:srgbClr val="F5F6F8"/>
            </a:solidFill>
            <a:prstDash val="solid"/>
          </a:ln>
        </p:spPr>
      </p:sp>
      <p:sp>
        <p:nvSpPr>
          <p:cNvPr id="31" name="Text 28"/>
          <p:cNvSpPr/>
          <p:nvPr/>
        </p:nvSpPr>
        <p:spPr>
          <a:xfrm>
            <a:off x="777240" y="4014216"/>
            <a:ext cx="25603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Síntesis y reportes</a:t>
            </a:r>
            <a:endParaRPr lang="en-US" sz="1350" dirty="0"/>
          </a:p>
        </p:txBody>
      </p:sp>
      <p:sp>
        <p:nvSpPr>
          <p:cNvPr id="32" name="Shape 29"/>
          <p:cNvSpPr/>
          <p:nvPr/>
        </p:nvSpPr>
        <p:spPr>
          <a:xfrm>
            <a:off x="3429000" y="3950208"/>
            <a:ext cx="7543800" cy="329184"/>
          </a:xfrm>
          <a:prstGeom prst="rect">
            <a:avLst/>
          </a:prstGeom>
          <a:solidFill>
            <a:srgbClr val="EAF0F5"/>
          </a:solidFill>
          <a:ln w="8255">
            <a:solidFill>
              <a:srgbClr val="F5F6F8"/>
            </a:solidFill>
            <a:prstDash val="solid"/>
          </a:ln>
        </p:spPr>
      </p:sp>
      <p:sp>
        <p:nvSpPr>
          <p:cNvPr id="33" name="Text 30"/>
          <p:cNvSpPr/>
          <p:nvPr/>
        </p:nvSpPr>
        <p:spPr>
          <a:xfrm>
            <a:off x="3520440" y="4014216"/>
            <a:ext cx="73609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infrastructure/synthesis.py · GhdlYosysSynthesis.run</a:t>
            </a:r>
            <a:endParaRPr lang="en-US" sz="1350" dirty="0"/>
          </a:p>
        </p:txBody>
      </p:sp>
      <p:sp>
        <p:nvSpPr>
          <p:cNvPr id="34" name="Shape 31"/>
          <p:cNvSpPr/>
          <p:nvPr/>
        </p:nvSpPr>
        <p:spPr>
          <a:xfrm>
            <a:off x="685800" y="4279392"/>
            <a:ext cx="2743200" cy="329184"/>
          </a:xfrm>
          <a:prstGeom prst="rect">
            <a:avLst/>
          </a:prstGeom>
          <a:solidFill>
            <a:srgbClr val="FFFFFF"/>
          </a:solidFill>
          <a:ln w="8255">
            <a:solidFill>
              <a:srgbClr val="F5F6F8"/>
            </a:solidFill>
            <a:prstDash val="solid"/>
          </a:ln>
        </p:spPr>
      </p:sp>
      <p:sp>
        <p:nvSpPr>
          <p:cNvPr id="35" name="Text 32"/>
          <p:cNvSpPr/>
          <p:nvPr/>
        </p:nvSpPr>
        <p:spPr>
          <a:xfrm>
            <a:off x="777240" y="4343400"/>
            <a:ext cx="25603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Área y categorías</a:t>
            </a:r>
            <a:endParaRPr lang="en-US" sz="1350" dirty="0"/>
          </a:p>
        </p:txBody>
      </p:sp>
      <p:sp>
        <p:nvSpPr>
          <p:cNvPr id="36" name="Shape 33"/>
          <p:cNvSpPr/>
          <p:nvPr/>
        </p:nvSpPr>
        <p:spPr>
          <a:xfrm>
            <a:off x="3429000" y="4279392"/>
            <a:ext cx="7543800" cy="329184"/>
          </a:xfrm>
          <a:prstGeom prst="rect">
            <a:avLst/>
          </a:prstGeom>
          <a:solidFill>
            <a:srgbClr val="FFFFFF"/>
          </a:solidFill>
          <a:ln w="8255">
            <a:solidFill>
              <a:srgbClr val="F5F6F8"/>
            </a:solidFill>
            <a:prstDash val="solid"/>
          </a:ln>
        </p:spPr>
      </p:sp>
      <p:sp>
        <p:nvSpPr>
          <p:cNvPr id="37" name="Text 34"/>
          <p:cNvSpPr/>
          <p:nvPr/>
        </p:nvSpPr>
        <p:spPr>
          <a:xfrm>
            <a:off x="3520440" y="4343400"/>
            <a:ext cx="73609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infrastructure/liberty.py</a:t>
            </a:r>
            <a:endParaRPr lang="en-US" sz="1350" dirty="0"/>
          </a:p>
        </p:txBody>
      </p:sp>
      <p:sp>
        <p:nvSpPr>
          <p:cNvPr id="38" name="Shape 35"/>
          <p:cNvSpPr/>
          <p:nvPr/>
        </p:nvSpPr>
        <p:spPr>
          <a:xfrm>
            <a:off x="685800" y="4608576"/>
            <a:ext cx="2743200" cy="329184"/>
          </a:xfrm>
          <a:prstGeom prst="rect">
            <a:avLst/>
          </a:prstGeom>
          <a:solidFill>
            <a:srgbClr val="EAF0F5"/>
          </a:solidFill>
          <a:ln w="8255">
            <a:solidFill>
              <a:srgbClr val="F5F6F8"/>
            </a:solidFill>
            <a:prstDash val="solid"/>
          </a:ln>
        </p:spPr>
      </p:sp>
      <p:sp>
        <p:nvSpPr>
          <p:cNvPr id="39" name="Text 36"/>
          <p:cNvSpPr/>
          <p:nvPr/>
        </p:nvSpPr>
        <p:spPr>
          <a:xfrm>
            <a:off x="777240" y="4672584"/>
            <a:ext cx="25603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Ejecución externa</a:t>
            </a:r>
            <a:endParaRPr lang="en-US" sz="1350" dirty="0"/>
          </a:p>
        </p:txBody>
      </p:sp>
      <p:sp>
        <p:nvSpPr>
          <p:cNvPr id="40" name="Shape 37"/>
          <p:cNvSpPr/>
          <p:nvPr/>
        </p:nvSpPr>
        <p:spPr>
          <a:xfrm>
            <a:off x="3429000" y="4608576"/>
            <a:ext cx="7543800" cy="329184"/>
          </a:xfrm>
          <a:prstGeom prst="rect">
            <a:avLst/>
          </a:prstGeom>
          <a:solidFill>
            <a:srgbClr val="EAF0F5"/>
          </a:solidFill>
          <a:ln w="8255">
            <a:solidFill>
              <a:srgbClr val="F5F6F8"/>
            </a:solidFill>
            <a:prstDash val="solid"/>
          </a:ln>
        </p:spPr>
      </p:sp>
      <p:sp>
        <p:nvSpPr>
          <p:cNvPr id="41" name="Text 38"/>
          <p:cNvSpPr/>
          <p:nvPr/>
        </p:nvSpPr>
        <p:spPr>
          <a:xfrm>
            <a:off x="3520440" y="4672584"/>
            <a:ext cx="73609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infrastructure/process_runner.py</a:t>
            </a:r>
            <a:endParaRPr lang="en-US" sz="1350" dirty="0"/>
          </a:p>
        </p:txBody>
      </p:sp>
      <p:sp>
        <p:nvSpPr>
          <p:cNvPr id="42" name="Shape 39"/>
          <p:cNvSpPr/>
          <p:nvPr/>
        </p:nvSpPr>
        <p:spPr>
          <a:xfrm>
            <a:off x="685800" y="4937760"/>
            <a:ext cx="2743200" cy="329184"/>
          </a:xfrm>
          <a:prstGeom prst="rect">
            <a:avLst/>
          </a:prstGeom>
          <a:solidFill>
            <a:srgbClr val="FFFFFF"/>
          </a:solidFill>
          <a:ln w="8255">
            <a:solidFill>
              <a:srgbClr val="F5F6F8"/>
            </a:solidFill>
            <a:prstDash val="solid"/>
          </a:ln>
        </p:spPr>
      </p:sp>
      <p:sp>
        <p:nvSpPr>
          <p:cNvPr id="43" name="Text 40"/>
          <p:cNvSpPr/>
          <p:nvPr/>
        </p:nvSpPr>
        <p:spPr>
          <a:xfrm>
            <a:off x="777240" y="5001768"/>
            <a:ext cx="25603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Persistencia / descargas</a:t>
            </a:r>
            <a:endParaRPr lang="en-US" sz="1350" dirty="0"/>
          </a:p>
        </p:txBody>
      </p:sp>
      <p:sp>
        <p:nvSpPr>
          <p:cNvPr id="44" name="Shape 41"/>
          <p:cNvSpPr/>
          <p:nvPr/>
        </p:nvSpPr>
        <p:spPr>
          <a:xfrm>
            <a:off x="3429000" y="4937760"/>
            <a:ext cx="7543800" cy="329184"/>
          </a:xfrm>
          <a:prstGeom prst="rect">
            <a:avLst/>
          </a:prstGeom>
          <a:solidFill>
            <a:srgbClr val="FFFFFF"/>
          </a:solidFill>
          <a:ln w="8255">
            <a:solidFill>
              <a:srgbClr val="F5F6F8"/>
            </a:solidFill>
            <a:prstDash val="solid"/>
          </a:ln>
        </p:spPr>
      </p:sp>
      <p:sp>
        <p:nvSpPr>
          <p:cNvPr id="45" name="Text 42"/>
          <p:cNvSpPr/>
          <p:nvPr/>
        </p:nvSpPr>
        <p:spPr>
          <a:xfrm>
            <a:off x="3520440" y="5001768"/>
            <a:ext cx="73609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infrastructure/sqlite_repository.py · api/routes.py</a:t>
            </a:r>
            <a:endParaRPr lang="en-US" sz="1350" dirty="0"/>
          </a:p>
        </p:txBody>
      </p:sp>
      <p:sp>
        <p:nvSpPr>
          <p:cNvPr id="46" name="Shape 43"/>
          <p:cNvSpPr/>
          <p:nvPr/>
        </p:nvSpPr>
        <p:spPr>
          <a:xfrm>
            <a:off x="685800" y="5266944"/>
            <a:ext cx="2743200" cy="329184"/>
          </a:xfrm>
          <a:prstGeom prst="rect">
            <a:avLst/>
          </a:prstGeom>
          <a:solidFill>
            <a:srgbClr val="EAF0F5"/>
          </a:solidFill>
          <a:ln w="8255">
            <a:solidFill>
              <a:srgbClr val="F5F6F8"/>
            </a:solidFill>
            <a:prstDash val="solid"/>
          </a:ln>
        </p:spPr>
      </p:sp>
      <p:sp>
        <p:nvSpPr>
          <p:cNvPr id="47" name="Text 44"/>
          <p:cNvSpPr/>
          <p:nvPr/>
        </p:nvSpPr>
        <p:spPr>
          <a:xfrm>
            <a:off x="777240" y="5330952"/>
            <a:ext cx="25603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Filtros de gráficos</a:t>
            </a:r>
            <a:endParaRPr lang="en-US" sz="1350" dirty="0"/>
          </a:p>
        </p:txBody>
      </p:sp>
      <p:sp>
        <p:nvSpPr>
          <p:cNvPr id="48" name="Shape 45"/>
          <p:cNvSpPr/>
          <p:nvPr/>
        </p:nvSpPr>
        <p:spPr>
          <a:xfrm>
            <a:off x="3429000" y="5266944"/>
            <a:ext cx="7543800" cy="329184"/>
          </a:xfrm>
          <a:prstGeom prst="rect">
            <a:avLst/>
          </a:prstGeom>
          <a:solidFill>
            <a:srgbClr val="EAF0F5"/>
          </a:solidFill>
          <a:ln w="8255">
            <a:solidFill>
              <a:srgbClr val="F5F6F8"/>
            </a:solidFill>
            <a:prstDash val="solid"/>
          </a:ln>
        </p:spPr>
      </p:sp>
      <p:sp>
        <p:nvSpPr>
          <p:cNvPr id="49" name="Text 46"/>
          <p:cNvSpPr/>
          <p:nvPr/>
        </p:nvSpPr>
        <p:spPr>
          <a:xfrm>
            <a:off x="3520440" y="5330952"/>
            <a:ext cx="73609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frontend/src/features/experiments/ComparisonPanel.tsx</a:t>
            </a:r>
            <a:endParaRPr lang="en-US" sz="1350" dirty="0"/>
          </a:p>
        </p:txBody>
      </p:sp>
      <p:sp>
        <p:nvSpPr>
          <p:cNvPr id="50" name="Shape 47"/>
          <p:cNvSpPr/>
          <p:nvPr/>
        </p:nvSpPr>
        <p:spPr>
          <a:xfrm>
            <a:off x="585216" y="6492240"/>
            <a:ext cx="11009376" cy="0"/>
          </a:xfrm>
          <a:prstGeom prst="line">
            <a:avLst/>
          </a:prstGeom>
          <a:noFill/>
          <a:ln w="8890">
            <a:solidFill>
              <a:srgbClr val="D9E2E9"/>
            </a:solidFill>
            <a:prstDash val="solid"/>
            <a:headEnd type="none"/>
            <a:tailEnd type="none"/>
          </a:ln>
        </p:spPr>
      </p:sp>
      <p:sp>
        <p:nvSpPr>
          <p:cNvPr id="51" name="Text 48"/>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backend/src/area_lab/ · frontend/src/</a:t>
            </a:r>
            <a:endParaRPr lang="en-US" sz="870" dirty="0"/>
          </a:p>
        </p:txBody>
      </p:sp>
      <p:sp>
        <p:nvSpPr>
          <p:cNvPr id="52" name="Text 49"/>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38 / 53</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ANEXO TÉCNICO</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Anexo B · Los comandos de simulación RTL quedan registrados</a:t>
            </a:r>
            <a:endParaRPr lang="en-US" sz="2800" dirty="0"/>
          </a:p>
        </p:txBody>
      </p:sp>
      <p:sp>
        <p:nvSpPr>
          <p:cNvPr id="6" name="Shape 3"/>
          <p:cNvSpPr/>
          <p:nvPr/>
        </p:nvSpPr>
        <p:spPr>
          <a:xfrm>
            <a:off x="685800" y="1920240"/>
            <a:ext cx="6903720" cy="3767328"/>
          </a:xfrm>
          <a:prstGeom prst="roundRect">
            <a:avLst>
              <a:gd name="adj" fmla="val 2427"/>
            </a:avLst>
          </a:prstGeom>
          <a:solidFill>
            <a:srgbClr val="102331"/>
          </a:solidFill>
          <a:ln w="8255">
            <a:solidFill>
              <a:srgbClr val="102331"/>
            </a:solidFill>
            <a:prstDash val="solid"/>
          </a:ln>
        </p:spPr>
      </p:sp>
      <p:sp>
        <p:nvSpPr>
          <p:cNvPr id="7" name="Text 4"/>
          <p:cNvSpPr/>
          <p:nvPr/>
        </p:nvSpPr>
        <p:spPr>
          <a:xfrm>
            <a:off x="859536" y="2121408"/>
            <a:ext cx="6556248" cy="310896"/>
          </a:xfrm>
          <a:prstGeom prst="rect">
            <a:avLst/>
          </a:prstGeom>
          <a:noFill/>
          <a:ln/>
        </p:spPr>
        <p:txBody>
          <a:bodyPr wrap="square" lIns="0" tIns="0" rIns="0" bIns="0" rtlCol="0" anchor="t"/>
          <a:lstStyle/>
          <a:p>
            <a:pPr indent="0" marL="0">
              <a:buNone/>
            </a:pPr>
            <a:r>
              <a:rPr lang="en-US" sz="1360" dirty="0">
                <a:solidFill>
                  <a:srgbClr val="80DDD5"/>
                </a:solidFill>
                <a:latin typeface="Courier New" pitchFamily="34" charset="0"/>
                <a:ea typeface="Courier New" pitchFamily="34" charset="-122"/>
                <a:cs typeface="Courier New" pitchFamily="34" charset="-120"/>
              </a:rPr>
              <a:t>ghdl -a --std=08 -fsynopsys -fexplicit validation_tb.vhd</a:t>
            </a:r>
            <a:endParaRPr lang="en-US" sz="1360" dirty="0"/>
          </a:p>
        </p:txBody>
      </p:sp>
      <p:sp>
        <p:nvSpPr>
          <p:cNvPr id="8" name="Text 5"/>
          <p:cNvSpPr/>
          <p:nvPr/>
        </p:nvSpPr>
        <p:spPr>
          <a:xfrm>
            <a:off x="859536" y="2432304"/>
            <a:ext cx="6556248" cy="310896"/>
          </a:xfrm>
          <a:prstGeom prst="rect">
            <a:avLst/>
          </a:prstGeom>
          <a:noFill/>
          <a:ln/>
        </p:spPr>
        <p:txBody>
          <a:bodyPr wrap="square" lIns="0" tIns="0" rIns="0" bIns="0" rtlCol="0" anchor="t"/>
          <a:lstStyle/>
          <a:p>
            <a:pPr indent="0" marL="0">
              <a:buNone/>
            </a:pPr>
            <a:r>
              <a:rPr lang="en-US" sz="1360" dirty="0">
                <a:solidFill>
                  <a:srgbClr val="80DDD5"/>
                </a:solidFill>
                <a:latin typeface="Courier New" pitchFamily="34" charset="0"/>
                <a:ea typeface="Courier New" pitchFamily="34" charset="-122"/>
                <a:cs typeface="Courier New" pitchFamily="34" charset="-120"/>
              </a:rPr>
              <a:t>ghdl -e --std=08 -fsynopsys -fexplicit area_validation_tb</a:t>
            </a:r>
            <a:endParaRPr lang="en-US" sz="1360" dirty="0"/>
          </a:p>
        </p:txBody>
      </p:sp>
      <p:sp>
        <p:nvSpPr>
          <p:cNvPr id="9" name="Text 6"/>
          <p:cNvSpPr/>
          <p:nvPr/>
        </p:nvSpPr>
        <p:spPr>
          <a:xfrm>
            <a:off x="859536" y="2743200"/>
            <a:ext cx="6556248" cy="310896"/>
          </a:xfrm>
          <a:prstGeom prst="rect">
            <a:avLst/>
          </a:prstGeom>
          <a:noFill/>
          <a:ln/>
        </p:spPr>
        <p:txBody>
          <a:bodyPr wrap="square" lIns="0" tIns="0" rIns="0" bIns="0" rtlCol="0" anchor="t"/>
          <a:lstStyle/>
          <a:p>
            <a:pPr indent="0" marL="0">
              <a:buNone/>
            </a:pPr>
            <a:r>
              <a:rPr lang="en-US" sz="1360" dirty="0">
                <a:solidFill>
                  <a:srgbClr val="80DDD5"/>
                </a:solidFill>
                <a:latin typeface="Courier New" pitchFamily="34" charset="0"/>
                <a:ea typeface="Courier New" pitchFamily="34" charset="-122"/>
                <a:cs typeface="Courier New" pitchFamily="34" charset="-120"/>
              </a:rPr>
              <a:t>ghdl -r --std=08 -fsynopsys -fexplicit \</a:t>
            </a:r>
            <a:endParaRPr lang="en-US" sz="1360" dirty="0"/>
          </a:p>
        </p:txBody>
      </p:sp>
      <p:sp>
        <p:nvSpPr>
          <p:cNvPr id="10" name="Text 7"/>
          <p:cNvSpPr/>
          <p:nvPr/>
        </p:nvSpPr>
        <p:spPr>
          <a:xfrm>
            <a:off x="859536" y="3054096"/>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  area_validation_tb --assert-level=error \</a:t>
            </a:r>
            <a:endParaRPr lang="en-US" sz="1360" dirty="0"/>
          </a:p>
        </p:txBody>
      </p:sp>
      <p:sp>
        <p:nvSpPr>
          <p:cNvPr id="11" name="Text 8"/>
          <p:cNvSpPr/>
          <p:nvPr/>
        </p:nvSpPr>
        <p:spPr>
          <a:xfrm>
            <a:off x="859536" y="3364992"/>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  --ieee-asserts=disable-at-0</a:t>
            </a:r>
            <a:endParaRPr lang="en-US" sz="1360" dirty="0"/>
          </a:p>
        </p:txBody>
      </p:sp>
      <p:sp>
        <p:nvSpPr>
          <p:cNvPr id="12" name="Text 9"/>
          <p:cNvSpPr/>
          <p:nvPr/>
        </p:nvSpPr>
        <p:spPr>
          <a:xfrm>
            <a:off x="859536" y="3675888"/>
            <a:ext cx="6556248" cy="310896"/>
          </a:xfrm>
          <a:prstGeom prst="rect">
            <a:avLst/>
          </a:prstGeom>
          <a:noFill/>
          <a:ln/>
        </p:spPr>
        <p:txBody>
          <a:bodyPr wrap="square" lIns="0" tIns="0" rIns="0" bIns="0" rtlCol="0" anchor="t"/>
          <a:lstStyle/>
          <a:p>
            <a:pPr indent="0" marL="0">
              <a:buNone/>
            </a:pPr>
            <a:endParaRPr lang="en-US" sz="1360" dirty="0"/>
          </a:p>
        </p:txBody>
      </p:sp>
      <p:sp>
        <p:nvSpPr>
          <p:cNvPr id="13" name="Text 10"/>
          <p:cNvSpPr/>
          <p:nvPr/>
        </p:nvSpPr>
        <p:spPr>
          <a:xfrm>
            <a:off x="859536" y="3986784"/>
            <a:ext cx="6556248" cy="310896"/>
          </a:xfrm>
          <a:prstGeom prst="rect">
            <a:avLst/>
          </a:prstGeom>
          <a:noFill/>
          <a:ln/>
        </p:spPr>
        <p:txBody>
          <a:bodyPr wrap="square" lIns="0" tIns="0" rIns="0" bIns="0" rtlCol="0" anchor="t"/>
          <a:lstStyle/>
          <a:p>
            <a:pPr indent="0" marL="0">
              <a:buNone/>
            </a:pPr>
            <a:r>
              <a:rPr lang="en-US" sz="1360" dirty="0">
                <a:solidFill>
                  <a:srgbClr val="E0B76B"/>
                </a:solidFill>
                <a:latin typeface="Courier New" pitchFamily="34" charset="0"/>
                <a:ea typeface="Courier New" pitchFamily="34" charset="-122"/>
                <a:cs typeface="Courier New" pitchFamily="34" charset="-120"/>
              </a:rPr>
              <a:t># Exigir VALIDATION_OK 256 y 256 salidas definidas</a:t>
            </a:r>
            <a:endParaRPr lang="en-US" sz="1360" dirty="0"/>
          </a:p>
        </p:txBody>
      </p:sp>
      <p:sp>
        <p:nvSpPr>
          <p:cNvPr id="14" name="Shape 11"/>
          <p:cNvSpPr/>
          <p:nvPr/>
        </p:nvSpPr>
        <p:spPr>
          <a:xfrm>
            <a:off x="7845552" y="1920240"/>
            <a:ext cx="3657600" cy="3767328"/>
          </a:xfrm>
          <a:prstGeom prst="roundRect">
            <a:avLst>
              <a:gd name="adj" fmla="val 2000"/>
            </a:avLst>
          </a:prstGeom>
          <a:solidFill>
            <a:srgbClr val="FFFFFF"/>
          </a:solidFill>
          <a:ln w="8255">
            <a:solidFill>
              <a:srgbClr val="D9E2E9"/>
            </a:solidFill>
            <a:prstDash val="solid"/>
          </a:ln>
        </p:spPr>
      </p:sp>
      <p:sp>
        <p:nvSpPr>
          <p:cNvPr id="15" name="Text 12"/>
          <p:cNvSpPr/>
          <p:nvPr/>
        </p:nvSpPr>
        <p:spPr>
          <a:xfrm>
            <a:off x="8074152" y="2148840"/>
            <a:ext cx="3218688" cy="320040"/>
          </a:xfrm>
          <a:prstGeom prst="rect">
            <a:avLst/>
          </a:prstGeom>
          <a:noFill/>
          <a:ln/>
        </p:spPr>
        <p:txBody>
          <a:bodyPr wrap="square" lIns="0" tIns="0" rIns="0" bIns="0" rtlCol="0" anchor="t"/>
          <a:lstStyle/>
          <a:p>
            <a:pPr indent="0" marL="0">
              <a:buNone/>
            </a:pPr>
            <a:r>
              <a:rPr lang="en-US" sz="1200" b="1" spc="70" kern="0" dirty="0">
                <a:solidFill>
                  <a:srgbClr val="007C83"/>
                </a:solidFill>
                <a:latin typeface="Arial" pitchFamily="34" charset="0"/>
                <a:ea typeface="Arial" pitchFamily="34" charset="-122"/>
                <a:cs typeface="Arial" pitchFamily="34" charset="-120"/>
              </a:rPr>
              <a:t>CÓMO INTERPRETARLO</a:t>
            </a:r>
            <a:endParaRPr lang="en-US" sz="1200" dirty="0"/>
          </a:p>
        </p:txBody>
      </p:sp>
      <p:sp>
        <p:nvSpPr>
          <p:cNvPr id="16" name="Text 13"/>
          <p:cNvSpPr/>
          <p:nvPr/>
        </p:nvSpPr>
        <p:spPr>
          <a:xfrm>
            <a:off x="8074152" y="2743200"/>
            <a:ext cx="3182112" cy="2688336"/>
          </a:xfrm>
          <a:prstGeom prst="rect">
            <a:avLst/>
          </a:prstGeom>
          <a:noFill/>
          <a:ln/>
        </p:spPr>
        <p:txBody>
          <a:bodyPr wrap="square" lIns="0" tIns="0" rIns="0" bIns="0" rtlCol="0" anchor="t"/>
          <a:lstStyle/>
          <a:p>
            <a:pPr indent="0" marL="0">
              <a:buNone/>
            </a:pPr>
            <a:r>
              <a:rPr lang="en-US" sz="1700" dirty="0">
                <a:solidFill>
                  <a:srgbClr val="14293B"/>
                </a:solidFill>
                <a:latin typeface="Arial" pitchFamily="34" charset="0"/>
                <a:ea typeface="Arial" pitchFamily="34" charset="-122"/>
                <a:cs typeface="Arial" pitchFamily="34" charset="-120"/>
              </a:rPr>
              <a:t>-a: analizar.</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-e: elaborar y enlazar.</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-r: simular y fallar ante aserciones.</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El log conserva comando, salida, exit code y duración.</a:t>
            </a:r>
            <a:endParaRPr lang="en-US" sz="1700" dirty="0"/>
          </a:p>
        </p:txBody>
      </p:sp>
      <p:sp>
        <p:nvSpPr>
          <p:cNvPr id="17" name="Shape 14"/>
          <p:cNvSpPr/>
          <p:nvPr/>
        </p:nvSpPr>
        <p:spPr>
          <a:xfrm>
            <a:off x="585216" y="6492240"/>
            <a:ext cx="11009376" cy="0"/>
          </a:xfrm>
          <a:prstGeom prst="line">
            <a:avLst/>
          </a:prstGeom>
          <a:noFill/>
          <a:ln w="8890">
            <a:solidFill>
              <a:srgbClr val="D9E2E9"/>
            </a:solidFill>
            <a:prstDash val="solid"/>
            <a:headEnd type="none"/>
            <a:tailEnd type="none"/>
          </a:ln>
        </p:spPr>
      </p:sp>
      <p:sp>
        <p:nvSpPr>
          <p:cNvPr id="18" name="Text 15"/>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F01 | validation.py · validate_rtl()</a:t>
            </a:r>
            <a:endParaRPr lang="en-US" sz="870" dirty="0"/>
          </a:p>
        </p:txBody>
      </p:sp>
      <p:sp>
        <p:nvSpPr>
          <p:cNvPr id="19" name="Text 16"/>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39 / 53</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ANEXO TÉCNICO</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Anexo C · La memoria y los registros tienen una política explícita</a:t>
            </a:r>
            <a:endParaRPr lang="en-US" sz="2800" dirty="0"/>
          </a:p>
        </p:txBody>
      </p:sp>
      <p:sp>
        <p:nvSpPr>
          <p:cNvPr id="6" name="Shape 3"/>
          <p:cNvSpPr/>
          <p:nvPr/>
        </p:nvSpPr>
        <p:spPr>
          <a:xfrm>
            <a:off x="621792" y="1975104"/>
            <a:ext cx="3575304" cy="3511296"/>
          </a:xfrm>
          <a:prstGeom prst="rect">
            <a:avLst/>
          </a:prstGeom>
          <a:solidFill>
            <a:srgbClr val="FFFFFF"/>
          </a:solidFill>
          <a:ln w="8255">
            <a:solidFill>
              <a:srgbClr val="D9E2E9"/>
            </a:solidFill>
            <a:prstDash val="solid"/>
          </a:ln>
        </p:spPr>
      </p:sp>
      <p:sp>
        <p:nvSpPr>
          <p:cNvPr id="7" name="Shape 4"/>
          <p:cNvSpPr/>
          <p:nvPr/>
        </p:nvSpPr>
        <p:spPr>
          <a:xfrm>
            <a:off x="621792" y="1975104"/>
            <a:ext cx="50292" cy="3511296"/>
          </a:xfrm>
          <a:prstGeom prst="rect">
            <a:avLst/>
          </a:prstGeom>
          <a:solidFill>
            <a:srgbClr val="007C83"/>
          </a:solidFill>
          <a:ln w="8255">
            <a:solidFill>
              <a:srgbClr val="007C83"/>
            </a:solidFill>
            <a:prstDash val="solid"/>
          </a:ln>
        </p:spPr>
      </p:sp>
      <p:sp>
        <p:nvSpPr>
          <p:cNvPr id="8" name="Text 5"/>
          <p:cNvSpPr/>
          <p:nvPr/>
        </p:nvSpPr>
        <p:spPr>
          <a:xfrm>
            <a:off x="822960"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Registros</a:t>
            </a:r>
            <a:endParaRPr lang="en-US" sz="2200" dirty="0"/>
          </a:p>
        </p:txBody>
      </p:sp>
      <p:sp>
        <p:nvSpPr>
          <p:cNvPr id="9" name="Text 6"/>
          <p:cNvSpPr/>
          <p:nvPr/>
        </p:nvSpPr>
        <p:spPr>
          <a:xfrm>
            <a:off x="822960"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Incluidos; FF reales según la netlist. INT8: 96, INT16: 192 esperados.</a:t>
            </a:r>
            <a:endParaRPr lang="en-US" sz="1900" dirty="0"/>
          </a:p>
        </p:txBody>
      </p:sp>
      <p:sp>
        <p:nvSpPr>
          <p:cNvPr id="10" name="Shape 7"/>
          <p:cNvSpPr/>
          <p:nvPr/>
        </p:nvSpPr>
        <p:spPr>
          <a:xfrm>
            <a:off x="4352544" y="1975104"/>
            <a:ext cx="3575304" cy="3511296"/>
          </a:xfrm>
          <a:prstGeom prst="rect">
            <a:avLst/>
          </a:prstGeom>
          <a:solidFill>
            <a:srgbClr val="FFFFFF"/>
          </a:solidFill>
          <a:ln w="8255">
            <a:solidFill>
              <a:srgbClr val="D9E2E9"/>
            </a:solidFill>
            <a:prstDash val="solid"/>
          </a:ln>
        </p:spPr>
      </p:sp>
      <p:sp>
        <p:nvSpPr>
          <p:cNvPr id="11" name="Shape 8"/>
          <p:cNvSpPr/>
          <p:nvPr/>
        </p:nvSpPr>
        <p:spPr>
          <a:xfrm>
            <a:off x="4352544" y="1975104"/>
            <a:ext cx="50292" cy="3511296"/>
          </a:xfrm>
          <a:prstGeom prst="rect">
            <a:avLst/>
          </a:prstGeom>
          <a:solidFill>
            <a:srgbClr val="007C83"/>
          </a:solidFill>
          <a:ln w="8255">
            <a:solidFill>
              <a:srgbClr val="007C83"/>
            </a:solidFill>
            <a:prstDash val="solid"/>
          </a:ln>
        </p:spPr>
      </p:sp>
      <p:sp>
        <p:nvSpPr>
          <p:cNvPr id="12" name="Text 9"/>
          <p:cNvSpPr/>
          <p:nvPr/>
        </p:nvSpPr>
        <p:spPr>
          <a:xfrm>
            <a:off x="4553712"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ROM de corrección</a:t>
            </a:r>
            <a:endParaRPr lang="en-US" sz="2200" dirty="0"/>
          </a:p>
        </p:txBody>
      </p:sp>
      <p:sp>
        <p:nvSpPr>
          <p:cNvPr id="13" name="Text 10"/>
          <p:cNvSpPr/>
          <p:nvPr/>
        </p:nvSpPr>
        <p:spPr>
          <a:xfrm>
            <a:off x="4553712"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Se implementa como lógica combinacional, no como macro SRAM.</a:t>
            </a:r>
            <a:endParaRPr lang="en-US" sz="1900" dirty="0"/>
          </a:p>
        </p:txBody>
      </p:sp>
      <p:sp>
        <p:nvSpPr>
          <p:cNvPr id="14" name="Shape 11"/>
          <p:cNvSpPr/>
          <p:nvPr/>
        </p:nvSpPr>
        <p:spPr>
          <a:xfrm>
            <a:off x="8083296" y="1975104"/>
            <a:ext cx="3575304" cy="3511296"/>
          </a:xfrm>
          <a:prstGeom prst="rect">
            <a:avLst/>
          </a:prstGeom>
          <a:solidFill>
            <a:srgbClr val="FFFFFF"/>
          </a:solidFill>
          <a:ln w="8255">
            <a:solidFill>
              <a:srgbClr val="D9E2E9"/>
            </a:solidFill>
            <a:prstDash val="solid"/>
          </a:ln>
        </p:spPr>
      </p:sp>
      <p:sp>
        <p:nvSpPr>
          <p:cNvPr id="15" name="Shape 12"/>
          <p:cNvSpPr/>
          <p:nvPr/>
        </p:nvSpPr>
        <p:spPr>
          <a:xfrm>
            <a:off x="8083296" y="1975104"/>
            <a:ext cx="50292" cy="3511296"/>
          </a:xfrm>
          <a:prstGeom prst="rect">
            <a:avLst/>
          </a:prstGeom>
          <a:solidFill>
            <a:srgbClr val="B36A10"/>
          </a:solidFill>
          <a:ln w="8255">
            <a:solidFill>
              <a:srgbClr val="B36A10"/>
            </a:solidFill>
            <a:prstDash val="solid"/>
          </a:ln>
        </p:spPr>
      </p:sp>
      <p:sp>
        <p:nvSpPr>
          <p:cNvPr id="16" name="Text 13"/>
          <p:cNvSpPr/>
          <p:nvPr/>
        </p:nvSpPr>
        <p:spPr>
          <a:xfrm>
            <a:off x="8284464" y="2185416"/>
            <a:ext cx="3172968" cy="658368"/>
          </a:xfrm>
          <a:prstGeom prst="rect">
            <a:avLst/>
          </a:prstGeom>
          <a:noFill/>
          <a:ln/>
        </p:spPr>
        <p:txBody>
          <a:bodyPr wrap="square" lIns="0" tIns="0" rIns="0" bIns="0" rtlCol="0" anchor="t"/>
          <a:lstStyle/>
          <a:p>
            <a:pPr indent="0" marL="0">
              <a:buNone/>
            </a:pPr>
            <a:r>
              <a:rPr lang="en-US" sz="2200" b="1" dirty="0">
                <a:solidFill>
                  <a:srgbClr val="B36A10"/>
                </a:solidFill>
                <a:latin typeface="Arial" pitchFamily="34" charset="0"/>
                <a:ea typeface="Arial" pitchFamily="34" charset="-122"/>
                <a:cs typeface="Arial" pitchFamily="34" charset="-120"/>
              </a:rPr>
              <a:t>Control de salida</a:t>
            </a:r>
            <a:endParaRPr lang="en-US" sz="2200" dirty="0"/>
          </a:p>
        </p:txBody>
      </p:sp>
      <p:sp>
        <p:nvSpPr>
          <p:cNvPr id="17" name="Text 14"/>
          <p:cNvSpPr/>
          <p:nvPr/>
        </p:nvSpPr>
        <p:spPr>
          <a:xfrm>
            <a:off x="8284464"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Se rechazan memorias residuales, latches y macros inesperadas.</a:t>
            </a:r>
            <a:endParaRPr lang="en-US" sz="1900" dirty="0"/>
          </a:p>
        </p:txBody>
      </p:sp>
      <p:sp>
        <p:nvSpPr>
          <p:cNvPr id="18" name="Shape 15"/>
          <p:cNvSpPr/>
          <p:nvPr/>
        </p:nvSpPr>
        <p:spPr>
          <a:xfrm>
            <a:off x="585216" y="6492240"/>
            <a:ext cx="11009376" cy="0"/>
          </a:xfrm>
          <a:prstGeom prst="line">
            <a:avLst/>
          </a:prstGeom>
          <a:noFill/>
          <a:ln w="8890">
            <a:solidFill>
              <a:srgbClr val="D9E2E9"/>
            </a:solidFill>
            <a:prstDash val="solid"/>
            <a:headEnd type="none"/>
            <a:tailEnd type="none"/>
          </a:ln>
        </p:spPr>
      </p:sp>
      <p:sp>
        <p:nvSpPr>
          <p:cNvPr id="19" name="Text 16"/>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synthesis.py · memory_policy · summarize_netlist()</a:t>
            </a:r>
            <a:endParaRPr lang="en-US" sz="870" dirty="0"/>
          </a:p>
        </p:txBody>
      </p:sp>
      <p:sp>
        <p:nvSpPr>
          <p:cNvPr id="20" name="Text 17"/>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40 / 53</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ANEXO TÉCNICO</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Anexo D · Las API permiten seguir y auditar un experimento</a:t>
            </a:r>
            <a:endParaRPr lang="en-US" sz="2800" dirty="0"/>
          </a:p>
        </p:txBody>
      </p:sp>
      <p:sp>
        <p:nvSpPr>
          <p:cNvPr id="6" name="Shape 3"/>
          <p:cNvSpPr/>
          <p:nvPr/>
        </p:nvSpPr>
        <p:spPr>
          <a:xfrm>
            <a:off x="685800" y="1874520"/>
            <a:ext cx="6035040" cy="429768"/>
          </a:xfrm>
          <a:prstGeom prst="rect">
            <a:avLst/>
          </a:prstGeom>
          <a:solidFill>
            <a:srgbClr val="14293B"/>
          </a:solidFill>
          <a:ln w="8255">
            <a:solidFill>
              <a:srgbClr val="F5F6F8"/>
            </a:solidFill>
            <a:prstDash val="solid"/>
          </a:ln>
        </p:spPr>
      </p:sp>
      <p:sp>
        <p:nvSpPr>
          <p:cNvPr id="7" name="Text 4"/>
          <p:cNvSpPr/>
          <p:nvPr/>
        </p:nvSpPr>
        <p:spPr>
          <a:xfrm>
            <a:off x="777240" y="1938528"/>
            <a:ext cx="585216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Endpoint</a:t>
            </a:r>
            <a:endParaRPr lang="en-US" sz="1350" dirty="0"/>
          </a:p>
        </p:txBody>
      </p:sp>
      <p:sp>
        <p:nvSpPr>
          <p:cNvPr id="8" name="Shape 5"/>
          <p:cNvSpPr/>
          <p:nvPr/>
        </p:nvSpPr>
        <p:spPr>
          <a:xfrm>
            <a:off x="6720840" y="1874520"/>
            <a:ext cx="4251960" cy="429768"/>
          </a:xfrm>
          <a:prstGeom prst="rect">
            <a:avLst/>
          </a:prstGeom>
          <a:solidFill>
            <a:srgbClr val="14293B"/>
          </a:solidFill>
          <a:ln w="8255">
            <a:solidFill>
              <a:srgbClr val="F5F6F8"/>
            </a:solidFill>
            <a:prstDash val="solid"/>
          </a:ln>
        </p:spPr>
      </p:sp>
      <p:sp>
        <p:nvSpPr>
          <p:cNvPr id="9" name="Text 6"/>
          <p:cNvSpPr/>
          <p:nvPr/>
        </p:nvSpPr>
        <p:spPr>
          <a:xfrm>
            <a:off x="6812280" y="1938528"/>
            <a:ext cx="406908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Uso / condición</a:t>
            </a:r>
            <a:endParaRPr lang="en-US" sz="1350" dirty="0"/>
          </a:p>
        </p:txBody>
      </p:sp>
      <p:sp>
        <p:nvSpPr>
          <p:cNvPr id="10" name="Shape 7"/>
          <p:cNvSpPr/>
          <p:nvPr/>
        </p:nvSpPr>
        <p:spPr>
          <a:xfrm>
            <a:off x="685800" y="2304288"/>
            <a:ext cx="6035040" cy="329184"/>
          </a:xfrm>
          <a:prstGeom prst="rect">
            <a:avLst/>
          </a:prstGeom>
          <a:solidFill>
            <a:srgbClr val="FFFFFF"/>
          </a:solidFill>
          <a:ln w="8255">
            <a:solidFill>
              <a:srgbClr val="F5F6F8"/>
            </a:solidFill>
            <a:prstDash val="solid"/>
          </a:ln>
        </p:spPr>
      </p:sp>
      <p:sp>
        <p:nvSpPr>
          <p:cNvPr id="11" name="Text 8"/>
          <p:cNvSpPr/>
          <p:nvPr/>
        </p:nvSpPr>
        <p:spPr>
          <a:xfrm>
            <a:off x="777240" y="2368296"/>
            <a:ext cx="585216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GET /api/v1/catalog</a:t>
            </a:r>
            <a:endParaRPr lang="en-US" sz="1350" dirty="0"/>
          </a:p>
        </p:txBody>
      </p:sp>
      <p:sp>
        <p:nvSpPr>
          <p:cNvPr id="12" name="Shape 9"/>
          <p:cNvSpPr/>
          <p:nvPr/>
        </p:nvSpPr>
        <p:spPr>
          <a:xfrm>
            <a:off x="6720840" y="2304288"/>
            <a:ext cx="4251960" cy="329184"/>
          </a:xfrm>
          <a:prstGeom prst="rect">
            <a:avLst/>
          </a:prstGeom>
          <a:solidFill>
            <a:srgbClr val="FFFFFF"/>
          </a:solidFill>
          <a:ln w="8255">
            <a:solidFill>
              <a:srgbClr val="F5F6F8"/>
            </a:solidFill>
            <a:prstDash val="solid"/>
          </a:ln>
        </p:spPr>
      </p:sp>
      <p:sp>
        <p:nvSpPr>
          <p:cNvPr id="13" name="Text 10"/>
          <p:cNvSpPr/>
          <p:nvPr/>
        </p:nvSpPr>
        <p:spPr>
          <a:xfrm>
            <a:off x="6812280" y="2368296"/>
            <a:ext cx="406908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Perfiles y bibliotecas habilitadas</a:t>
            </a:r>
            <a:endParaRPr lang="en-US" sz="1350" dirty="0"/>
          </a:p>
        </p:txBody>
      </p:sp>
      <p:sp>
        <p:nvSpPr>
          <p:cNvPr id="14" name="Shape 11"/>
          <p:cNvSpPr/>
          <p:nvPr/>
        </p:nvSpPr>
        <p:spPr>
          <a:xfrm>
            <a:off x="685800" y="2633472"/>
            <a:ext cx="6035040" cy="329184"/>
          </a:xfrm>
          <a:prstGeom prst="rect">
            <a:avLst/>
          </a:prstGeom>
          <a:solidFill>
            <a:srgbClr val="EAF0F5"/>
          </a:solidFill>
          <a:ln w="8255">
            <a:solidFill>
              <a:srgbClr val="F5F6F8"/>
            </a:solidFill>
            <a:prstDash val="solid"/>
          </a:ln>
        </p:spPr>
      </p:sp>
      <p:sp>
        <p:nvSpPr>
          <p:cNvPr id="15" name="Text 12"/>
          <p:cNvSpPr/>
          <p:nvPr/>
        </p:nvSpPr>
        <p:spPr>
          <a:xfrm>
            <a:off x="777240" y="2697480"/>
            <a:ext cx="585216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POST /api/v1/experiments</a:t>
            </a:r>
            <a:endParaRPr lang="en-US" sz="1350" dirty="0"/>
          </a:p>
        </p:txBody>
      </p:sp>
      <p:sp>
        <p:nvSpPr>
          <p:cNvPr id="16" name="Shape 13"/>
          <p:cNvSpPr/>
          <p:nvPr/>
        </p:nvSpPr>
        <p:spPr>
          <a:xfrm>
            <a:off x="6720840" y="2633472"/>
            <a:ext cx="4251960" cy="329184"/>
          </a:xfrm>
          <a:prstGeom prst="rect">
            <a:avLst/>
          </a:prstGeom>
          <a:solidFill>
            <a:srgbClr val="EAF0F5"/>
          </a:solidFill>
          <a:ln w="8255">
            <a:solidFill>
              <a:srgbClr val="F5F6F8"/>
            </a:solidFill>
            <a:prstDash val="solid"/>
          </a:ln>
        </p:spPr>
      </p:sp>
      <p:sp>
        <p:nvSpPr>
          <p:cNvPr id="17" name="Text 14"/>
          <p:cNvSpPr/>
          <p:nvPr/>
        </p:nvSpPr>
        <p:spPr>
          <a:xfrm>
            <a:off x="6812280" y="2697480"/>
            <a:ext cx="406908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Crea UUID; devuelve 202</a:t>
            </a:r>
            <a:endParaRPr lang="en-US" sz="1350" dirty="0"/>
          </a:p>
        </p:txBody>
      </p:sp>
      <p:sp>
        <p:nvSpPr>
          <p:cNvPr id="18" name="Shape 15"/>
          <p:cNvSpPr/>
          <p:nvPr/>
        </p:nvSpPr>
        <p:spPr>
          <a:xfrm>
            <a:off x="685800" y="2962656"/>
            <a:ext cx="6035040" cy="329184"/>
          </a:xfrm>
          <a:prstGeom prst="rect">
            <a:avLst/>
          </a:prstGeom>
          <a:solidFill>
            <a:srgbClr val="FFFFFF"/>
          </a:solidFill>
          <a:ln w="8255">
            <a:solidFill>
              <a:srgbClr val="F5F6F8"/>
            </a:solidFill>
            <a:prstDash val="solid"/>
          </a:ln>
        </p:spPr>
      </p:sp>
      <p:sp>
        <p:nvSpPr>
          <p:cNvPr id="19" name="Text 16"/>
          <p:cNvSpPr/>
          <p:nvPr/>
        </p:nvSpPr>
        <p:spPr>
          <a:xfrm>
            <a:off x="777240" y="3026664"/>
            <a:ext cx="585216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GET /api/v1/experiments/{id}</a:t>
            </a:r>
            <a:endParaRPr lang="en-US" sz="1350" dirty="0"/>
          </a:p>
        </p:txBody>
      </p:sp>
      <p:sp>
        <p:nvSpPr>
          <p:cNvPr id="20" name="Shape 17"/>
          <p:cNvSpPr/>
          <p:nvPr/>
        </p:nvSpPr>
        <p:spPr>
          <a:xfrm>
            <a:off x="6720840" y="2962656"/>
            <a:ext cx="4251960" cy="329184"/>
          </a:xfrm>
          <a:prstGeom prst="rect">
            <a:avLst/>
          </a:prstGeom>
          <a:solidFill>
            <a:srgbClr val="FFFFFF"/>
          </a:solidFill>
          <a:ln w="8255">
            <a:solidFill>
              <a:srgbClr val="F5F6F8"/>
            </a:solidFill>
            <a:prstDash val="solid"/>
          </a:ln>
        </p:spPr>
      </p:sp>
      <p:sp>
        <p:nvSpPr>
          <p:cNvPr id="21" name="Text 18"/>
          <p:cNvSpPr/>
          <p:nvPr/>
        </p:nvSpPr>
        <p:spPr>
          <a:xfrm>
            <a:off x="6812280" y="3026664"/>
            <a:ext cx="406908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Estado y reporte del caso</a:t>
            </a:r>
            <a:endParaRPr lang="en-US" sz="1350" dirty="0"/>
          </a:p>
        </p:txBody>
      </p:sp>
      <p:sp>
        <p:nvSpPr>
          <p:cNvPr id="22" name="Shape 19"/>
          <p:cNvSpPr/>
          <p:nvPr/>
        </p:nvSpPr>
        <p:spPr>
          <a:xfrm>
            <a:off x="685800" y="3291840"/>
            <a:ext cx="6035040" cy="329184"/>
          </a:xfrm>
          <a:prstGeom prst="rect">
            <a:avLst/>
          </a:prstGeom>
          <a:solidFill>
            <a:srgbClr val="EAF0F5"/>
          </a:solidFill>
          <a:ln w="8255">
            <a:solidFill>
              <a:srgbClr val="F5F6F8"/>
            </a:solidFill>
            <a:prstDash val="solid"/>
          </a:ln>
        </p:spPr>
      </p:sp>
      <p:sp>
        <p:nvSpPr>
          <p:cNvPr id="23" name="Text 20"/>
          <p:cNvSpPr/>
          <p:nvPr/>
        </p:nvSpPr>
        <p:spPr>
          <a:xfrm>
            <a:off x="777240" y="3355848"/>
            <a:ext cx="585216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GET /api/v1/experiments/{id}/logs</a:t>
            </a:r>
            <a:endParaRPr lang="en-US" sz="1350" dirty="0"/>
          </a:p>
        </p:txBody>
      </p:sp>
      <p:sp>
        <p:nvSpPr>
          <p:cNvPr id="24" name="Shape 21"/>
          <p:cNvSpPr/>
          <p:nvPr/>
        </p:nvSpPr>
        <p:spPr>
          <a:xfrm>
            <a:off x="6720840" y="3291840"/>
            <a:ext cx="4251960" cy="329184"/>
          </a:xfrm>
          <a:prstGeom prst="rect">
            <a:avLst/>
          </a:prstGeom>
          <a:solidFill>
            <a:srgbClr val="EAF0F5"/>
          </a:solidFill>
          <a:ln w="8255">
            <a:solidFill>
              <a:srgbClr val="F5F6F8"/>
            </a:solidFill>
            <a:prstDash val="solid"/>
          </a:ln>
        </p:spPr>
      </p:sp>
      <p:sp>
        <p:nvSpPr>
          <p:cNvPr id="25" name="Text 22"/>
          <p:cNvSpPr/>
          <p:nvPr/>
        </p:nvSpPr>
        <p:spPr>
          <a:xfrm>
            <a:off x="6812280" y="3355848"/>
            <a:ext cx="406908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Cola del log; hasta 100 KB</a:t>
            </a:r>
            <a:endParaRPr lang="en-US" sz="1350" dirty="0"/>
          </a:p>
        </p:txBody>
      </p:sp>
      <p:sp>
        <p:nvSpPr>
          <p:cNvPr id="26" name="Shape 23"/>
          <p:cNvSpPr/>
          <p:nvPr/>
        </p:nvSpPr>
        <p:spPr>
          <a:xfrm>
            <a:off x="685800" y="3621024"/>
            <a:ext cx="6035040" cy="329184"/>
          </a:xfrm>
          <a:prstGeom prst="rect">
            <a:avLst/>
          </a:prstGeom>
          <a:solidFill>
            <a:srgbClr val="FFFFFF"/>
          </a:solidFill>
          <a:ln w="8255">
            <a:solidFill>
              <a:srgbClr val="F5F6F8"/>
            </a:solidFill>
            <a:prstDash val="solid"/>
          </a:ln>
        </p:spPr>
      </p:sp>
      <p:sp>
        <p:nvSpPr>
          <p:cNvPr id="27" name="Text 24"/>
          <p:cNvSpPr/>
          <p:nvPr/>
        </p:nvSpPr>
        <p:spPr>
          <a:xfrm>
            <a:off x="777240" y="3685032"/>
            <a:ext cx="585216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GET /api/v1/experiments/{id}/artifacts</a:t>
            </a:r>
            <a:endParaRPr lang="en-US" sz="1350" dirty="0"/>
          </a:p>
        </p:txBody>
      </p:sp>
      <p:sp>
        <p:nvSpPr>
          <p:cNvPr id="28" name="Shape 25"/>
          <p:cNvSpPr/>
          <p:nvPr/>
        </p:nvSpPr>
        <p:spPr>
          <a:xfrm>
            <a:off x="6720840" y="3621024"/>
            <a:ext cx="4251960" cy="329184"/>
          </a:xfrm>
          <a:prstGeom prst="rect">
            <a:avLst/>
          </a:prstGeom>
          <a:solidFill>
            <a:srgbClr val="FFFFFF"/>
          </a:solidFill>
          <a:ln w="8255">
            <a:solidFill>
              <a:srgbClr val="F5F6F8"/>
            </a:solidFill>
            <a:prstDash val="solid"/>
          </a:ln>
        </p:spPr>
      </p:sp>
      <p:sp>
        <p:nvSpPr>
          <p:cNvPr id="29" name="Text 26"/>
          <p:cNvSpPr/>
          <p:nvPr/>
        </p:nvSpPr>
        <p:spPr>
          <a:xfrm>
            <a:off x="6812280" y="3685032"/>
            <a:ext cx="406908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ZIP; disponible al terminar o fallar</a:t>
            </a:r>
            <a:endParaRPr lang="en-US" sz="1350" dirty="0"/>
          </a:p>
        </p:txBody>
      </p:sp>
      <p:sp>
        <p:nvSpPr>
          <p:cNvPr id="30" name="Shape 27"/>
          <p:cNvSpPr/>
          <p:nvPr/>
        </p:nvSpPr>
        <p:spPr>
          <a:xfrm>
            <a:off x="685800" y="3950208"/>
            <a:ext cx="6035040" cy="329184"/>
          </a:xfrm>
          <a:prstGeom prst="rect">
            <a:avLst/>
          </a:prstGeom>
          <a:solidFill>
            <a:srgbClr val="EAF0F5"/>
          </a:solidFill>
          <a:ln w="8255">
            <a:solidFill>
              <a:srgbClr val="F5F6F8"/>
            </a:solidFill>
            <a:prstDash val="solid"/>
          </a:ln>
        </p:spPr>
      </p:sp>
      <p:sp>
        <p:nvSpPr>
          <p:cNvPr id="31" name="Text 28"/>
          <p:cNvSpPr/>
          <p:nvPr/>
        </p:nvSpPr>
        <p:spPr>
          <a:xfrm>
            <a:off x="777240" y="4014216"/>
            <a:ext cx="585216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GET /api/v1/experiments/{id}/report.csv</a:t>
            </a:r>
            <a:endParaRPr lang="en-US" sz="1350" dirty="0"/>
          </a:p>
        </p:txBody>
      </p:sp>
      <p:sp>
        <p:nvSpPr>
          <p:cNvPr id="32" name="Shape 29"/>
          <p:cNvSpPr/>
          <p:nvPr/>
        </p:nvSpPr>
        <p:spPr>
          <a:xfrm>
            <a:off x="6720840" y="3950208"/>
            <a:ext cx="4251960" cy="329184"/>
          </a:xfrm>
          <a:prstGeom prst="rect">
            <a:avLst/>
          </a:prstGeom>
          <a:solidFill>
            <a:srgbClr val="EAF0F5"/>
          </a:solidFill>
          <a:ln w="8255">
            <a:solidFill>
              <a:srgbClr val="F5F6F8"/>
            </a:solidFill>
            <a:prstDash val="solid"/>
          </a:ln>
        </p:spPr>
      </p:sp>
      <p:sp>
        <p:nvSpPr>
          <p:cNvPr id="33" name="Text 30"/>
          <p:cNvSpPr/>
          <p:nvPr/>
        </p:nvSpPr>
        <p:spPr>
          <a:xfrm>
            <a:off x="6812280" y="4014216"/>
            <a:ext cx="406908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Desglose por celda; exige succeeded</a:t>
            </a:r>
            <a:endParaRPr lang="en-US" sz="1350" dirty="0"/>
          </a:p>
        </p:txBody>
      </p:sp>
      <p:sp>
        <p:nvSpPr>
          <p:cNvPr id="34" name="Shape 31"/>
          <p:cNvSpPr/>
          <p:nvPr/>
        </p:nvSpPr>
        <p:spPr>
          <a:xfrm>
            <a:off x="685800" y="4279392"/>
            <a:ext cx="6035040" cy="329184"/>
          </a:xfrm>
          <a:prstGeom prst="rect">
            <a:avLst/>
          </a:prstGeom>
          <a:solidFill>
            <a:srgbClr val="FFFFFF"/>
          </a:solidFill>
          <a:ln w="8255">
            <a:solidFill>
              <a:srgbClr val="F5F6F8"/>
            </a:solidFill>
            <a:prstDash val="solid"/>
          </a:ln>
        </p:spPr>
      </p:sp>
      <p:sp>
        <p:nvSpPr>
          <p:cNvPr id="35" name="Text 32"/>
          <p:cNvSpPr/>
          <p:nvPr/>
        </p:nvSpPr>
        <p:spPr>
          <a:xfrm>
            <a:off x="777240" y="4343400"/>
            <a:ext cx="585216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GET /api/health</a:t>
            </a:r>
            <a:endParaRPr lang="en-US" sz="1350" dirty="0"/>
          </a:p>
        </p:txBody>
      </p:sp>
      <p:sp>
        <p:nvSpPr>
          <p:cNvPr id="36" name="Shape 33"/>
          <p:cNvSpPr/>
          <p:nvPr/>
        </p:nvSpPr>
        <p:spPr>
          <a:xfrm>
            <a:off x="6720840" y="4279392"/>
            <a:ext cx="4251960" cy="329184"/>
          </a:xfrm>
          <a:prstGeom prst="rect">
            <a:avLst/>
          </a:prstGeom>
          <a:solidFill>
            <a:srgbClr val="FFFFFF"/>
          </a:solidFill>
          <a:ln w="8255">
            <a:solidFill>
              <a:srgbClr val="F5F6F8"/>
            </a:solidFill>
            <a:prstDash val="solid"/>
          </a:ln>
        </p:spPr>
      </p:sp>
      <p:sp>
        <p:nvSpPr>
          <p:cNvPr id="37" name="Text 34"/>
          <p:cNvSpPr/>
          <p:nvPr/>
        </p:nvSpPr>
        <p:spPr>
          <a:xfrm>
            <a:off x="6812280" y="4343400"/>
            <a:ext cx="406908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Salud HTTP, no validez de área</a:t>
            </a:r>
            <a:endParaRPr lang="en-US" sz="1350" dirty="0"/>
          </a:p>
        </p:txBody>
      </p:sp>
      <p:sp>
        <p:nvSpPr>
          <p:cNvPr id="38" name="Shape 35"/>
          <p:cNvSpPr/>
          <p:nvPr/>
        </p:nvSpPr>
        <p:spPr>
          <a:xfrm>
            <a:off x="585216" y="6492240"/>
            <a:ext cx="11009376" cy="0"/>
          </a:xfrm>
          <a:prstGeom prst="line">
            <a:avLst/>
          </a:prstGeom>
          <a:noFill/>
          <a:ln w="8890">
            <a:solidFill>
              <a:srgbClr val="D9E2E9"/>
            </a:solidFill>
            <a:prstDash val="solid"/>
            <a:headEnd type="none"/>
            <a:tailEnd type="none"/>
          </a:ln>
        </p:spPr>
      </p:sp>
      <p:sp>
        <p:nvSpPr>
          <p:cNvPr id="39" name="Text 36"/>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api/routes.py · main.py</a:t>
            </a:r>
            <a:endParaRPr lang="en-US" sz="870" dirty="0"/>
          </a:p>
        </p:txBody>
      </p:sp>
      <p:sp>
        <p:nvSpPr>
          <p:cNvPr id="40" name="Text 37"/>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41 / 53</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ANEXO TÉCNICO</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Anexo E · Tabla trazable de áreas documentadas</a:t>
            </a:r>
            <a:endParaRPr lang="en-US" sz="2800" dirty="0"/>
          </a:p>
        </p:txBody>
      </p:sp>
      <p:sp>
        <p:nvSpPr>
          <p:cNvPr id="6" name="Shape 3"/>
          <p:cNvSpPr/>
          <p:nvPr/>
        </p:nvSpPr>
        <p:spPr>
          <a:xfrm>
            <a:off x="685800" y="1874520"/>
            <a:ext cx="2057400" cy="429768"/>
          </a:xfrm>
          <a:prstGeom prst="rect">
            <a:avLst/>
          </a:prstGeom>
          <a:solidFill>
            <a:srgbClr val="14293B"/>
          </a:solidFill>
          <a:ln w="8255">
            <a:solidFill>
              <a:srgbClr val="F5F6F8"/>
            </a:solidFill>
            <a:prstDash val="solid"/>
          </a:ln>
        </p:spPr>
      </p:sp>
      <p:sp>
        <p:nvSpPr>
          <p:cNvPr id="7" name="Text 4"/>
          <p:cNvSpPr/>
          <p:nvPr/>
        </p:nvSpPr>
        <p:spPr>
          <a:xfrm>
            <a:off x="777240" y="1938528"/>
            <a:ext cx="187452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DPU</a:t>
            </a:r>
            <a:endParaRPr lang="en-US" sz="1350" dirty="0"/>
          </a:p>
        </p:txBody>
      </p:sp>
      <p:sp>
        <p:nvSpPr>
          <p:cNvPr id="8" name="Shape 5"/>
          <p:cNvSpPr/>
          <p:nvPr/>
        </p:nvSpPr>
        <p:spPr>
          <a:xfrm>
            <a:off x="2743200" y="1874520"/>
            <a:ext cx="2743200" cy="429768"/>
          </a:xfrm>
          <a:prstGeom prst="rect">
            <a:avLst/>
          </a:prstGeom>
          <a:solidFill>
            <a:srgbClr val="14293B"/>
          </a:solidFill>
          <a:ln w="8255">
            <a:solidFill>
              <a:srgbClr val="F5F6F8"/>
            </a:solidFill>
            <a:prstDash val="solid"/>
          </a:ln>
        </p:spPr>
      </p:sp>
      <p:sp>
        <p:nvSpPr>
          <p:cNvPr id="9" name="Text 6"/>
          <p:cNvSpPr/>
          <p:nvPr/>
        </p:nvSpPr>
        <p:spPr>
          <a:xfrm>
            <a:off x="2834640" y="1938528"/>
            <a:ext cx="256032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IHP130 · µm²</a:t>
            </a:r>
            <a:endParaRPr lang="en-US" sz="1350" dirty="0"/>
          </a:p>
        </p:txBody>
      </p:sp>
      <p:sp>
        <p:nvSpPr>
          <p:cNvPr id="10" name="Shape 7"/>
          <p:cNvSpPr/>
          <p:nvPr/>
        </p:nvSpPr>
        <p:spPr>
          <a:xfrm>
            <a:off x="5486400" y="1874520"/>
            <a:ext cx="2743200" cy="429768"/>
          </a:xfrm>
          <a:prstGeom prst="rect">
            <a:avLst/>
          </a:prstGeom>
          <a:solidFill>
            <a:srgbClr val="14293B"/>
          </a:solidFill>
          <a:ln w="8255">
            <a:solidFill>
              <a:srgbClr val="F5F6F8"/>
            </a:solidFill>
            <a:prstDash val="solid"/>
          </a:ln>
        </p:spPr>
      </p:sp>
      <p:sp>
        <p:nvSpPr>
          <p:cNvPr id="11" name="Text 8"/>
          <p:cNvSpPr/>
          <p:nvPr/>
        </p:nvSpPr>
        <p:spPr>
          <a:xfrm>
            <a:off x="5577840" y="1938528"/>
            <a:ext cx="256032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Nangate45 · µm²</a:t>
            </a:r>
            <a:endParaRPr lang="en-US" sz="1350" dirty="0"/>
          </a:p>
        </p:txBody>
      </p:sp>
      <p:sp>
        <p:nvSpPr>
          <p:cNvPr id="12" name="Shape 9"/>
          <p:cNvSpPr/>
          <p:nvPr/>
        </p:nvSpPr>
        <p:spPr>
          <a:xfrm>
            <a:off x="8229600" y="1874520"/>
            <a:ext cx="2743200" cy="429768"/>
          </a:xfrm>
          <a:prstGeom prst="rect">
            <a:avLst/>
          </a:prstGeom>
          <a:solidFill>
            <a:srgbClr val="14293B"/>
          </a:solidFill>
          <a:ln w="8255">
            <a:solidFill>
              <a:srgbClr val="F5F6F8"/>
            </a:solidFill>
            <a:prstDash val="solid"/>
          </a:ln>
        </p:spPr>
      </p:sp>
      <p:sp>
        <p:nvSpPr>
          <p:cNvPr id="13" name="Text 10"/>
          <p:cNvSpPr/>
          <p:nvPr/>
        </p:nvSpPr>
        <p:spPr>
          <a:xfrm>
            <a:off x="8321040" y="1938528"/>
            <a:ext cx="256032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Nangate15 · µm²</a:t>
            </a:r>
            <a:endParaRPr lang="en-US" sz="1350" dirty="0"/>
          </a:p>
        </p:txBody>
      </p:sp>
      <p:sp>
        <p:nvSpPr>
          <p:cNvPr id="14" name="Shape 11"/>
          <p:cNvSpPr/>
          <p:nvPr/>
        </p:nvSpPr>
        <p:spPr>
          <a:xfrm>
            <a:off x="685800" y="2304288"/>
            <a:ext cx="2057400" cy="329184"/>
          </a:xfrm>
          <a:prstGeom prst="rect">
            <a:avLst/>
          </a:prstGeom>
          <a:solidFill>
            <a:srgbClr val="FFFFFF"/>
          </a:solidFill>
          <a:ln w="8255">
            <a:solidFill>
              <a:srgbClr val="F5F6F8"/>
            </a:solidFill>
            <a:prstDash val="solid"/>
          </a:ln>
        </p:spPr>
      </p:sp>
      <p:sp>
        <p:nvSpPr>
          <p:cNvPr id="15" name="Text 12"/>
          <p:cNvSpPr/>
          <p:nvPr/>
        </p:nvSpPr>
        <p:spPr>
          <a:xfrm>
            <a:off x="777240" y="2368296"/>
            <a:ext cx="18745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int8_16</a:t>
            </a:r>
            <a:endParaRPr lang="en-US" sz="1350" dirty="0"/>
          </a:p>
        </p:txBody>
      </p:sp>
      <p:sp>
        <p:nvSpPr>
          <p:cNvPr id="16" name="Shape 13"/>
          <p:cNvSpPr/>
          <p:nvPr/>
        </p:nvSpPr>
        <p:spPr>
          <a:xfrm>
            <a:off x="2743200" y="2304288"/>
            <a:ext cx="2743200" cy="329184"/>
          </a:xfrm>
          <a:prstGeom prst="rect">
            <a:avLst/>
          </a:prstGeom>
          <a:solidFill>
            <a:srgbClr val="FFFFFF"/>
          </a:solidFill>
          <a:ln w="8255">
            <a:solidFill>
              <a:srgbClr val="F5F6F8"/>
            </a:solidFill>
            <a:prstDash val="solid"/>
          </a:ln>
        </p:spPr>
      </p:sp>
      <p:sp>
        <p:nvSpPr>
          <p:cNvPr id="17" name="Text 14"/>
          <p:cNvSpPr/>
          <p:nvPr/>
        </p:nvSpPr>
        <p:spPr>
          <a:xfrm>
            <a:off x="2834640" y="2368296"/>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68,143.836600</a:t>
            </a:r>
            <a:endParaRPr lang="en-US" sz="1350" dirty="0"/>
          </a:p>
        </p:txBody>
      </p:sp>
      <p:sp>
        <p:nvSpPr>
          <p:cNvPr id="18" name="Shape 15"/>
          <p:cNvSpPr/>
          <p:nvPr/>
        </p:nvSpPr>
        <p:spPr>
          <a:xfrm>
            <a:off x="5486400" y="2304288"/>
            <a:ext cx="2743200" cy="329184"/>
          </a:xfrm>
          <a:prstGeom prst="rect">
            <a:avLst/>
          </a:prstGeom>
          <a:solidFill>
            <a:srgbClr val="FFFFFF"/>
          </a:solidFill>
          <a:ln w="8255">
            <a:solidFill>
              <a:srgbClr val="F5F6F8"/>
            </a:solidFill>
            <a:prstDash val="solid"/>
          </a:ln>
        </p:spPr>
      </p:sp>
      <p:sp>
        <p:nvSpPr>
          <p:cNvPr id="19" name="Text 16"/>
          <p:cNvSpPr/>
          <p:nvPr/>
        </p:nvSpPr>
        <p:spPr>
          <a:xfrm>
            <a:off x="5577840" y="2368296"/>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7,578.872000</a:t>
            </a:r>
            <a:endParaRPr lang="en-US" sz="1350" dirty="0"/>
          </a:p>
        </p:txBody>
      </p:sp>
      <p:sp>
        <p:nvSpPr>
          <p:cNvPr id="20" name="Shape 17"/>
          <p:cNvSpPr/>
          <p:nvPr/>
        </p:nvSpPr>
        <p:spPr>
          <a:xfrm>
            <a:off x="8229600" y="2304288"/>
            <a:ext cx="2743200" cy="329184"/>
          </a:xfrm>
          <a:prstGeom prst="rect">
            <a:avLst/>
          </a:prstGeom>
          <a:solidFill>
            <a:srgbClr val="FFFFFF"/>
          </a:solidFill>
          <a:ln w="8255">
            <a:solidFill>
              <a:srgbClr val="F5F6F8"/>
            </a:solidFill>
            <a:prstDash val="solid"/>
          </a:ln>
        </p:spPr>
      </p:sp>
      <p:sp>
        <p:nvSpPr>
          <p:cNvPr id="21" name="Text 18"/>
          <p:cNvSpPr/>
          <p:nvPr/>
        </p:nvSpPr>
        <p:spPr>
          <a:xfrm>
            <a:off x="8321040" y="2368296"/>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896.139264</a:t>
            </a:r>
            <a:endParaRPr lang="en-US" sz="1350" dirty="0"/>
          </a:p>
        </p:txBody>
      </p:sp>
      <p:sp>
        <p:nvSpPr>
          <p:cNvPr id="22" name="Shape 19"/>
          <p:cNvSpPr/>
          <p:nvPr/>
        </p:nvSpPr>
        <p:spPr>
          <a:xfrm>
            <a:off x="685800" y="2633472"/>
            <a:ext cx="2057400" cy="329184"/>
          </a:xfrm>
          <a:prstGeom prst="rect">
            <a:avLst/>
          </a:prstGeom>
          <a:solidFill>
            <a:srgbClr val="EAF0F5"/>
          </a:solidFill>
          <a:ln w="8255">
            <a:solidFill>
              <a:srgbClr val="F5F6F8"/>
            </a:solidFill>
            <a:prstDash val="solid"/>
          </a:ln>
        </p:spPr>
      </p:sp>
      <p:sp>
        <p:nvSpPr>
          <p:cNvPr id="23" name="Text 20"/>
          <p:cNvSpPr/>
          <p:nvPr/>
        </p:nvSpPr>
        <p:spPr>
          <a:xfrm>
            <a:off x="777240" y="2697480"/>
            <a:ext cx="18745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int16_32</a:t>
            </a:r>
            <a:endParaRPr lang="en-US" sz="1350" dirty="0"/>
          </a:p>
        </p:txBody>
      </p:sp>
      <p:sp>
        <p:nvSpPr>
          <p:cNvPr id="24" name="Shape 21"/>
          <p:cNvSpPr/>
          <p:nvPr/>
        </p:nvSpPr>
        <p:spPr>
          <a:xfrm>
            <a:off x="2743200" y="2633472"/>
            <a:ext cx="2743200" cy="329184"/>
          </a:xfrm>
          <a:prstGeom prst="rect">
            <a:avLst/>
          </a:prstGeom>
          <a:solidFill>
            <a:srgbClr val="EAF0F5"/>
          </a:solidFill>
          <a:ln w="8255">
            <a:solidFill>
              <a:srgbClr val="F5F6F8"/>
            </a:solidFill>
            <a:prstDash val="solid"/>
          </a:ln>
        </p:spPr>
      </p:sp>
      <p:sp>
        <p:nvSpPr>
          <p:cNvPr id="25" name="Text 22"/>
          <p:cNvSpPr/>
          <p:nvPr/>
        </p:nvSpPr>
        <p:spPr>
          <a:xfrm>
            <a:off x="2834640" y="2697480"/>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86,031.514800</a:t>
            </a:r>
            <a:endParaRPr lang="en-US" sz="1350" dirty="0"/>
          </a:p>
        </p:txBody>
      </p:sp>
      <p:sp>
        <p:nvSpPr>
          <p:cNvPr id="26" name="Shape 23"/>
          <p:cNvSpPr/>
          <p:nvPr/>
        </p:nvSpPr>
        <p:spPr>
          <a:xfrm>
            <a:off x="5486400" y="2633472"/>
            <a:ext cx="2743200" cy="329184"/>
          </a:xfrm>
          <a:prstGeom prst="rect">
            <a:avLst/>
          </a:prstGeom>
          <a:solidFill>
            <a:srgbClr val="EAF0F5"/>
          </a:solidFill>
          <a:ln w="8255">
            <a:solidFill>
              <a:srgbClr val="F5F6F8"/>
            </a:solidFill>
            <a:prstDash val="solid"/>
          </a:ln>
        </p:spPr>
      </p:sp>
      <p:sp>
        <p:nvSpPr>
          <p:cNvPr id="27" name="Text 24"/>
          <p:cNvSpPr/>
          <p:nvPr/>
        </p:nvSpPr>
        <p:spPr>
          <a:xfrm>
            <a:off x="5577840" y="2697480"/>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9,550.996000</a:t>
            </a:r>
            <a:endParaRPr lang="en-US" sz="1350" dirty="0"/>
          </a:p>
        </p:txBody>
      </p:sp>
      <p:sp>
        <p:nvSpPr>
          <p:cNvPr id="28" name="Shape 25"/>
          <p:cNvSpPr/>
          <p:nvPr/>
        </p:nvSpPr>
        <p:spPr>
          <a:xfrm>
            <a:off x="8229600" y="2633472"/>
            <a:ext cx="2743200" cy="329184"/>
          </a:xfrm>
          <a:prstGeom prst="rect">
            <a:avLst/>
          </a:prstGeom>
          <a:solidFill>
            <a:srgbClr val="EAF0F5"/>
          </a:solidFill>
          <a:ln w="8255">
            <a:solidFill>
              <a:srgbClr val="F5F6F8"/>
            </a:solidFill>
            <a:prstDash val="solid"/>
          </a:ln>
        </p:spPr>
      </p:sp>
      <p:sp>
        <p:nvSpPr>
          <p:cNvPr id="29" name="Text 26"/>
          <p:cNvSpPr/>
          <p:nvPr/>
        </p:nvSpPr>
        <p:spPr>
          <a:xfrm>
            <a:off x="8321040" y="2697480"/>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2,594.979840</a:t>
            </a:r>
            <a:endParaRPr lang="en-US" sz="1350" dirty="0"/>
          </a:p>
        </p:txBody>
      </p:sp>
      <p:sp>
        <p:nvSpPr>
          <p:cNvPr id="30" name="Shape 27"/>
          <p:cNvSpPr/>
          <p:nvPr/>
        </p:nvSpPr>
        <p:spPr>
          <a:xfrm>
            <a:off x="685800" y="2962656"/>
            <a:ext cx="2057400" cy="329184"/>
          </a:xfrm>
          <a:prstGeom prst="rect">
            <a:avLst/>
          </a:prstGeom>
          <a:solidFill>
            <a:srgbClr val="FFFFFF"/>
          </a:solidFill>
          <a:ln w="8255">
            <a:solidFill>
              <a:srgbClr val="F5F6F8"/>
            </a:solidFill>
            <a:prstDash val="solid"/>
          </a:ln>
        </p:spPr>
      </p:sp>
      <p:sp>
        <p:nvSpPr>
          <p:cNvPr id="31" name="Text 28"/>
          <p:cNvSpPr/>
          <p:nvPr/>
        </p:nvSpPr>
        <p:spPr>
          <a:xfrm>
            <a:off x="777240" y="3026664"/>
            <a:ext cx="18745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fxp8_16</a:t>
            </a:r>
            <a:endParaRPr lang="en-US" sz="1350" dirty="0"/>
          </a:p>
        </p:txBody>
      </p:sp>
      <p:sp>
        <p:nvSpPr>
          <p:cNvPr id="32" name="Shape 29"/>
          <p:cNvSpPr/>
          <p:nvPr/>
        </p:nvSpPr>
        <p:spPr>
          <a:xfrm>
            <a:off x="2743200" y="2962656"/>
            <a:ext cx="2743200" cy="329184"/>
          </a:xfrm>
          <a:prstGeom prst="rect">
            <a:avLst/>
          </a:prstGeom>
          <a:solidFill>
            <a:srgbClr val="FFFFFF"/>
          </a:solidFill>
          <a:ln w="8255">
            <a:solidFill>
              <a:srgbClr val="F5F6F8"/>
            </a:solidFill>
            <a:prstDash val="solid"/>
          </a:ln>
        </p:spPr>
      </p:sp>
      <p:sp>
        <p:nvSpPr>
          <p:cNvPr id="33" name="Text 30"/>
          <p:cNvSpPr/>
          <p:nvPr/>
        </p:nvSpPr>
        <p:spPr>
          <a:xfrm>
            <a:off x="2834640" y="3026664"/>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67,321.913400</a:t>
            </a:r>
            <a:endParaRPr lang="en-US" sz="1350" dirty="0"/>
          </a:p>
        </p:txBody>
      </p:sp>
      <p:sp>
        <p:nvSpPr>
          <p:cNvPr id="34" name="Shape 31"/>
          <p:cNvSpPr/>
          <p:nvPr/>
        </p:nvSpPr>
        <p:spPr>
          <a:xfrm>
            <a:off x="5486400" y="2962656"/>
            <a:ext cx="2743200" cy="329184"/>
          </a:xfrm>
          <a:prstGeom prst="rect">
            <a:avLst/>
          </a:prstGeom>
          <a:solidFill>
            <a:srgbClr val="FFFFFF"/>
          </a:solidFill>
          <a:ln w="8255">
            <a:solidFill>
              <a:srgbClr val="F5F6F8"/>
            </a:solidFill>
            <a:prstDash val="solid"/>
          </a:ln>
        </p:spPr>
      </p:sp>
      <p:sp>
        <p:nvSpPr>
          <p:cNvPr id="35" name="Text 32"/>
          <p:cNvSpPr/>
          <p:nvPr/>
        </p:nvSpPr>
        <p:spPr>
          <a:xfrm>
            <a:off x="5577840" y="3026664"/>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7,819.070000</a:t>
            </a:r>
            <a:endParaRPr lang="en-US" sz="1350" dirty="0"/>
          </a:p>
        </p:txBody>
      </p:sp>
      <p:sp>
        <p:nvSpPr>
          <p:cNvPr id="36" name="Shape 33"/>
          <p:cNvSpPr/>
          <p:nvPr/>
        </p:nvSpPr>
        <p:spPr>
          <a:xfrm>
            <a:off x="8229600" y="2962656"/>
            <a:ext cx="2743200" cy="329184"/>
          </a:xfrm>
          <a:prstGeom prst="rect">
            <a:avLst/>
          </a:prstGeom>
          <a:solidFill>
            <a:srgbClr val="FFFFFF"/>
          </a:solidFill>
          <a:ln w="8255">
            <a:solidFill>
              <a:srgbClr val="F5F6F8"/>
            </a:solidFill>
            <a:prstDash val="solid"/>
          </a:ln>
        </p:spPr>
      </p:sp>
      <p:sp>
        <p:nvSpPr>
          <p:cNvPr id="37" name="Text 34"/>
          <p:cNvSpPr/>
          <p:nvPr/>
        </p:nvSpPr>
        <p:spPr>
          <a:xfrm>
            <a:off x="8321040" y="3026664"/>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954.531840</a:t>
            </a:r>
            <a:endParaRPr lang="en-US" sz="1350" dirty="0"/>
          </a:p>
        </p:txBody>
      </p:sp>
      <p:sp>
        <p:nvSpPr>
          <p:cNvPr id="38" name="Shape 35"/>
          <p:cNvSpPr/>
          <p:nvPr/>
        </p:nvSpPr>
        <p:spPr>
          <a:xfrm>
            <a:off x="685800" y="3291840"/>
            <a:ext cx="2057400" cy="329184"/>
          </a:xfrm>
          <a:prstGeom prst="rect">
            <a:avLst/>
          </a:prstGeom>
          <a:solidFill>
            <a:srgbClr val="EAF0F5"/>
          </a:solidFill>
          <a:ln w="8255">
            <a:solidFill>
              <a:srgbClr val="F5F6F8"/>
            </a:solidFill>
            <a:prstDash val="solid"/>
          </a:ln>
        </p:spPr>
      </p:sp>
      <p:sp>
        <p:nvSpPr>
          <p:cNvPr id="39" name="Text 36"/>
          <p:cNvSpPr/>
          <p:nvPr/>
        </p:nvSpPr>
        <p:spPr>
          <a:xfrm>
            <a:off x="777240" y="3355848"/>
            <a:ext cx="18745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fxp16_32</a:t>
            </a:r>
            <a:endParaRPr lang="en-US" sz="1350" dirty="0"/>
          </a:p>
        </p:txBody>
      </p:sp>
      <p:sp>
        <p:nvSpPr>
          <p:cNvPr id="40" name="Shape 37"/>
          <p:cNvSpPr/>
          <p:nvPr/>
        </p:nvSpPr>
        <p:spPr>
          <a:xfrm>
            <a:off x="2743200" y="3291840"/>
            <a:ext cx="2743200" cy="329184"/>
          </a:xfrm>
          <a:prstGeom prst="rect">
            <a:avLst/>
          </a:prstGeom>
          <a:solidFill>
            <a:srgbClr val="EAF0F5"/>
          </a:solidFill>
          <a:ln w="8255">
            <a:solidFill>
              <a:srgbClr val="F5F6F8"/>
            </a:solidFill>
            <a:prstDash val="solid"/>
          </a:ln>
        </p:spPr>
      </p:sp>
      <p:sp>
        <p:nvSpPr>
          <p:cNvPr id="41" name="Text 38"/>
          <p:cNvSpPr/>
          <p:nvPr/>
        </p:nvSpPr>
        <p:spPr>
          <a:xfrm>
            <a:off x="2834640" y="3355848"/>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277,921.513800</a:t>
            </a:r>
            <a:endParaRPr lang="en-US" sz="1350" dirty="0"/>
          </a:p>
        </p:txBody>
      </p:sp>
      <p:sp>
        <p:nvSpPr>
          <p:cNvPr id="42" name="Shape 39"/>
          <p:cNvSpPr/>
          <p:nvPr/>
        </p:nvSpPr>
        <p:spPr>
          <a:xfrm>
            <a:off x="5486400" y="3291840"/>
            <a:ext cx="2743200" cy="329184"/>
          </a:xfrm>
          <a:prstGeom prst="rect">
            <a:avLst/>
          </a:prstGeom>
          <a:solidFill>
            <a:srgbClr val="EAF0F5"/>
          </a:solidFill>
          <a:ln w="8255">
            <a:solidFill>
              <a:srgbClr val="F5F6F8"/>
            </a:solidFill>
            <a:prstDash val="solid"/>
          </a:ln>
        </p:spPr>
      </p:sp>
      <p:sp>
        <p:nvSpPr>
          <p:cNvPr id="43" name="Text 40"/>
          <p:cNvSpPr/>
          <p:nvPr/>
        </p:nvSpPr>
        <p:spPr>
          <a:xfrm>
            <a:off x="5577840" y="3355848"/>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31,881.962000</a:t>
            </a:r>
            <a:endParaRPr lang="en-US" sz="1350" dirty="0"/>
          </a:p>
        </p:txBody>
      </p:sp>
      <p:sp>
        <p:nvSpPr>
          <p:cNvPr id="44" name="Shape 41"/>
          <p:cNvSpPr/>
          <p:nvPr/>
        </p:nvSpPr>
        <p:spPr>
          <a:xfrm>
            <a:off x="8229600" y="3291840"/>
            <a:ext cx="2743200" cy="329184"/>
          </a:xfrm>
          <a:prstGeom prst="rect">
            <a:avLst/>
          </a:prstGeom>
          <a:solidFill>
            <a:srgbClr val="EAF0F5"/>
          </a:solidFill>
          <a:ln w="8255">
            <a:solidFill>
              <a:srgbClr val="F5F6F8"/>
            </a:solidFill>
            <a:prstDash val="solid"/>
          </a:ln>
        </p:spPr>
      </p:sp>
      <p:sp>
        <p:nvSpPr>
          <p:cNvPr id="45" name="Text 42"/>
          <p:cNvSpPr/>
          <p:nvPr/>
        </p:nvSpPr>
        <p:spPr>
          <a:xfrm>
            <a:off x="8321040" y="3355848"/>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3,775.709184</a:t>
            </a:r>
            <a:endParaRPr lang="en-US" sz="1350" dirty="0"/>
          </a:p>
        </p:txBody>
      </p:sp>
      <p:sp>
        <p:nvSpPr>
          <p:cNvPr id="46" name="Shape 43"/>
          <p:cNvSpPr/>
          <p:nvPr/>
        </p:nvSpPr>
        <p:spPr>
          <a:xfrm>
            <a:off x="685800" y="3621024"/>
            <a:ext cx="2057400" cy="329184"/>
          </a:xfrm>
          <a:prstGeom prst="rect">
            <a:avLst/>
          </a:prstGeom>
          <a:solidFill>
            <a:srgbClr val="FFFFFF"/>
          </a:solidFill>
          <a:ln w="8255">
            <a:solidFill>
              <a:srgbClr val="F5F6F8"/>
            </a:solidFill>
            <a:prstDash val="solid"/>
          </a:ln>
        </p:spPr>
      </p:sp>
      <p:sp>
        <p:nvSpPr>
          <p:cNvPr id="47" name="Text 44"/>
          <p:cNvSpPr/>
          <p:nvPr/>
        </p:nvSpPr>
        <p:spPr>
          <a:xfrm>
            <a:off x="777240" y="3685032"/>
            <a:ext cx="18745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fp8</a:t>
            </a:r>
            <a:endParaRPr lang="en-US" sz="1350" dirty="0"/>
          </a:p>
        </p:txBody>
      </p:sp>
      <p:sp>
        <p:nvSpPr>
          <p:cNvPr id="48" name="Shape 45"/>
          <p:cNvSpPr/>
          <p:nvPr/>
        </p:nvSpPr>
        <p:spPr>
          <a:xfrm>
            <a:off x="2743200" y="3621024"/>
            <a:ext cx="2743200" cy="329184"/>
          </a:xfrm>
          <a:prstGeom prst="rect">
            <a:avLst/>
          </a:prstGeom>
          <a:solidFill>
            <a:srgbClr val="FFFFFF"/>
          </a:solidFill>
          <a:ln w="8255">
            <a:solidFill>
              <a:srgbClr val="F5F6F8"/>
            </a:solidFill>
            <a:prstDash val="solid"/>
          </a:ln>
        </p:spPr>
      </p:sp>
      <p:sp>
        <p:nvSpPr>
          <p:cNvPr id="49" name="Text 46"/>
          <p:cNvSpPr/>
          <p:nvPr/>
        </p:nvSpPr>
        <p:spPr>
          <a:xfrm>
            <a:off x="2834640" y="3685032"/>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31,708.870200</a:t>
            </a:r>
            <a:endParaRPr lang="en-US" sz="1350" dirty="0"/>
          </a:p>
        </p:txBody>
      </p:sp>
      <p:sp>
        <p:nvSpPr>
          <p:cNvPr id="50" name="Shape 47"/>
          <p:cNvSpPr/>
          <p:nvPr/>
        </p:nvSpPr>
        <p:spPr>
          <a:xfrm>
            <a:off x="5486400" y="3621024"/>
            <a:ext cx="2743200" cy="329184"/>
          </a:xfrm>
          <a:prstGeom prst="rect">
            <a:avLst/>
          </a:prstGeom>
          <a:solidFill>
            <a:srgbClr val="FFFFFF"/>
          </a:solidFill>
          <a:ln w="8255">
            <a:solidFill>
              <a:srgbClr val="F5F6F8"/>
            </a:solidFill>
            <a:prstDash val="solid"/>
          </a:ln>
        </p:spPr>
      </p:sp>
      <p:sp>
        <p:nvSpPr>
          <p:cNvPr id="51" name="Text 48"/>
          <p:cNvSpPr/>
          <p:nvPr/>
        </p:nvSpPr>
        <p:spPr>
          <a:xfrm>
            <a:off x="5577840" y="3685032"/>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3,606.162000</a:t>
            </a:r>
            <a:endParaRPr lang="en-US" sz="1350" dirty="0"/>
          </a:p>
        </p:txBody>
      </p:sp>
      <p:sp>
        <p:nvSpPr>
          <p:cNvPr id="52" name="Shape 49"/>
          <p:cNvSpPr/>
          <p:nvPr/>
        </p:nvSpPr>
        <p:spPr>
          <a:xfrm>
            <a:off x="8229600" y="3621024"/>
            <a:ext cx="2743200" cy="329184"/>
          </a:xfrm>
          <a:prstGeom prst="rect">
            <a:avLst/>
          </a:prstGeom>
          <a:solidFill>
            <a:srgbClr val="FFFFFF"/>
          </a:solidFill>
          <a:ln w="8255">
            <a:solidFill>
              <a:srgbClr val="F5F6F8"/>
            </a:solidFill>
            <a:prstDash val="solid"/>
          </a:ln>
        </p:spPr>
      </p:sp>
      <p:sp>
        <p:nvSpPr>
          <p:cNvPr id="53" name="Text 50"/>
          <p:cNvSpPr/>
          <p:nvPr/>
        </p:nvSpPr>
        <p:spPr>
          <a:xfrm>
            <a:off x="8321040" y="3685032"/>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983.040000</a:t>
            </a:r>
            <a:endParaRPr lang="en-US" sz="1350" dirty="0"/>
          </a:p>
        </p:txBody>
      </p:sp>
      <p:sp>
        <p:nvSpPr>
          <p:cNvPr id="54" name="Shape 51"/>
          <p:cNvSpPr/>
          <p:nvPr/>
        </p:nvSpPr>
        <p:spPr>
          <a:xfrm>
            <a:off x="685800" y="3950208"/>
            <a:ext cx="2057400" cy="329184"/>
          </a:xfrm>
          <a:prstGeom prst="rect">
            <a:avLst/>
          </a:prstGeom>
          <a:solidFill>
            <a:srgbClr val="EAF0F5"/>
          </a:solidFill>
          <a:ln w="8255">
            <a:solidFill>
              <a:srgbClr val="F5F6F8"/>
            </a:solidFill>
            <a:prstDash val="solid"/>
          </a:ln>
        </p:spPr>
      </p:sp>
      <p:sp>
        <p:nvSpPr>
          <p:cNvPr id="55" name="Text 52"/>
          <p:cNvSpPr/>
          <p:nvPr/>
        </p:nvSpPr>
        <p:spPr>
          <a:xfrm>
            <a:off x="777240" y="4014216"/>
            <a:ext cx="18745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fp16</a:t>
            </a:r>
            <a:endParaRPr lang="en-US" sz="1350" dirty="0"/>
          </a:p>
        </p:txBody>
      </p:sp>
      <p:sp>
        <p:nvSpPr>
          <p:cNvPr id="56" name="Shape 53"/>
          <p:cNvSpPr/>
          <p:nvPr/>
        </p:nvSpPr>
        <p:spPr>
          <a:xfrm>
            <a:off x="2743200" y="3950208"/>
            <a:ext cx="2743200" cy="329184"/>
          </a:xfrm>
          <a:prstGeom prst="rect">
            <a:avLst/>
          </a:prstGeom>
          <a:solidFill>
            <a:srgbClr val="EAF0F5"/>
          </a:solidFill>
          <a:ln w="8255">
            <a:solidFill>
              <a:srgbClr val="F5F6F8"/>
            </a:solidFill>
            <a:prstDash val="solid"/>
          </a:ln>
        </p:spPr>
      </p:sp>
      <p:sp>
        <p:nvSpPr>
          <p:cNvPr id="57" name="Text 54"/>
          <p:cNvSpPr/>
          <p:nvPr/>
        </p:nvSpPr>
        <p:spPr>
          <a:xfrm>
            <a:off x="2834640" y="4014216"/>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90,989.249400</a:t>
            </a:r>
            <a:endParaRPr lang="en-US" sz="1350" dirty="0"/>
          </a:p>
        </p:txBody>
      </p:sp>
      <p:sp>
        <p:nvSpPr>
          <p:cNvPr id="58" name="Shape 55"/>
          <p:cNvSpPr/>
          <p:nvPr/>
        </p:nvSpPr>
        <p:spPr>
          <a:xfrm>
            <a:off x="5486400" y="3950208"/>
            <a:ext cx="2743200" cy="329184"/>
          </a:xfrm>
          <a:prstGeom prst="rect">
            <a:avLst/>
          </a:prstGeom>
          <a:solidFill>
            <a:srgbClr val="EAF0F5"/>
          </a:solidFill>
          <a:ln w="8255">
            <a:solidFill>
              <a:srgbClr val="F5F6F8"/>
            </a:solidFill>
            <a:prstDash val="solid"/>
          </a:ln>
        </p:spPr>
      </p:sp>
      <p:sp>
        <p:nvSpPr>
          <p:cNvPr id="59" name="Text 56"/>
          <p:cNvSpPr/>
          <p:nvPr/>
        </p:nvSpPr>
        <p:spPr>
          <a:xfrm>
            <a:off x="5577840" y="4014216"/>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10,138.590000</a:t>
            </a:r>
            <a:endParaRPr lang="en-US" sz="1350" dirty="0"/>
          </a:p>
        </p:txBody>
      </p:sp>
      <p:sp>
        <p:nvSpPr>
          <p:cNvPr id="60" name="Shape 57"/>
          <p:cNvSpPr/>
          <p:nvPr/>
        </p:nvSpPr>
        <p:spPr>
          <a:xfrm>
            <a:off x="8229600" y="3950208"/>
            <a:ext cx="2743200" cy="329184"/>
          </a:xfrm>
          <a:prstGeom prst="rect">
            <a:avLst/>
          </a:prstGeom>
          <a:solidFill>
            <a:srgbClr val="EAF0F5"/>
          </a:solidFill>
          <a:ln w="8255">
            <a:solidFill>
              <a:srgbClr val="F5F6F8"/>
            </a:solidFill>
            <a:prstDash val="solid"/>
          </a:ln>
        </p:spPr>
      </p:sp>
      <p:sp>
        <p:nvSpPr>
          <p:cNvPr id="61" name="Text 58"/>
          <p:cNvSpPr/>
          <p:nvPr/>
        </p:nvSpPr>
        <p:spPr>
          <a:xfrm>
            <a:off x="8321040" y="4014216"/>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2,793.996288</a:t>
            </a:r>
            <a:endParaRPr lang="en-US" sz="1350" dirty="0"/>
          </a:p>
        </p:txBody>
      </p:sp>
      <p:sp>
        <p:nvSpPr>
          <p:cNvPr id="62" name="Shape 59"/>
          <p:cNvSpPr/>
          <p:nvPr/>
        </p:nvSpPr>
        <p:spPr>
          <a:xfrm>
            <a:off x="685800" y="4279392"/>
            <a:ext cx="2057400" cy="329184"/>
          </a:xfrm>
          <a:prstGeom prst="rect">
            <a:avLst/>
          </a:prstGeom>
          <a:solidFill>
            <a:srgbClr val="FFFFFF"/>
          </a:solidFill>
          <a:ln w="8255">
            <a:solidFill>
              <a:srgbClr val="F5F6F8"/>
            </a:solidFill>
            <a:prstDash val="solid"/>
          </a:ln>
        </p:spPr>
      </p:sp>
      <p:sp>
        <p:nvSpPr>
          <p:cNvPr id="63" name="Text 60"/>
          <p:cNvSpPr/>
          <p:nvPr/>
        </p:nvSpPr>
        <p:spPr>
          <a:xfrm>
            <a:off x="777240" y="4343400"/>
            <a:ext cx="18745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fp32</a:t>
            </a:r>
            <a:endParaRPr lang="en-US" sz="1350" dirty="0"/>
          </a:p>
        </p:txBody>
      </p:sp>
      <p:sp>
        <p:nvSpPr>
          <p:cNvPr id="64" name="Shape 61"/>
          <p:cNvSpPr/>
          <p:nvPr/>
        </p:nvSpPr>
        <p:spPr>
          <a:xfrm>
            <a:off x="2743200" y="4279392"/>
            <a:ext cx="2743200" cy="329184"/>
          </a:xfrm>
          <a:prstGeom prst="rect">
            <a:avLst/>
          </a:prstGeom>
          <a:solidFill>
            <a:srgbClr val="FFFFFF"/>
          </a:solidFill>
          <a:ln w="8255">
            <a:solidFill>
              <a:srgbClr val="F5F6F8"/>
            </a:solidFill>
            <a:prstDash val="solid"/>
          </a:ln>
        </p:spPr>
      </p:sp>
      <p:sp>
        <p:nvSpPr>
          <p:cNvPr id="65" name="Text 62"/>
          <p:cNvSpPr/>
          <p:nvPr/>
        </p:nvSpPr>
        <p:spPr>
          <a:xfrm>
            <a:off x="2834640" y="4343400"/>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269,112.186000</a:t>
            </a:r>
            <a:endParaRPr lang="en-US" sz="1350" dirty="0"/>
          </a:p>
        </p:txBody>
      </p:sp>
      <p:sp>
        <p:nvSpPr>
          <p:cNvPr id="66" name="Shape 63"/>
          <p:cNvSpPr/>
          <p:nvPr/>
        </p:nvSpPr>
        <p:spPr>
          <a:xfrm>
            <a:off x="5486400" y="4279392"/>
            <a:ext cx="2743200" cy="329184"/>
          </a:xfrm>
          <a:prstGeom prst="rect">
            <a:avLst/>
          </a:prstGeom>
          <a:solidFill>
            <a:srgbClr val="FFFFFF"/>
          </a:solidFill>
          <a:ln w="8255">
            <a:solidFill>
              <a:srgbClr val="F5F6F8"/>
            </a:solidFill>
            <a:prstDash val="solid"/>
          </a:ln>
        </p:spPr>
      </p:sp>
      <p:sp>
        <p:nvSpPr>
          <p:cNvPr id="67" name="Text 64"/>
          <p:cNvSpPr/>
          <p:nvPr/>
        </p:nvSpPr>
        <p:spPr>
          <a:xfrm>
            <a:off x="5577840" y="4343400"/>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30,084.866000</a:t>
            </a:r>
            <a:endParaRPr lang="en-US" sz="1350" dirty="0"/>
          </a:p>
        </p:txBody>
      </p:sp>
      <p:sp>
        <p:nvSpPr>
          <p:cNvPr id="68" name="Shape 65"/>
          <p:cNvSpPr/>
          <p:nvPr/>
        </p:nvSpPr>
        <p:spPr>
          <a:xfrm>
            <a:off x="8229600" y="4279392"/>
            <a:ext cx="2743200" cy="329184"/>
          </a:xfrm>
          <a:prstGeom prst="rect">
            <a:avLst/>
          </a:prstGeom>
          <a:solidFill>
            <a:srgbClr val="FFFFFF"/>
          </a:solidFill>
          <a:ln w="8255">
            <a:solidFill>
              <a:srgbClr val="F5F6F8"/>
            </a:solidFill>
            <a:prstDash val="solid"/>
          </a:ln>
        </p:spPr>
      </p:sp>
      <p:sp>
        <p:nvSpPr>
          <p:cNvPr id="69" name="Text 66"/>
          <p:cNvSpPr/>
          <p:nvPr/>
        </p:nvSpPr>
        <p:spPr>
          <a:xfrm>
            <a:off x="8321040" y="4343400"/>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8,200.962048</a:t>
            </a:r>
            <a:endParaRPr lang="en-US" sz="1350" dirty="0"/>
          </a:p>
        </p:txBody>
      </p:sp>
      <p:sp>
        <p:nvSpPr>
          <p:cNvPr id="70" name="Shape 67"/>
          <p:cNvSpPr/>
          <p:nvPr/>
        </p:nvSpPr>
        <p:spPr>
          <a:xfrm>
            <a:off x="685800" y="4608576"/>
            <a:ext cx="2057400" cy="329184"/>
          </a:xfrm>
          <a:prstGeom prst="rect">
            <a:avLst/>
          </a:prstGeom>
          <a:solidFill>
            <a:srgbClr val="EAF0F5"/>
          </a:solidFill>
          <a:ln w="8255">
            <a:solidFill>
              <a:srgbClr val="F5F6F8"/>
            </a:solidFill>
            <a:prstDash val="solid"/>
          </a:ln>
        </p:spPr>
      </p:sp>
      <p:sp>
        <p:nvSpPr>
          <p:cNvPr id="71" name="Text 68"/>
          <p:cNvSpPr/>
          <p:nvPr/>
        </p:nvSpPr>
        <p:spPr>
          <a:xfrm>
            <a:off x="777240" y="4672584"/>
            <a:ext cx="18745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posit8</a:t>
            </a:r>
            <a:endParaRPr lang="en-US" sz="1350" dirty="0"/>
          </a:p>
        </p:txBody>
      </p:sp>
      <p:sp>
        <p:nvSpPr>
          <p:cNvPr id="72" name="Shape 69"/>
          <p:cNvSpPr/>
          <p:nvPr/>
        </p:nvSpPr>
        <p:spPr>
          <a:xfrm>
            <a:off x="2743200" y="4608576"/>
            <a:ext cx="2743200" cy="329184"/>
          </a:xfrm>
          <a:prstGeom prst="rect">
            <a:avLst/>
          </a:prstGeom>
          <a:solidFill>
            <a:srgbClr val="EAF0F5"/>
          </a:solidFill>
          <a:ln w="8255">
            <a:solidFill>
              <a:srgbClr val="F5F6F8"/>
            </a:solidFill>
            <a:prstDash val="solid"/>
          </a:ln>
        </p:spPr>
      </p:sp>
      <p:sp>
        <p:nvSpPr>
          <p:cNvPr id="73" name="Text 70"/>
          <p:cNvSpPr/>
          <p:nvPr/>
        </p:nvSpPr>
        <p:spPr>
          <a:xfrm>
            <a:off x="2834640" y="4672584"/>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42,834.015000</a:t>
            </a:r>
            <a:endParaRPr lang="en-US" sz="1350" dirty="0"/>
          </a:p>
        </p:txBody>
      </p:sp>
      <p:sp>
        <p:nvSpPr>
          <p:cNvPr id="74" name="Shape 71"/>
          <p:cNvSpPr/>
          <p:nvPr/>
        </p:nvSpPr>
        <p:spPr>
          <a:xfrm>
            <a:off x="5486400" y="4608576"/>
            <a:ext cx="2743200" cy="329184"/>
          </a:xfrm>
          <a:prstGeom prst="rect">
            <a:avLst/>
          </a:prstGeom>
          <a:solidFill>
            <a:srgbClr val="EAF0F5"/>
          </a:solidFill>
          <a:ln w="8255">
            <a:solidFill>
              <a:srgbClr val="F5F6F8"/>
            </a:solidFill>
            <a:prstDash val="solid"/>
          </a:ln>
        </p:spPr>
      </p:sp>
      <p:sp>
        <p:nvSpPr>
          <p:cNvPr id="75" name="Text 72"/>
          <p:cNvSpPr/>
          <p:nvPr/>
        </p:nvSpPr>
        <p:spPr>
          <a:xfrm>
            <a:off x="5577840" y="4672584"/>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4,983.510000</a:t>
            </a:r>
            <a:endParaRPr lang="en-US" sz="1350" dirty="0"/>
          </a:p>
        </p:txBody>
      </p:sp>
      <p:sp>
        <p:nvSpPr>
          <p:cNvPr id="76" name="Shape 73"/>
          <p:cNvSpPr/>
          <p:nvPr/>
        </p:nvSpPr>
        <p:spPr>
          <a:xfrm>
            <a:off x="8229600" y="4608576"/>
            <a:ext cx="2743200" cy="329184"/>
          </a:xfrm>
          <a:prstGeom prst="rect">
            <a:avLst/>
          </a:prstGeom>
          <a:solidFill>
            <a:srgbClr val="EAF0F5"/>
          </a:solidFill>
          <a:ln w="8255">
            <a:solidFill>
              <a:srgbClr val="F5F6F8"/>
            </a:solidFill>
            <a:prstDash val="solid"/>
          </a:ln>
        </p:spPr>
      </p:sp>
      <p:sp>
        <p:nvSpPr>
          <p:cNvPr id="77" name="Text 74"/>
          <p:cNvSpPr/>
          <p:nvPr/>
        </p:nvSpPr>
        <p:spPr>
          <a:xfrm>
            <a:off x="8321040" y="4672584"/>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1,289.551872</a:t>
            </a:r>
            <a:endParaRPr lang="en-US" sz="1350" dirty="0"/>
          </a:p>
        </p:txBody>
      </p:sp>
      <p:sp>
        <p:nvSpPr>
          <p:cNvPr id="78" name="Shape 75"/>
          <p:cNvSpPr/>
          <p:nvPr/>
        </p:nvSpPr>
        <p:spPr>
          <a:xfrm>
            <a:off x="685800" y="4937760"/>
            <a:ext cx="2057400" cy="329184"/>
          </a:xfrm>
          <a:prstGeom prst="rect">
            <a:avLst/>
          </a:prstGeom>
          <a:solidFill>
            <a:srgbClr val="FFFFFF"/>
          </a:solidFill>
          <a:ln w="8255">
            <a:solidFill>
              <a:srgbClr val="F5F6F8"/>
            </a:solidFill>
            <a:prstDash val="solid"/>
          </a:ln>
        </p:spPr>
      </p:sp>
      <p:sp>
        <p:nvSpPr>
          <p:cNvPr id="79" name="Text 76"/>
          <p:cNvSpPr/>
          <p:nvPr/>
        </p:nvSpPr>
        <p:spPr>
          <a:xfrm>
            <a:off x="777240" y="5001768"/>
            <a:ext cx="18745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posit16</a:t>
            </a:r>
            <a:endParaRPr lang="en-US" sz="1350" dirty="0"/>
          </a:p>
        </p:txBody>
      </p:sp>
      <p:sp>
        <p:nvSpPr>
          <p:cNvPr id="80" name="Shape 77"/>
          <p:cNvSpPr/>
          <p:nvPr/>
        </p:nvSpPr>
        <p:spPr>
          <a:xfrm>
            <a:off x="2743200" y="4937760"/>
            <a:ext cx="2743200" cy="329184"/>
          </a:xfrm>
          <a:prstGeom prst="rect">
            <a:avLst/>
          </a:prstGeom>
          <a:solidFill>
            <a:srgbClr val="FFFFFF"/>
          </a:solidFill>
          <a:ln w="8255">
            <a:solidFill>
              <a:srgbClr val="F5F6F8"/>
            </a:solidFill>
            <a:prstDash val="solid"/>
          </a:ln>
        </p:spPr>
      </p:sp>
      <p:sp>
        <p:nvSpPr>
          <p:cNvPr id="81" name="Text 78"/>
          <p:cNvSpPr/>
          <p:nvPr/>
        </p:nvSpPr>
        <p:spPr>
          <a:xfrm>
            <a:off x="2834640" y="5001768"/>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118,561.816800</a:t>
            </a:r>
            <a:endParaRPr lang="en-US" sz="1350" dirty="0"/>
          </a:p>
        </p:txBody>
      </p:sp>
      <p:sp>
        <p:nvSpPr>
          <p:cNvPr id="82" name="Shape 79"/>
          <p:cNvSpPr/>
          <p:nvPr/>
        </p:nvSpPr>
        <p:spPr>
          <a:xfrm>
            <a:off x="5486400" y="4937760"/>
            <a:ext cx="2743200" cy="329184"/>
          </a:xfrm>
          <a:prstGeom prst="rect">
            <a:avLst/>
          </a:prstGeom>
          <a:solidFill>
            <a:srgbClr val="FFFFFF"/>
          </a:solidFill>
          <a:ln w="8255">
            <a:solidFill>
              <a:srgbClr val="F5F6F8"/>
            </a:solidFill>
            <a:prstDash val="solid"/>
          </a:ln>
        </p:spPr>
      </p:sp>
      <p:sp>
        <p:nvSpPr>
          <p:cNvPr id="83" name="Text 80"/>
          <p:cNvSpPr/>
          <p:nvPr/>
        </p:nvSpPr>
        <p:spPr>
          <a:xfrm>
            <a:off x="5577840" y="5001768"/>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13,595.260000</a:t>
            </a:r>
            <a:endParaRPr lang="en-US" sz="1350" dirty="0"/>
          </a:p>
        </p:txBody>
      </p:sp>
      <p:sp>
        <p:nvSpPr>
          <p:cNvPr id="84" name="Shape 81"/>
          <p:cNvSpPr/>
          <p:nvPr/>
        </p:nvSpPr>
        <p:spPr>
          <a:xfrm>
            <a:off x="8229600" y="4937760"/>
            <a:ext cx="2743200" cy="329184"/>
          </a:xfrm>
          <a:prstGeom prst="rect">
            <a:avLst/>
          </a:prstGeom>
          <a:solidFill>
            <a:srgbClr val="FFFFFF"/>
          </a:solidFill>
          <a:ln w="8255">
            <a:solidFill>
              <a:srgbClr val="F5F6F8"/>
            </a:solidFill>
            <a:prstDash val="solid"/>
          </a:ln>
        </p:spPr>
      </p:sp>
      <p:sp>
        <p:nvSpPr>
          <p:cNvPr id="85" name="Text 82"/>
          <p:cNvSpPr/>
          <p:nvPr/>
        </p:nvSpPr>
        <p:spPr>
          <a:xfrm>
            <a:off x="8321040" y="5001768"/>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3,649.781760</a:t>
            </a:r>
            <a:endParaRPr lang="en-US" sz="1350" dirty="0"/>
          </a:p>
        </p:txBody>
      </p:sp>
      <p:sp>
        <p:nvSpPr>
          <p:cNvPr id="86" name="Shape 83"/>
          <p:cNvSpPr/>
          <p:nvPr/>
        </p:nvSpPr>
        <p:spPr>
          <a:xfrm>
            <a:off x="685800" y="5266944"/>
            <a:ext cx="2057400" cy="329184"/>
          </a:xfrm>
          <a:prstGeom prst="rect">
            <a:avLst/>
          </a:prstGeom>
          <a:solidFill>
            <a:srgbClr val="EAF0F5"/>
          </a:solidFill>
          <a:ln w="8255">
            <a:solidFill>
              <a:srgbClr val="F5F6F8"/>
            </a:solidFill>
            <a:prstDash val="solid"/>
          </a:ln>
        </p:spPr>
      </p:sp>
      <p:sp>
        <p:nvSpPr>
          <p:cNvPr id="87" name="Text 84"/>
          <p:cNvSpPr/>
          <p:nvPr/>
        </p:nvSpPr>
        <p:spPr>
          <a:xfrm>
            <a:off x="777240" y="5330952"/>
            <a:ext cx="18745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posit32</a:t>
            </a:r>
            <a:endParaRPr lang="en-US" sz="1350" dirty="0"/>
          </a:p>
        </p:txBody>
      </p:sp>
      <p:sp>
        <p:nvSpPr>
          <p:cNvPr id="88" name="Shape 85"/>
          <p:cNvSpPr/>
          <p:nvPr/>
        </p:nvSpPr>
        <p:spPr>
          <a:xfrm>
            <a:off x="2743200" y="5266944"/>
            <a:ext cx="2743200" cy="329184"/>
          </a:xfrm>
          <a:prstGeom prst="rect">
            <a:avLst/>
          </a:prstGeom>
          <a:solidFill>
            <a:srgbClr val="EAF0F5"/>
          </a:solidFill>
          <a:ln w="8255">
            <a:solidFill>
              <a:srgbClr val="F5F6F8"/>
            </a:solidFill>
            <a:prstDash val="solid"/>
          </a:ln>
        </p:spPr>
      </p:sp>
      <p:sp>
        <p:nvSpPr>
          <p:cNvPr id="89" name="Text 86"/>
          <p:cNvSpPr/>
          <p:nvPr/>
        </p:nvSpPr>
        <p:spPr>
          <a:xfrm>
            <a:off x="2834640" y="5330952"/>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369,588.668400</a:t>
            </a:r>
            <a:endParaRPr lang="en-US" sz="1350" dirty="0"/>
          </a:p>
        </p:txBody>
      </p:sp>
      <p:sp>
        <p:nvSpPr>
          <p:cNvPr id="90" name="Shape 87"/>
          <p:cNvSpPr/>
          <p:nvPr/>
        </p:nvSpPr>
        <p:spPr>
          <a:xfrm>
            <a:off x="5486400" y="5266944"/>
            <a:ext cx="2743200" cy="329184"/>
          </a:xfrm>
          <a:prstGeom prst="rect">
            <a:avLst/>
          </a:prstGeom>
          <a:solidFill>
            <a:srgbClr val="EAF0F5"/>
          </a:solidFill>
          <a:ln w="8255">
            <a:solidFill>
              <a:srgbClr val="F5F6F8"/>
            </a:solidFill>
            <a:prstDash val="solid"/>
          </a:ln>
        </p:spPr>
      </p:sp>
      <p:sp>
        <p:nvSpPr>
          <p:cNvPr id="91" name="Text 88"/>
          <p:cNvSpPr/>
          <p:nvPr/>
        </p:nvSpPr>
        <p:spPr>
          <a:xfrm>
            <a:off x="5577840" y="5330952"/>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41,123.068000</a:t>
            </a:r>
            <a:endParaRPr lang="en-US" sz="1350" dirty="0"/>
          </a:p>
        </p:txBody>
      </p:sp>
      <p:sp>
        <p:nvSpPr>
          <p:cNvPr id="92" name="Shape 89"/>
          <p:cNvSpPr/>
          <p:nvPr/>
        </p:nvSpPr>
        <p:spPr>
          <a:xfrm>
            <a:off x="8229600" y="5266944"/>
            <a:ext cx="2743200" cy="329184"/>
          </a:xfrm>
          <a:prstGeom prst="rect">
            <a:avLst/>
          </a:prstGeom>
          <a:solidFill>
            <a:srgbClr val="EAF0F5"/>
          </a:solidFill>
          <a:ln w="8255">
            <a:solidFill>
              <a:srgbClr val="F5F6F8"/>
            </a:solidFill>
            <a:prstDash val="solid"/>
          </a:ln>
        </p:spPr>
      </p:sp>
      <p:sp>
        <p:nvSpPr>
          <p:cNvPr id="93" name="Text 90"/>
          <p:cNvSpPr/>
          <p:nvPr/>
        </p:nvSpPr>
        <p:spPr>
          <a:xfrm>
            <a:off x="8321040" y="5330952"/>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11,287.609344</a:t>
            </a:r>
            <a:endParaRPr lang="en-US" sz="1350" dirty="0"/>
          </a:p>
        </p:txBody>
      </p:sp>
      <p:sp>
        <p:nvSpPr>
          <p:cNvPr id="94" name="Shape 91"/>
          <p:cNvSpPr/>
          <p:nvPr/>
        </p:nvSpPr>
        <p:spPr>
          <a:xfrm>
            <a:off x="685800" y="5596128"/>
            <a:ext cx="2057400" cy="329184"/>
          </a:xfrm>
          <a:prstGeom prst="rect">
            <a:avLst/>
          </a:prstGeom>
          <a:solidFill>
            <a:srgbClr val="FFFFFF"/>
          </a:solidFill>
          <a:ln w="8255">
            <a:solidFill>
              <a:srgbClr val="F5F6F8"/>
            </a:solidFill>
            <a:prstDash val="solid"/>
          </a:ln>
        </p:spPr>
      </p:sp>
      <p:sp>
        <p:nvSpPr>
          <p:cNvPr id="95" name="Text 92"/>
          <p:cNvSpPr/>
          <p:nvPr/>
        </p:nvSpPr>
        <p:spPr>
          <a:xfrm>
            <a:off x="777240" y="5660136"/>
            <a:ext cx="1874520" cy="237744"/>
          </a:xfrm>
          <a:prstGeom prst="rect">
            <a:avLst/>
          </a:prstGeom>
          <a:noFill/>
          <a:ln/>
        </p:spPr>
        <p:txBody>
          <a:bodyPr wrap="square" lIns="0" tIns="0" rIns="0" bIns="0" rtlCol="0" anchor="t"/>
          <a:lstStyle/>
          <a:p>
            <a:pPr indent="0" marL="0">
              <a:buNone/>
            </a:pPr>
            <a:r>
              <a:rPr lang="en-US" sz="1350" b="1" dirty="0">
                <a:solidFill>
                  <a:srgbClr val="14293B"/>
                </a:solidFill>
                <a:latin typeface="Arial" pitchFamily="34" charset="0"/>
                <a:ea typeface="Arial" pitchFamily="34" charset="-122"/>
                <a:cs typeface="Arial" pitchFamily="34" charset="-120"/>
              </a:rPr>
              <a:t>lns16</a:t>
            </a:r>
            <a:endParaRPr lang="en-US" sz="1350" dirty="0"/>
          </a:p>
        </p:txBody>
      </p:sp>
      <p:sp>
        <p:nvSpPr>
          <p:cNvPr id="96" name="Shape 93"/>
          <p:cNvSpPr/>
          <p:nvPr/>
        </p:nvSpPr>
        <p:spPr>
          <a:xfrm>
            <a:off x="2743200" y="5596128"/>
            <a:ext cx="2743200" cy="329184"/>
          </a:xfrm>
          <a:prstGeom prst="rect">
            <a:avLst/>
          </a:prstGeom>
          <a:solidFill>
            <a:srgbClr val="FFFFFF"/>
          </a:solidFill>
          <a:ln w="8255">
            <a:solidFill>
              <a:srgbClr val="F5F6F8"/>
            </a:solidFill>
            <a:prstDash val="solid"/>
          </a:ln>
        </p:spPr>
      </p:sp>
      <p:sp>
        <p:nvSpPr>
          <p:cNvPr id="97" name="Text 94"/>
          <p:cNvSpPr/>
          <p:nvPr/>
        </p:nvSpPr>
        <p:spPr>
          <a:xfrm>
            <a:off x="2834640" y="5660136"/>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PENDIENTE</a:t>
            </a:r>
            <a:endParaRPr lang="en-US" sz="1350" dirty="0"/>
          </a:p>
        </p:txBody>
      </p:sp>
      <p:sp>
        <p:nvSpPr>
          <p:cNvPr id="98" name="Shape 95"/>
          <p:cNvSpPr/>
          <p:nvPr/>
        </p:nvSpPr>
        <p:spPr>
          <a:xfrm>
            <a:off x="5486400" y="5596128"/>
            <a:ext cx="2743200" cy="329184"/>
          </a:xfrm>
          <a:prstGeom prst="rect">
            <a:avLst/>
          </a:prstGeom>
          <a:solidFill>
            <a:srgbClr val="FFFFFF"/>
          </a:solidFill>
          <a:ln w="8255">
            <a:solidFill>
              <a:srgbClr val="F5F6F8"/>
            </a:solidFill>
            <a:prstDash val="solid"/>
          </a:ln>
        </p:spPr>
      </p:sp>
      <p:sp>
        <p:nvSpPr>
          <p:cNvPr id="99" name="Text 96"/>
          <p:cNvSpPr/>
          <p:nvPr/>
        </p:nvSpPr>
        <p:spPr>
          <a:xfrm>
            <a:off x="5577840" y="5660136"/>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PENDIENTE</a:t>
            </a:r>
            <a:endParaRPr lang="en-US" sz="1350" dirty="0"/>
          </a:p>
        </p:txBody>
      </p:sp>
      <p:sp>
        <p:nvSpPr>
          <p:cNvPr id="100" name="Shape 97"/>
          <p:cNvSpPr/>
          <p:nvPr/>
        </p:nvSpPr>
        <p:spPr>
          <a:xfrm>
            <a:off x="8229600" y="5596128"/>
            <a:ext cx="2743200" cy="329184"/>
          </a:xfrm>
          <a:prstGeom prst="rect">
            <a:avLst/>
          </a:prstGeom>
          <a:solidFill>
            <a:srgbClr val="FFFFFF"/>
          </a:solidFill>
          <a:ln w="8255">
            <a:solidFill>
              <a:srgbClr val="F5F6F8"/>
            </a:solidFill>
            <a:prstDash val="solid"/>
          </a:ln>
        </p:spPr>
      </p:sp>
      <p:sp>
        <p:nvSpPr>
          <p:cNvPr id="101" name="Text 98"/>
          <p:cNvSpPr/>
          <p:nvPr/>
        </p:nvSpPr>
        <p:spPr>
          <a:xfrm>
            <a:off x="8321040" y="5660136"/>
            <a:ext cx="2560320" cy="237744"/>
          </a:xfrm>
          <a:prstGeom prst="rect">
            <a:avLst/>
          </a:prstGeom>
          <a:noFill/>
          <a:ln/>
        </p:spPr>
        <p:txBody>
          <a:bodyPr wrap="square" lIns="0" tIns="0" rIns="0" bIns="0" rtlCol="0" anchor="t"/>
          <a:lstStyle/>
          <a:p>
            <a:pPr indent="0" marL="0">
              <a:buNone/>
            </a:pPr>
            <a:r>
              <a:rPr lang="en-US" sz="1350" dirty="0">
                <a:solidFill>
                  <a:srgbClr val="14293B"/>
                </a:solidFill>
                <a:latin typeface="Arial" pitchFamily="34" charset="0"/>
                <a:ea typeface="Arial" pitchFamily="34" charset="-122"/>
                <a:cs typeface="Arial" pitchFamily="34" charset="-120"/>
              </a:rPr>
              <a:t>PENDIENTE</a:t>
            </a:r>
            <a:endParaRPr lang="en-US" sz="1350" dirty="0"/>
          </a:p>
        </p:txBody>
      </p:sp>
      <p:sp>
        <p:nvSpPr>
          <p:cNvPr id="102" name="Shape 99"/>
          <p:cNvSpPr/>
          <p:nvPr/>
        </p:nvSpPr>
        <p:spPr>
          <a:xfrm>
            <a:off x="576072" y="5916168"/>
            <a:ext cx="11027664" cy="448056"/>
          </a:xfrm>
          <a:prstGeom prst="roundRect">
            <a:avLst>
              <a:gd name="adj" fmla="val 10204"/>
            </a:avLst>
          </a:prstGeom>
          <a:solidFill>
            <a:srgbClr val="E5F3F3"/>
          </a:solidFill>
          <a:ln w="8255">
            <a:solidFill>
              <a:srgbClr val="E5F3F3"/>
            </a:solidFill>
            <a:prstDash val="solid"/>
          </a:ln>
        </p:spPr>
      </p:sp>
      <p:sp>
        <p:nvSpPr>
          <p:cNvPr id="103" name="Text 100"/>
          <p:cNvSpPr/>
          <p:nvPr/>
        </p:nvSpPr>
        <p:spPr>
          <a:xfrm>
            <a:off x="740664" y="6016752"/>
            <a:ext cx="10698480" cy="256032"/>
          </a:xfrm>
          <a:prstGeom prst="rect">
            <a:avLst/>
          </a:prstGeom>
          <a:noFill/>
          <a:ln/>
        </p:spPr>
        <p:txBody>
          <a:bodyPr wrap="square" lIns="0" tIns="0" rIns="0" bIns="0" rtlCol="0" anchor="t"/>
          <a:lstStyle/>
          <a:p>
            <a:pPr indent="0" marL="0">
              <a:buNone/>
            </a:pPr>
            <a:r>
              <a:rPr lang="en-US" sz="1550" b="1" dirty="0">
                <a:solidFill>
                  <a:srgbClr val="007C83"/>
                </a:solidFill>
                <a:latin typeface="Arial" pitchFamily="34" charset="0"/>
                <a:ea typeface="Arial" pitchFamily="34" charset="-122"/>
                <a:cs typeface="Arial" pitchFamily="34" charset="-120"/>
              </a:rPr>
              <a:t>Los decimales expresan la cuenta de biblioteca, no la incertidumbre de un chip real.</a:t>
            </a:r>
            <a:endParaRPr lang="en-US" sz="1550" dirty="0"/>
          </a:p>
        </p:txBody>
      </p:sp>
      <p:sp>
        <p:nvSpPr>
          <p:cNvPr id="104" name="Shape 101"/>
          <p:cNvSpPr/>
          <p:nvPr/>
        </p:nvSpPr>
        <p:spPr>
          <a:xfrm>
            <a:off x="585216" y="6492240"/>
            <a:ext cx="11009376" cy="0"/>
          </a:xfrm>
          <a:prstGeom prst="line">
            <a:avLst/>
          </a:prstGeom>
          <a:noFill/>
          <a:ln w="8890">
            <a:solidFill>
              <a:srgbClr val="D9E2E9"/>
            </a:solidFill>
            <a:prstDash val="solid"/>
            <a:headEnd type="none"/>
            <a:tailEnd type="none"/>
          </a:ln>
        </p:spPr>
      </p:sp>
      <p:sp>
        <p:nvSpPr>
          <p:cNvPr id="105" name="Text 102"/>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F04 · F11 | auditoria_evidencias.csv · tabla generada desde report.json</a:t>
            </a:r>
            <a:endParaRPr lang="en-US" sz="870" dirty="0"/>
          </a:p>
        </p:txBody>
      </p:sp>
      <p:sp>
        <p:nvSpPr>
          <p:cNvPr id="106" name="Text 103"/>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42 / 53</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ANEXO TÉCNICO</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Anexo F · Release fijada no significa imagen completamente identificada</a:t>
            </a:r>
            <a:endParaRPr lang="en-US" sz="2800" dirty="0"/>
          </a:p>
        </p:txBody>
      </p:sp>
      <p:sp>
        <p:nvSpPr>
          <p:cNvPr id="6" name="Shape 3"/>
          <p:cNvSpPr/>
          <p:nvPr/>
        </p:nvSpPr>
        <p:spPr>
          <a:xfrm>
            <a:off x="621792" y="1975104"/>
            <a:ext cx="3575304" cy="3511296"/>
          </a:xfrm>
          <a:prstGeom prst="rect">
            <a:avLst/>
          </a:prstGeom>
          <a:solidFill>
            <a:srgbClr val="FFFFFF"/>
          </a:solidFill>
          <a:ln w="8255">
            <a:solidFill>
              <a:srgbClr val="D9E2E9"/>
            </a:solidFill>
            <a:prstDash val="solid"/>
          </a:ln>
        </p:spPr>
      </p:sp>
      <p:sp>
        <p:nvSpPr>
          <p:cNvPr id="7" name="Shape 4"/>
          <p:cNvSpPr/>
          <p:nvPr/>
        </p:nvSpPr>
        <p:spPr>
          <a:xfrm>
            <a:off x="621792" y="1975104"/>
            <a:ext cx="50292" cy="3511296"/>
          </a:xfrm>
          <a:prstGeom prst="rect">
            <a:avLst/>
          </a:prstGeom>
          <a:solidFill>
            <a:srgbClr val="007C83"/>
          </a:solidFill>
          <a:ln w="8255">
            <a:solidFill>
              <a:srgbClr val="007C83"/>
            </a:solidFill>
            <a:prstDash val="solid"/>
          </a:ln>
        </p:spPr>
      </p:sp>
      <p:sp>
        <p:nvSpPr>
          <p:cNvPr id="8" name="Text 5"/>
          <p:cNvSpPr/>
          <p:nvPr/>
        </p:nvSpPr>
        <p:spPr>
          <a:xfrm>
            <a:off x="822960"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Suite fijada</a:t>
            </a:r>
            <a:endParaRPr lang="en-US" sz="2200" dirty="0"/>
          </a:p>
        </p:txBody>
      </p:sp>
      <p:sp>
        <p:nvSpPr>
          <p:cNvPr id="9" name="Text 6"/>
          <p:cNvSpPr/>
          <p:nvPr/>
        </p:nvSpPr>
        <p:spPr>
          <a:xfrm>
            <a:off x="822960"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OSS CAD Suite 2026-09-04 y SHA-256 del archivo descargado.</a:t>
            </a:r>
            <a:endParaRPr lang="en-US" sz="1900" dirty="0"/>
          </a:p>
        </p:txBody>
      </p:sp>
      <p:sp>
        <p:nvSpPr>
          <p:cNvPr id="10" name="Shape 7"/>
          <p:cNvSpPr/>
          <p:nvPr/>
        </p:nvSpPr>
        <p:spPr>
          <a:xfrm>
            <a:off x="4352544" y="1975104"/>
            <a:ext cx="3575304" cy="3511296"/>
          </a:xfrm>
          <a:prstGeom prst="rect">
            <a:avLst/>
          </a:prstGeom>
          <a:solidFill>
            <a:srgbClr val="FFFFFF"/>
          </a:solidFill>
          <a:ln w="8255">
            <a:solidFill>
              <a:srgbClr val="D9E2E9"/>
            </a:solidFill>
            <a:prstDash val="solid"/>
          </a:ln>
        </p:spPr>
      </p:sp>
      <p:sp>
        <p:nvSpPr>
          <p:cNvPr id="11" name="Shape 8"/>
          <p:cNvSpPr/>
          <p:nvPr/>
        </p:nvSpPr>
        <p:spPr>
          <a:xfrm>
            <a:off x="4352544" y="1975104"/>
            <a:ext cx="50292" cy="3511296"/>
          </a:xfrm>
          <a:prstGeom prst="rect">
            <a:avLst/>
          </a:prstGeom>
          <a:solidFill>
            <a:srgbClr val="007C83"/>
          </a:solidFill>
          <a:ln w="8255">
            <a:solidFill>
              <a:srgbClr val="007C83"/>
            </a:solidFill>
            <a:prstDash val="solid"/>
          </a:ln>
        </p:spPr>
      </p:sp>
      <p:sp>
        <p:nvSpPr>
          <p:cNvPr id="12" name="Text 9"/>
          <p:cNvSpPr/>
          <p:nvPr/>
        </p:nvSpPr>
        <p:spPr>
          <a:xfrm>
            <a:off x="4553712" y="2185416"/>
            <a:ext cx="3172968" cy="658368"/>
          </a:xfrm>
          <a:prstGeom prst="rect">
            <a:avLst/>
          </a:prstGeom>
          <a:noFill/>
          <a:ln/>
        </p:spPr>
        <p:txBody>
          <a:bodyPr wrap="square" lIns="0" tIns="0" rIns="0" bIns="0" rtlCol="0" anchor="t"/>
          <a:lstStyle/>
          <a:p>
            <a:pPr indent="0" marL="0">
              <a:buNone/>
            </a:pPr>
            <a:r>
              <a:rPr lang="en-US" sz="2200" b="1" dirty="0">
                <a:solidFill>
                  <a:srgbClr val="007C83"/>
                </a:solidFill>
                <a:latin typeface="Arial" pitchFamily="34" charset="0"/>
                <a:ea typeface="Arial" pitchFamily="34" charset="-122"/>
                <a:cs typeface="Arial" pitchFamily="34" charset="-120"/>
              </a:rPr>
              <a:t>Versiones retenidas</a:t>
            </a:r>
            <a:endParaRPr lang="en-US" sz="2200" dirty="0"/>
          </a:p>
        </p:txBody>
      </p:sp>
      <p:sp>
        <p:nvSpPr>
          <p:cNvPr id="13" name="Text 10"/>
          <p:cNvSpPr/>
          <p:nvPr/>
        </p:nvSpPr>
        <p:spPr>
          <a:xfrm>
            <a:off x="4553712"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GHDL 7.0.0-dev; Yosys 0.68+182; Icarus 14.0 devel.</a:t>
            </a:r>
            <a:endParaRPr lang="en-US" sz="1900" dirty="0"/>
          </a:p>
        </p:txBody>
      </p:sp>
      <p:sp>
        <p:nvSpPr>
          <p:cNvPr id="14" name="Shape 11"/>
          <p:cNvSpPr/>
          <p:nvPr/>
        </p:nvSpPr>
        <p:spPr>
          <a:xfrm>
            <a:off x="8083296" y="1975104"/>
            <a:ext cx="3575304" cy="3511296"/>
          </a:xfrm>
          <a:prstGeom prst="rect">
            <a:avLst/>
          </a:prstGeom>
          <a:solidFill>
            <a:srgbClr val="FFFFFF"/>
          </a:solidFill>
          <a:ln w="8255">
            <a:solidFill>
              <a:srgbClr val="D9E2E9"/>
            </a:solidFill>
            <a:prstDash val="solid"/>
          </a:ln>
        </p:spPr>
      </p:sp>
      <p:sp>
        <p:nvSpPr>
          <p:cNvPr id="15" name="Shape 12"/>
          <p:cNvSpPr/>
          <p:nvPr/>
        </p:nvSpPr>
        <p:spPr>
          <a:xfrm>
            <a:off x="8083296" y="1975104"/>
            <a:ext cx="50292" cy="3511296"/>
          </a:xfrm>
          <a:prstGeom prst="rect">
            <a:avLst/>
          </a:prstGeom>
          <a:solidFill>
            <a:srgbClr val="B36A10"/>
          </a:solidFill>
          <a:ln w="8255">
            <a:solidFill>
              <a:srgbClr val="B36A10"/>
            </a:solidFill>
            <a:prstDash val="solid"/>
          </a:ln>
        </p:spPr>
      </p:sp>
      <p:sp>
        <p:nvSpPr>
          <p:cNvPr id="16" name="Text 13"/>
          <p:cNvSpPr/>
          <p:nvPr/>
        </p:nvSpPr>
        <p:spPr>
          <a:xfrm>
            <a:off x="8284464" y="2185416"/>
            <a:ext cx="3172968" cy="658368"/>
          </a:xfrm>
          <a:prstGeom prst="rect">
            <a:avLst/>
          </a:prstGeom>
          <a:noFill/>
          <a:ln/>
        </p:spPr>
        <p:txBody>
          <a:bodyPr wrap="square" lIns="0" tIns="0" rIns="0" bIns="0" rtlCol="0" anchor="t"/>
          <a:lstStyle/>
          <a:p>
            <a:pPr indent="0" marL="0">
              <a:buNone/>
            </a:pPr>
            <a:r>
              <a:rPr lang="en-US" sz="2200" b="1" dirty="0">
                <a:solidFill>
                  <a:srgbClr val="B36A10"/>
                </a:solidFill>
                <a:latin typeface="Arial" pitchFamily="34" charset="0"/>
                <a:ea typeface="Arial" pitchFamily="34" charset="-122"/>
                <a:cs typeface="Arial" pitchFamily="34" charset="-120"/>
              </a:rPr>
              <a:t>Refuerzo recomendado</a:t>
            </a:r>
            <a:endParaRPr lang="en-US" sz="2200" dirty="0"/>
          </a:p>
        </p:txBody>
      </p:sp>
      <p:sp>
        <p:nvSpPr>
          <p:cNvPr id="17" name="Text 14"/>
          <p:cNvSpPr/>
          <p:nvPr/>
        </p:nvSpPr>
        <p:spPr>
          <a:xfrm>
            <a:off x="8284464" y="3008376"/>
            <a:ext cx="3172968" cy="2286000"/>
          </a:xfrm>
          <a:prstGeom prst="rect">
            <a:avLst/>
          </a:prstGeom>
          <a:noFill/>
          <a:ln/>
        </p:spPr>
        <p:txBody>
          <a:bodyPr wrap="square" lIns="0" tIns="0" rIns="0" bIns="0" rtlCol="0" anchor="t"/>
          <a:lstStyle/>
          <a:p>
            <a:pPr indent="0" marL="0">
              <a:buNone/>
            </a:pPr>
            <a:r>
              <a:rPr lang="en-US" sz="1900" dirty="0">
                <a:solidFill>
                  <a:srgbClr val="14293B"/>
                </a:solidFill>
                <a:latin typeface="Arial" pitchFamily="34" charset="0"/>
                <a:ea typeface="Arial" pitchFamily="34" charset="-122"/>
                <a:cs typeface="Arial" pitchFamily="34" charset="-120"/>
              </a:rPr>
              <a:t>Digest de imagen, código y scripts por corrida; preservar los binarios o el contenedor.</a:t>
            </a:r>
            <a:endParaRPr lang="en-US" sz="1900" dirty="0"/>
          </a:p>
        </p:txBody>
      </p:sp>
      <p:sp>
        <p:nvSpPr>
          <p:cNvPr id="18" name="Shape 15"/>
          <p:cNvSpPr/>
          <p:nvPr/>
        </p:nvSpPr>
        <p:spPr>
          <a:xfrm>
            <a:off x="585216" y="6492240"/>
            <a:ext cx="11009376" cy="0"/>
          </a:xfrm>
          <a:prstGeom prst="line">
            <a:avLst/>
          </a:prstGeom>
          <a:noFill/>
          <a:ln w="8890">
            <a:solidFill>
              <a:srgbClr val="D9E2E9"/>
            </a:solidFill>
            <a:prstDash val="solid"/>
            <a:headEnd type="none"/>
            <a:tailEnd type="none"/>
          </a:ln>
        </p:spPr>
      </p:sp>
      <p:sp>
        <p:nvSpPr>
          <p:cNvPr id="19" name="Text 16"/>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F12 · F17 | Dockerfile · manifest.tool_versions · auditoria_evidencias.json</a:t>
            </a:r>
            <a:endParaRPr lang="en-US" sz="870" dirty="0"/>
          </a:p>
        </p:txBody>
      </p:sp>
      <p:sp>
        <p:nvSpPr>
          <p:cNvPr id="20" name="Text 17"/>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43 / 53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ANEXO TÉCNICO</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Anexo G · La comprobación del build detecta fallos reales del toolchain</a:t>
            </a:r>
            <a:endParaRPr lang="en-US" sz="2800" dirty="0"/>
          </a:p>
        </p:txBody>
      </p:sp>
      <p:sp>
        <p:nvSpPr>
          <p:cNvPr id="6" name="Shape 3"/>
          <p:cNvSpPr/>
          <p:nvPr/>
        </p:nvSpPr>
        <p:spPr>
          <a:xfrm>
            <a:off x="685800" y="1920240"/>
            <a:ext cx="6903720" cy="3767328"/>
          </a:xfrm>
          <a:prstGeom prst="roundRect">
            <a:avLst>
              <a:gd name="adj" fmla="val 2427"/>
            </a:avLst>
          </a:prstGeom>
          <a:solidFill>
            <a:srgbClr val="102331"/>
          </a:solidFill>
          <a:ln w="8255">
            <a:solidFill>
              <a:srgbClr val="102331"/>
            </a:solidFill>
            <a:prstDash val="solid"/>
          </a:ln>
        </p:spPr>
      </p:sp>
      <p:sp>
        <p:nvSpPr>
          <p:cNvPr id="7" name="Text 4"/>
          <p:cNvSpPr/>
          <p:nvPr/>
        </p:nvSpPr>
        <p:spPr>
          <a:xfrm>
            <a:off x="859536" y="2121408"/>
            <a:ext cx="6556248" cy="310896"/>
          </a:xfrm>
          <a:prstGeom prst="rect">
            <a:avLst/>
          </a:prstGeom>
          <a:noFill/>
          <a:ln/>
        </p:spPr>
        <p:txBody>
          <a:bodyPr wrap="square" lIns="0" tIns="0" rIns="0" bIns="0" rtlCol="0" anchor="t"/>
          <a:lstStyle/>
          <a:p>
            <a:pPr indent="0" marL="0">
              <a:buNone/>
            </a:pPr>
            <a:r>
              <a:rPr lang="en-US" sz="1360" dirty="0">
                <a:solidFill>
                  <a:srgbClr val="80DDD5"/>
                </a:solidFill>
                <a:latin typeface="Courier New" pitchFamily="34" charset="0"/>
                <a:ea typeface="Courier New" pitchFamily="34" charset="-122"/>
                <a:cs typeface="Courier New" pitchFamily="34" charset="-120"/>
              </a:rPr>
              <a:t>RUN apt-get install ... build-essential zlib1g-dev</a:t>
            </a:r>
            <a:endParaRPr lang="en-US" sz="1360" dirty="0"/>
          </a:p>
        </p:txBody>
      </p:sp>
      <p:sp>
        <p:nvSpPr>
          <p:cNvPr id="8" name="Text 5"/>
          <p:cNvSpPr/>
          <p:nvPr/>
        </p:nvSpPr>
        <p:spPr>
          <a:xfrm>
            <a:off x="859536" y="2432304"/>
            <a:ext cx="6556248" cy="310896"/>
          </a:xfrm>
          <a:prstGeom prst="rect">
            <a:avLst/>
          </a:prstGeom>
          <a:noFill/>
          <a:ln/>
        </p:spPr>
        <p:txBody>
          <a:bodyPr wrap="square" lIns="0" tIns="0" rIns="0" bIns="0" rtlCol="0" anchor="t"/>
          <a:lstStyle/>
          <a:p>
            <a:pPr indent="0" marL="0">
              <a:buNone/>
            </a:pPr>
            <a:r>
              <a:rPr lang="en-US" sz="1360" dirty="0">
                <a:solidFill>
                  <a:srgbClr val="80DDD5"/>
                </a:solidFill>
                <a:latin typeface="Courier New" pitchFamily="34" charset="0"/>
                <a:ea typeface="Courier New" pitchFamily="34" charset="-122"/>
                <a:cs typeface="Courier New" pitchFamily="34" charset="-120"/>
              </a:rPr>
              <a:t>USER area-lab</a:t>
            </a:r>
            <a:endParaRPr lang="en-US" sz="1360" dirty="0"/>
          </a:p>
        </p:txBody>
      </p:sp>
      <p:sp>
        <p:nvSpPr>
          <p:cNvPr id="9" name="Text 6"/>
          <p:cNvSpPr/>
          <p:nvPr/>
        </p:nvSpPr>
        <p:spPr>
          <a:xfrm>
            <a:off x="859536" y="2743200"/>
            <a:ext cx="6556248" cy="310896"/>
          </a:xfrm>
          <a:prstGeom prst="rect">
            <a:avLst/>
          </a:prstGeom>
          <a:noFill/>
          <a:ln/>
        </p:spPr>
        <p:txBody>
          <a:bodyPr wrap="square" lIns="0" tIns="0" rIns="0" bIns="0" rtlCol="0" anchor="t"/>
          <a:lstStyle/>
          <a:p>
            <a:pPr indent="0" marL="0">
              <a:buNone/>
            </a:pPr>
            <a:r>
              <a:rPr lang="en-US" sz="1360" dirty="0">
                <a:solidFill>
                  <a:srgbClr val="80DDD5"/>
                </a:solidFill>
                <a:latin typeface="Courier New" pitchFamily="34" charset="0"/>
                <a:ea typeface="Courier New" pitchFamily="34" charset="-122"/>
                <a:cs typeface="Courier New" pitchFamily="34" charset="-120"/>
              </a:rPr>
              <a:t>RUN python /app/scripts/check_toolchain.py</a:t>
            </a:r>
            <a:endParaRPr lang="en-US" sz="1360" dirty="0"/>
          </a:p>
        </p:txBody>
      </p:sp>
      <p:sp>
        <p:nvSpPr>
          <p:cNvPr id="10" name="Text 7"/>
          <p:cNvSpPr/>
          <p:nvPr/>
        </p:nvSpPr>
        <p:spPr>
          <a:xfrm>
            <a:off x="859536" y="3054096"/>
            <a:ext cx="6556248" cy="310896"/>
          </a:xfrm>
          <a:prstGeom prst="rect">
            <a:avLst/>
          </a:prstGeom>
          <a:noFill/>
          <a:ln/>
        </p:spPr>
        <p:txBody>
          <a:bodyPr wrap="square" lIns="0" tIns="0" rIns="0" bIns="0" rtlCol="0" anchor="t"/>
          <a:lstStyle/>
          <a:p>
            <a:pPr indent="0" marL="0">
              <a:buNone/>
            </a:pPr>
            <a:endParaRPr lang="en-US" sz="1360" dirty="0"/>
          </a:p>
        </p:txBody>
      </p:sp>
      <p:sp>
        <p:nvSpPr>
          <p:cNvPr id="11" name="Text 8"/>
          <p:cNvSpPr/>
          <p:nvPr/>
        </p:nvSpPr>
        <p:spPr>
          <a:xfrm>
            <a:off x="859536" y="3364992"/>
            <a:ext cx="6556248" cy="310896"/>
          </a:xfrm>
          <a:prstGeom prst="rect">
            <a:avLst/>
          </a:prstGeom>
          <a:noFill/>
          <a:ln/>
        </p:spPr>
        <p:txBody>
          <a:bodyPr wrap="square" lIns="0" tIns="0" rIns="0" bIns="0" rtlCol="0" anchor="t"/>
          <a:lstStyle/>
          <a:p>
            <a:pPr indent="0" marL="0">
              <a:buNone/>
            </a:pPr>
            <a:r>
              <a:rPr lang="en-US" sz="1360" dirty="0">
                <a:solidFill>
                  <a:srgbClr val="E0B76B"/>
                </a:solidFill>
                <a:latin typeface="Courier New" pitchFamily="34" charset="0"/>
                <a:ea typeface="Courier New" pitchFamily="34" charset="-122"/>
                <a:cs typeface="Courier New" pitchFamily="34" charset="-120"/>
              </a:rPr>
              <a:t># Verifica: compilador + enlace nativo</a:t>
            </a:r>
            <a:endParaRPr lang="en-US" sz="1360" dirty="0"/>
          </a:p>
        </p:txBody>
      </p:sp>
      <p:sp>
        <p:nvSpPr>
          <p:cNvPr id="12" name="Text 9"/>
          <p:cNvSpPr/>
          <p:nvPr/>
        </p:nvSpPr>
        <p:spPr>
          <a:xfrm>
            <a:off x="859536" y="3675888"/>
            <a:ext cx="6556248" cy="310896"/>
          </a:xfrm>
          <a:prstGeom prst="rect">
            <a:avLst/>
          </a:prstGeom>
          <a:noFill/>
          <a:ln/>
        </p:spPr>
        <p:txBody>
          <a:bodyPr wrap="square" lIns="0" tIns="0" rIns="0" bIns="0" rtlCol="0" anchor="t"/>
          <a:lstStyle/>
          <a:p>
            <a:pPr indent="0" marL="0">
              <a:buNone/>
            </a:pPr>
            <a:r>
              <a:rPr lang="en-US" sz="1360" dirty="0">
                <a:solidFill>
                  <a:srgbClr val="E0B76B"/>
                </a:solidFill>
                <a:latin typeface="Courier New" pitchFamily="34" charset="0"/>
                <a:ea typeface="Courier New" pitchFamily="34" charset="-122"/>
                <a:cs typeface="Courier New" pitchFamily="34" charset="-120"/>
              </a:rPr>
              <a:t># GHDL: análisis → elaboración → simulación → Verilog</a:t>
            </a:r>
            <a:endParaRPr lang="en-US" sz="1360" dirty="0"/>
          </a:p>
        </p:txBody>
      </p:sp>
      <p:sp>
        <p:nvSpPr>
          <p:cNvPr id="13" name="Shape 10"/>
          <p:cNvSpPr/>
          <p:nvPr/>
        </p:nvSpPr>
        <p:spPr>
          <a:xfrm>
            <a:off x="7845552" y="1920240"/>
            <a:ext cx="3657600" cy="3767328"/>
          </a:xfrm>
          <a:prstGeom prst="roundRect">
            <a:avLst>
              <a:gd name="adj" fmla="val 2000"/>
            </a:avLst>
          </a:prstGeom>
          <a:solidFill>
            <a:srgbClr val="FFFFFF"/>
          </a:solidFill>
          <a:ln w="8255">
            <a:solidFill>
              <a:srgbClr val="D9E2E9"/>
            </a:solidFill>
            <a:prstDash val="solid"/>
          </a:ln>
        </p:spPr>
      </p:sp>
      <p:sp>
        <p:nvSpPr>
          <p:cNvPr id="14" name="Text 11"/>
          <p:cNvSpPr/>
          <p:nvPr/>
        </p:nvSpPr>
        <p:spPr>
          <a:xfrm>
            <a:off x="8074152" y="2148840"/>
            <a:ext cx="3218688" cy="320040"/>
          </a:xfrm>
          <a:prstGeom prst="rect">
            <a:avLst/>
          </a:prstGeom>
          <a:noFill/>
          <a:ln/>
        </p:spPr>
        <p:txBody>
          <a:bodyPr wrap="square" lIns="0" tIns="0" rIns="0" bIns="0" rtlCol="0" anchor="t"/>
          <a:lstStyle/>
          <a:p>
            <a:pPr indent="0" marL="0">
              <a:buNone/>
            </a:pPr>
            <a:r>
              <a:rPr lang="en-US" sz="1200" b="1" spc="70" kern="0" dirty="0">
                <a:solidFill>
                  <a:srgbClr val="007C83"/>
                </a:solidFill>
                <a:latin typeface="Arial" pitchFamily="34" charset="0"/>
                <a:ea typeface="Arial" pitchFamily="34" charset="-122"/>
                <a:cs typeface="Arial" pitchFamily="34" charset="-120"/>
              </a:rPr>
              <a:t>CÓMO INTERPRETARLO</a:t>
            </a:r>
            <a:endParaRPr lang="en-US" sz="1200" dirty="0"/>
          </a:p>
        </p:txBody>
      </p:sp>
      <p:sp>
        <p:nvSpPr>
          <p:cNvPr id="15" name="Text 12"/>
          <p:cNvSpPr/>
          <p:nvPr/>
        </p:nvSpPr>
        <p:spPr>
          <a:xfrm>
            <a:off x="8074152" y="2743200"/>
            <a:ext cx="3182112" cy="2688336"/>
          </a:xfrm>
          <a:prstGeom prst="rect">
            <a:avLst/>
          </a:prstGeom>
          <a:noFill/>
          <a:ln/>
        </p:spPr>
        <p:txBody>
          <a:bodyPr wrap="square" lIns="0" tIns="0" rIns="0" bIns="0" rtlCol="0" anchor="t"/>
          <a:lstStyle/>
          <a:p>
            <a:pPr indent="0" marL="0">
              <a:buNone/>
            </a:pPr>
            <a:r>
              <a:rPr lang="en-US" sz="1700" dirty="0">
                <a:solidFill>
                  <a:srgbClr val="14293B"/>
                </a:solidFill>
                <a:latin typeface="Arial" pitchFamily="34" charset="0"/>
                <a:ea typeface="Arial" pitchFamily="34" charset="-122"/>
                <a:cs typeface="Arial" pitchFamily="34" charset="-120"/>
              </a:rPr>
              <a:t>Un smoke test de instalación.</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Detecta cc ausente y problemas de enlace.</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Falla el build si el toolchain está roto.</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No ejecuta la matriz de DPU.</a:t>
            </a:r>
            <a:endParaRPr lang="en-US" sz="1700" dirty="0"/>
          </a:p>
        </p:txBody>
      </p:sp>
      <p:sp>
        <p:nvSpPr>
          <p:cNvPr id="16" name="Shape 13"/>
          <p:cNvSpPr/>
          <p:nvPr/>
        </p:nvSpPr>
        <p:spPr>
          <a:xfrm>
            <a:off x="585216" y="6492240"/>
            <a:ext cx="11009376" cy="0"/>
          </a:xfrm>
          <a:prstGeom prst="line">
            <a:avLst/>
          </a:prstGeom>
          <a:noFill/>
          <a:ln w="8890">
            <a:solidFill>
              <a:srgbClr val="D9E2E9"/>
            </a:solidFill>
            <a:prstDash val="solid"/>
            <a:headEnd type="none"/>
            <a:tailEnd type="none"/>
          </a:ln>
        </p:spPr>
      </p:sp>
      <p:sp>
        <p:nvSpPr>
          <p:cNvPr id="17" name="Text 14"/>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Dockerfile · scripts/check_toolchain.py</a:t>
            </a:r>
            <a:endParaRPr lang="en-US" sz="870" dirty="0"/>
          </a:p>
        </p:txBody>
      </p:sp>
      <p:sp>
        <p:nvSpPr>
          <p:cNvPr id="18" name="Text 15"/>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44 / 53</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ANEXO TÉCNICO</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Anexo H · Cómo repetir la auditoría sin sintetizar</a:t>
            </a:r>
            <a:endParaRPr lang="en-US" sz="2800" dirty="0"/>
          </a:p>
        </p:txBody>
      </p:sp>
      <p:sp>
        <p:nvSpPr>
          <p:cNvPr id="6" name="Shape 3"/>
          <p:cNvSpPr/>
          <p:nvPr/>
        </p:nvSpPr>
        <p:spPr>
          <a:xfrm>
            <a:off x="685800" y="1920240"/>
            <a:ext cx="6903720" cy="3767328"/>
          </a:xfrm>
          <a:prstGeom prst="roundRect">
            <a:avLst>
              <a:gd name="adj" fmla="val 2427"/>
            </a:avLst>
          </a:prstGeom>
          <a:solidFill>
            <a:srgbClr val="102331"/>
          </a:solidFill>
          <a:ln w="8255">
            <a:solidFill>
              <a:srgbClr val="102331"/>
            </a:solidFill>
            <a:prstDash val="solid"/>
          </a:ln>
        </p:spPr>
      </p:sp>
      <p:sp>
        <p:nvSpPr>
          <p:cNvPr id="7" name="Text 4"/>
          <p:cNvSpPr/>
          <p:nvPr/>
        </p:nvSpPr>
        <p:spPr>
          <a:xfrm>
            <a:off x="859536" y="2121408"/>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python3 docs/presentaciones/revision_pipeline_2026-10-19/\</a:t>
            </a:r>
            <a:endParaRPr lang="en-US" sz="1360" dirty="0"/>
          </a:p>
        </p:txBody>
      </p:sp>
      <p:sp>
        <p:nvSpPr>
          <p:cNvPr id="8" name="Text 5"/>
          <p:cNvSpPr/>
          <p:nvPr/>
        </p:nvSpPr>
        <p:spPr>
          <a:xfrm>
            <a:off x="859536" y="2432304"/>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  auditar_evidencias.py</a:t>
            </a:r>
            <a:endParaRPr lang="en-US" sz="1360" dirty="0"/>
          </a:p>
        </p:txBody>
      </p:sp>
      <p:sp>
        <p:nvSpPr>
          <p:cNvPr id="9" name="Text 6"/>
          <p:cNvSpPr/>
          <p:nvPr/>
        </p:nvSpPr>
        <p:spPr>
          <a:xfrm>
            <a:off x="859536" y="2743200"/>
            <a:ext cx="6556248" cy="310896"/>
          </a:xfrm>
          <a:prstGeom prst="rect">
            <a:avLst/>
          </a:prstGeom>
          <a:noFill/>
          <a:ln/>
        </p:spPr>
        <p:txBody>
          <a:bodyPr wrap="square" lIns="0" tIns="0" rIns="0" bIns="0" rtlCol="0" anchor="t"/>
          <a:lstStyle/>
          <a:p>
            <a:pPr indent="0" marL="0">
              <a:buNone/>
            </a:pPr>
            <a:endParaRPr lang="en-US" sz="1360" dirty="0"/>
          </a:p>
        </p:txBody>
      </p:sp>
      <p:sp>
        <p:nvSpPr>
          <p:cNvPr id="10" name="Text 7"/>
          <p:cNvSpPr/>
          <p:nvPr/>
        </p:nvSpPr>
        <p:spPr>
          <a:xfrm>
            <a:off x="859536" y="3054096"/>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.venv/bin/pytest backend/tests -m "not integration" \</a:t>
            </a:r>
            <a:endParaRPr lang="en-US" sz="1360" dirty="0"/>
          </a:p>
        </p:txBody>
      </p:sp>
      <p:sp>
        <p:nvSpPr>
          <p:cNvPr id="11" name="Text 8"/>
          <p:cNvSpPr/>
          <p:nvPr/>
        </p:nvSpPr>
        <p:spPr>
          <a:xfrm>
            <a:off x="859536" y="3364992"/>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  -q -p no:cacheprovider</a:t>
            </a:r>
            <a:endParaRPr lang="en-US" sz="1360" dirty="0"/>
          </a:p>
        </p:txBody>
      </p:sp>
      <p:sp>
        <p:nvSpPr>
          <p:cNvPr id="12" name="Text 9"/>
          <p:cNvSpPr/>
          <p:nvPr/>
        </p:nvSpPr>
        <p:spPr>
          <a:xfrm>
            <a:off x="859536" y="3675888"/>
            <a:ext cx="6556248" cy="310896"/>
          </a:xfrm>
          <a:prstGeom prst="rect">
            <a:avLst/>
          </a:prstGeom>
          <a:noFill/>
          <a:ln/>
        </p:spPr>
        <p:txBody>
          <a:bodyPr wrap="square" lIns="0" tIns="0" rIns="0" bIns="0" rtlCol="0" anchor="t"/>
          <a:lstStyle/>
          <a:p>
            <a:pPr indent="0" marL="0">
              <a:buNone/>
            </a:pPr>
            <a:endParaRPr lang="en-US" sz="1360" dirty="0"/>
          </a:p>
        </p:txBody>
      </p:sp>
      <p:sp>
        <p:nvSpPr>
          <p:cNvPr id="13" name="Text 10"/>
          <p:cNvSpPr/>
          <p:nvPr/>
        </p:nvSpPr>
        <p:spPr>
          <a:xfrm>
            <a:off x="859536" y="3986784"/>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cd frontend</a:t>
            </a:r>
            <a:endParaRPr lang="en-US" sz="1360" dirty="0"/>
          </a:p>
        </p:txBody>
      </p:sp>
      <p:sp>
        <p:nvSpPr>
          <p:cNvPr id="14" name="Text 11"/>
          <p:cNvSpPr/>
          <p:nvPr/>
        </p:nvSpPr>
        <p:spPr>
          <a:xfrm>
            <a:off x="859536" y="4297680"/>
            <a:ext cx="6556248" cy="310896"/>
          </a:xfrm>
          <a:prstGeom prst="rect">
            <a:avLst/>
          </a:prstGeom>
          <a:noFill/>
          <a:ln/>
        </p:spPr>
        <p:txBody>
          <a:bodyPr wrap="square" lIns="0" tIns="0" rIns="0" bIns="0" rtlCol="0" anchor="t"/>
          <a:lstStyle/>
          <a:p>
            <a:pPr indent="0" marL="0">
              <a:buNone/>
            </a:pPr>
            <a:r>
              <a:rPr lang="en-US" sz="1360" dirty="0">
                <a:solidFill>
                  <a:srgbClr val="EAF2F7"/>
                </a:solidFill>
                <a:latin typeface="Courier New" pitchFamily="34" charset="0"/>
                <a:ea typeface="Courier New" pitchFamily="34" charset="-122"/>
                <a:cs typeface="Courier New" pitchFamily="34" charset="-120"/>
              </a:rPr>
              <a:t>npm test</a:t>
            </a:r>
            <a:endParaRPr lang="en-US" sz="1360" dirty="0"/>
          </a:p>
        </p:txBody>
      </p:sp>
      <p:sp>
        <p:nvSpPr>
          <p:cNvPr id="15" name="Shape 12"/>
          <p:cNvSpPr/>
          <p:nvPr/>
        </p:nvSpPr>
        <p:spPr>
          <a:xfrm>
            <a:off x="7845552" y="1920240"/>
            <a:ext cx="3657600" cy="3767328"/>
          </a:xfrm>
          <a:prstGeom prst="roundRect">
            <a:avLst>
              <a:gd name="adj" fmla="val 2000"/>
            </a:avLst>
          </a:prstGeom>
          <a:solidFill>
            <a:srgbClr val="FFFFFF"/>
          </a:solidFill>
          <a:ln w="8255">
            <a:solidFill>
              <a:srgbClr val="D9E2E9"/>
            </a:solidFill>
            <a:prstDash val="solid"/>
          </a:ln>
        </p:spPr>
      </p:sp>
      <p:sp>
        <p:nvSpPr>
          <p:cNvPr id="16" name="Text 13"/>
          <p:cNvSpPr/>
          <p:nvPr/>
        </p:nvSpPr>
        <p:spPr>
          <a:xfrm>
            <a:off x="8074152" y="2148840"/>
            <a:ext cx="3218688" cy="320040"/>
          </a:xfrm>
          <a:prstGeom prst="rect">
            <a:avLst/>
          </a:prstGeom>
          <a:noFill/>
          <a:ln/>
        </p:spPr>
        <p:txBody>
          <a:bodyPr wrap="square" lIns="0" tIns="0" rIns="0" bIns="0" rtlCol="0" anchor="t"/>
          <a:lstStyle/>
          <a:p>
            <a:pPr indent="0" marL="0">
              <a:buNone/>
            </a:pPr>
            <a:r>
              <a:rPr lang="en-US" sz="1200" b="1" spc="70" kern="0" dirty="0">
                <a:solidFill>
                  <a:srgbClr val="007C83"/>
                </a:solidFill>
                <a:latin typeface="Arial" pitchFamily="34" charset="0"/>
                <a:ea typeface="Arial" pitchFamily="34" charset="-122"/>
                <a:cs typeface="Arial" pitchFamily="34" charset="-120"/>
              </a:rPr>
              <a:t>CÓMO INTERPRETARLO</a:t>
            </a:r>
            <a:endParaRPr lang="en-US" sz="1200" dirty="0"/>
          </a:p>
        </p:txBody>
      </p:sp>
      <p:sp>
        <p:nvSpPr>
          <p:cNvPr id="17" name="Text 14"/>
          <p:cNvSpPr/>
          <p:nvPr/>
        </p:nvSpPr>
        <p:spPr>
          <a:xfrm>
            <a:off x="8074152" y="2743200"/>
            <a:ext cx="3182112" cy="2688336"/>
          </a:xfrm>
          <a:prstGeom prst="rect">
            <a:avLst/>
          </a:prstGeom>
          <a:noFill/>
          <a:ln/>
        </p:spPr>
        <p:txBody>
          <a:bodyPr wrap="square" lIns="0" tIns="0" rIns="0" bIns="0" rtlCol="0" anchor="t"/>
          <a:lstStyle/>
          <a:p>
            <a:pPr indent="0" marL="0">
              <a:buNone/>
            </a:pPr>
            <a:r>
              <a:rPr lang="en-US" sz="1700" dirty="0">
                <a:solidFill>
                  <a:srgbClr val="14293B"/>
                </a:solidFill>
                <a:latin typeface="Arial" pitchFamily="34" charset="0"/>
                <a:ea typeface="Arial" pitchFamily="34" charset="-122"/>
                <a:cs typeface="Arial" pitchFamily="34" charset="-120"/>
              </a:rPr>
              <a:t>Auditoría: 30 paquetes coherentes.</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Pruebas ligeras: 20 backend.</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Contratos e interfaz: 42 frontend.</a:t>
            </a:r>
            <a:endParaRPr lang="en-US" sz="1700" dirty="0"/>
          </a:p>
          <a:p>
            <a:pPr indent="0" marL="0">
              <a:buNone/>
            </a:pPr>
            <a:endParaRPr lang="en-US" sz="1700" dirty="0"/>
          </a:p>
          <a:p>
            <a:pPr indent="0" marL="0">
              <a:buNone/>
            </a:pPr>
            <a:r>
              <a:rPr lang="en-US" sz="1700" dirty="0">
                <a:solidFill>
                  <a:srgbClr val="14293B"/>
                </a:solidFill>
                <a:latin typeface="Arial" pitchFamily="34" charset="0"/>
                <a:ea typeface="Arial" pitchFamily="34" charset="-122"/>
                <a:cs typeface="Arial" pitchFamily="34" charset="-120"/>
              </a:rPr>
              <a:t>Sin nuevas síntesis ni prueba de navegador.</a:t>
            </a:r>
            <a:endParaRPr lang="en-US" sz="1700" dirty="0"/>
          </a:p>
        </p:txBody>
      </p:sp>
      <p:sp>
        <p:nvSpPr>
          <p:cNvPr id="18" name="Shape 15"/>
          <p:cNvSpPr/>
          <p:nvPr/>
        </p:nvSpPr>
        <p:spPr>
          <a:xfrm>
            <a:off x="585216" y="6492240"/>
            <a:ext cx="11009376" cy="0"/>
          </a:xfrm>
          <a:prstGeom prst="line">
            <a:avLst/>
          </a:prstGeom>
          <a:noFill/>
          <a:ln w="8890">
            <a:solidFill>
              <a:srgbClr val="D9E2E9"/>
            </a:solidFill>
            <a:prstDash val="solid"/>
            <a:headEnd type="none"/>
            <a:tailEnd type="none"/>
          </a:ln>
        </p:spPr>
      </p:sp>
      <p:sp>
        <p:nvSpPr>
          <p:cNvPr id="19" name="Text 16"/>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Evidencia local | auditar_evidencias.py · backend/tests · frontend/src/**/*.test.*</a:t>
            </a:r>
            <a:endParaRPr lang="en-US" sz="870" dirty="0"/>
          </a:p>
        </p:txBody>
      </p:sp>
      <p:sp>
        <p:nvSpPr>
          <p:cNvPr id="20" name="Text 17"/>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45 / 53</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ANEXO TÉCNICO</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Anexo I · El backend coordina y persiste; las herramientas EDA calculan</a:t>
            </a:r>
            <a:endParaRPr lang="en-US" sz="2800" dirty="0"/>
          </a:p>
        </p:txBody>
      </p:sp>
      <p:sp>
        <p:nvSpPr>
          <p:cNvPr id="6" name="Shape 3"/>
          <p:cNvSpPr/>
          <p:nvPr/>
        </p:nvSpPr>
        <p:spPr>
          <a:xfrm>
            <a:off x="685800" y="1874520"/>
            <a:ext cx="2331720" cy="429768"/>
          </a:xfrm>
          <a:prstGeom prst="rect">
            <a:avLst/>
          </a:prstGeom>
          <a:solidFill>
            <a:srgbClr val="14293B"/>
          </a:solidFill>
          <a:ln w="8255">
            <a:solidFill>
              <a:srgbClr val="F5F6F8"/>
            </a:solidFill>
            <a:prstDash val="solid"/>
          </a:ln>
        </p:spPr>
      </p:sp>
      <p:sp>
        <p:nvSpPr>
          <p:cNvPr id="7" name="Text 4"/>
          <p:cNvSpPr/>
          <p:nvPr/>
        </p:nvSpPr>
        <p:spPr>
          <a:xfrm>
            <a:off x="777240" y="1938528"/>
            <a:ext cx="214884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Tecnología</a:t>
            </a:r>
            <a:endParaRPr lang="en-US" sz="1350" dirty="0"/>
          </a:p>
        </p:txBody>
      </p:sp>
      <p:sp>
        <p:nvSpPr>
          <p:cNvPr id="8" name="Shape 5"/>
          <p:cNvSpPr/>
          <p:nvPr/>
        </p:nvSpPr>
        <p:spPr>
          <a:xfrm>
            <a:off x="3017520" y="1874520"/>
            <a:ext cx="3749040" cy="429768"/>
          </a:xfrm>
          <a:prstGeom prst="rect">
            <a:avLst/>
          </a:prstGeom>
          <a:solidFill>
            <a:srgbClr val="14293B"/>
          </a:solidFill>
          <a:ln w="8255">
            <a:solidFill>
              <a:srgbClr val="F5F6F8"/>
            </a:solidFill>
            <a:prstDash val="solid"/>
          </a:ln>
        </p:spPr>
      </p:sp>
      <p:sp>
        <p:nvSpPr>
          <p:cNvPr id="9" name="Text 6"/>
          <p:cNvSpPr/>
          <p:nvPr/>
        </p:nvSpPr>
        <p:spPr>
          <a:xfrm>
            <a:off x="3108960" y="1938528"/>
            <a:ext cx="356616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Función</a:t>
            </a:r>
            <a:endParaRPr lang="en-US" sz="1350" dirty="0"/>
          </a:p>
        </p:txBody>
      </p:sp>
      <p:sp>
        <p:nvSpPr>
          <p:cNvPr id="10" name="Shape 7"/>
          <p:cNvSpPr/>
          <p:nvPr/>
        </p:nvSpPr>
        <p:spPr>
          <a:xfrm>
            <a:off x="6766560" y="1874520"/>
            <a:ext cx="4206240" cy="429768"/>
          </a:xfrm>
          <a:prstGeom prst="rect">
            <a:avLst/>
          </a:prstGeom>
          <a:solidFill>
            <a:srgbClr val="14293B"/>
          </a:solidFill>
          <a:ln w="8255">
            <a:solidFill>
              <a:srgbClr val="F5F6F8"/>
            </a:solidFill>
            <a:prstDash val="solid"/>
          </a:ln>
        </p:spPr>
      </p:sp>
      <p:sp>
        <p:nvSpPr>
          <p:cNvPr id="11" name="Text 8"/>
          <p:cNvSpPr/>
          <p:nvPr/>
        </p:nvSpPr>
        <p:spPr>
          <a:xfrm>
            <a:off x="6858000" y="1938528"/>
            <a:ext cx="402336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Uso concreto en el programa</a:t>
            </a:r>
            <a:endParaRPr lang="en-US" sz="1350" dirty="0"/>
          </a:p>
        </p:txBody>
      </p:sp>
      <p:sp>
        <p:nvSpPr>
          <p:cNvPr id="12" name="Shape 9"/>
          <p:cNvSpPr/>
          <p:nvPr/>
        </p:nvSpPr>
        <p:spPr>
          <a:xfrm>
            <a:off x="685800" y="2304288"/>
            <a:ext cx="2331720" cy="685800"/>
          </a:xfrm>
          <a:prstGeom prst="rect">
            <a:avLst/>
          </a:prstGeom>
          <a:solidFill>
            <a:srgbClr val="FFFFFF"/>
          </a:solidFill>
          <a:ln w="8255">
            <a:solidFill>
              <a:srgbClr val="F5F6F8"/>
            </a:solidFill>
            <a:prstDash val="solid"/>
          </a:ln>
        </p:spPr>
      </p:sp>
      <p:sp>
        <p:nvSpPr>
          <p:cNvPr id="13" name="Text 10"/>
          <p:cNvSpPr/>
          <p:nvPr/>
        </p:nvSpPr>
        <p:spPr>
          <a:xfrm>
            <a:off x="777240" y="2368296"/>
            <a:ext cx="214884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Python</a:t>
            </a:r>
            <a:endParaRPr lang="en-US" sz="1600" dirty="0"/>
          </a:p>
        </p:txBody>
      </p:sp>
      <p:sp>
        <p:nvSpPr>
          <p:cNvPr id="14" name="Shape 11"/>
          <p:cNvSpPr/>
          <p:nvPr/>
        </p:nvSpPr>
        <p:spPr>
          <a:xfrm>
            <a:off x="3017520" y="2304288"/>
            <a:ext cx="3749040" cy="685800"/>
          </a:xfrm>
          <a:prstGeom prst="rect">
            <a:avLst/>
          </a:prstGeom>
          <a:solidFill>
            <a:srgbClr val="FFFFFF"/>
          </a:solidFill>
          <a:ln w="8255">
            <a:solidFill>
              <a:srgbClr val="F5F6F8"/>
            </a:solidFill>
            <a:prstDash val="solid"/>
          </a:ln>
        </p:spPr>
      </p:sp>
      <p:sp>
        <p:nvSpPr>
          <p:cNvPr id="15" name="Text 12"/>
          <p:cNvSpPr/>
          <p:nvPr/>
        </p:nvSpPr>
        <p:spPr>
          <a:xfrm>
            <a:off x="3108960" y="2368296"/>
            <a:ext cx="35661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Orquestación y cálculo</a:t>
            </a:r>
            <a:endParaRPr lang="en-US" sz="1600" dirty="0"/>
          </a:p>
        </p:txBody>
      </p:sp>
      <p:sp>
        <p:nvSpPr>
          <p:cNvPr id="16" name="Shape 13"/>
          <p:cNvSpPr/>
          <p:nvPr/>
        </p:nvSpPr>
        <p:spPr>
          <a:xfrm>
            <a:off x="6766560" y="2304288"/>
            <a:ext cx="4206240" cy="685800"/>
          </a:xfrm>
          <a:prstGeom prst="rect">
            <a:avLst/>
          </a:prstGeom>
          <a:solidFill>
            <a:srgbClr val="FFFFFF"/>
          </a:solidFill>
          <a:ln w="8255">
            <a:solidFill>
              <a:srgbClr val="F5F6F8"/>
            </a:solidFill>
            <a:prstDash val="solid"/>
          </a:ln>
        </p:spPr>
      </p:sp>
      <p:sp>
        <p:nvSpPr>
          <p:cNvPr id="17" name="Text 14"/>
          <p:cNvSpPr/>
          <p:nvPr/>
        </p:nvSpPr>
        <p:spPr>
          <a:xfrm>
            <a:off x="6858000" y="2368296"/>
            <a:ext cx="40233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services.py, synthesis.py, liberty.py</a:t>
            </a:r>
            <a:endParaRPr lang="en-US" sz="1600" dirty="0"/>
          </a:p>
        </p:txBody>
      </p:sp>
      <p:sp>
        <p:nvSpPr>
          <p:cNvPr id="18" name="Shape 15"/>
          <p:cNvSpPr/>
          <p:nvPr/>
        </p:nvSpPr>
        <p:spPr>
          <a:xfrm>
            <a:off x="685800" y="2990088"/>
            <a:ext cx="2331720" cy="685800"/>
          </a:xfrm>
          <a:prstGeom prst="rect">
            <a:avLst/>
          </a:prstGeom>
          <a:solidFill>
            <a:srgbClr val="EAF0F5"/>
          </a:solidFill>
          <a:ln w="8255">
            <a:solidFill>
              <a:srgbClr val="F5F6F8"/>
            </a:solidFill>
            <a:prstDash val="solid"/>
          </a:ln>
        </p:spPr>
      </p:sp>
      <p:sp>
        <p:nvSpPr>
          <p:cNvPr id="19" name="Text 16"/>
          <p:cNvSpPr/>
          <p:nvPr/>
        </p:nvSpPr>
        <p:spPr>
          <a:xfrm>
            <a:off x="777240" y="3054096"/>
            <a:ext cx="214884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Uvicorn / ASGI</a:t>
            </a:r>
            <a:endParaRPr lang="en-US" sz="1600" dirty="0"/>
          </a:p>
        </p:txBody>
      </p:sp>
      <p:sp>
        <p:nvSpPr>
          <p:cNvPr id="20" name="Shape 17"/>
          <p:cNvSpPr/>
          <p:nvPr/>
        </p:nvSpPr>
        <p:spPr>
          <a:xfrm>
            <a:off x="3017520" y="2990088"/>
            <a:ext cx="3749040" cy="685800"/>
          </a:xfrm>
          <a:prstGeom prst="rect">
            <a:avLst/>
          </a:prstGeom>
          <a:solidFill>
            <a:srgbClr val="EAF0F5"/>
          </a:solidFill>
          <a:ln w="8255">
            <a:solidFill>
              <a:srgbClr val="F5F6F8"/>
            </a:solidFill>
            <a:prstDash val="solid"/>
          </a:ln>
        </p:spPr>
      </p:sp>
      <p:sp>
        <p:nvSpPr>
          <p:cNvPr id="21" name="Text 18"/>
          <p:cNvSpPr/>
          <p:nvPr/>
        </p:nvSpPr>
        <p:spPr>
          <a:xfrm>
            <a:off x="3108960" y="3054096"/>
            <a:ext cx="35661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Servidor HTTP del proceso</a:t>
            </a:r>
            <a:endParaRPr lang="en-US" sz="1600" dirty="0"/>
          </a:p>
        </p:txBody>
      </p:sp>
      <p:sp>
        <p:nvSpPr>
          <p:cNvPr id="22" name="Shape 19"/>
          <p:cNvSpPr/>
          <p:nvPr/>
        </p:nvSpPr>
        <p:spPr>
          <a:xfrm>
            <a:off x="6766560" y="2990088"/>
            <a:ext cx="4206240" cy="685800"/>
          </a:xfrm>
          <a:prstGeom prst="rect">
            <a:avLst/>
          </a:prstGeom>
          <a:solidFill>
            <a:srgbClr val="EAF0F5"/>
          </a:solidFill>
          <a:ln w="8255">
            <a:solidFill>
              <a:srgbClr val="F5F6F8"/>
            </a:solidFill>
            <a:prstDash val="solid"/>
          </a:ln>
        </p:spPr>
      </p:sp>
      <p:sp>
        <p:nvSpPr>
          <p:cNvPr id="23" name="Text 20"/>
          <p:cNvSpPr/>
          <p:nvPr/>
        </p:nvSpPr>
        <p:spPr>
          <a:xfrm>
            <a:off x="6858000" y="3054096"/>
            <a:ext cx="40233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Docker CMD; un worker HTTP</a:t>
            </a:r>
            <a:endParaRPr lang="en-US" sz="1600" dirty="0"/>
          </a:p>
        </p:txBody>
      </p:sp>
      <p:sp>
        <p:nvSpPr>
          <p:cNvPr id="24" name="Shape 21"/>
          <p:cNvSpPr/>
          <p:nvPr/>
        </p:nvSpPr>
        <p:spPr>
          <a:xfrm>
            <a:off x="685800" y="3675888"/>
            <a:ext cx="2331720" cy="685800"/>
          </a:xfrm>
          <a:prstGeom prst="rect">
            <a:avLst/>
          </a:prstGeom>
          <a:solidFill>
            <a:srgbClr val="FFFFFF"/>
          </a:solidFill>
          <a:ln w="8255">
            <a:solidFill>
              <a:srgbClr val="F5F6F8"/>
            </a:solidFill>
            <a:prstDash val="solid"/>
          </a:ln>
        </p:spPr>
      </p:sp>
      <p:sp>
        <p:nvSpPr>
          <p:cNvPr id="25" name="Text 22"/>
          <p:cNvSpPr/>
          <p:nvPr/>
        </p:nvSpPr>
        <p:spPr>
          <a:xfrm>
            <a:off x="777240" y="3739896"/>
            <a:ext cx="214884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FastAPI + Pydantic</a:t>
            </a:r>
            <a:endParaRPr lang="en-US" sz="1600" dirty="0"/>
          </a:p>
        </p:txBody>
      </p:sp>
      <p:sp>
        <p:nvSpPr>
          <p:cNvPr id="26" name="Shape 23"/>
          <p:cNvSpPr/>
          <p:nvPr/>
        </p:nvSpPr>
        <p:spPr>
          <a:xfrm>
            <a:off x="3017520" y="3675888"/>
            <a:ext cx="3749040" cy="685800"/>
          </a:xfrm>
          <a:prstGeom prst="rect">
            <a:avLst/>
          </a:prstGeom>
          <a:solidFill>
            <a:srgbClr val="FFFFFF"/>
          </a:solidFill>
          <a:ln w="8255">
            <a:solidFill>
              <a:srgbClr val="F5F6F8"/>
            </a:solidFill>
            <a:prstDash val="solid"/>
          </a:ln>
        </p:spPr>
      </p:sp>
      <p:sp>
        <p:nvSpPr>
          <p:cNvPr id="27" name="Text 24"/>
          <p:cNvSpPr/>
          <p:nvPr/>
        </p:nvSpPr>
        <p:spPr>
          <a:xfrm>
            <a:off x="3108960" y="3739896"/>
            <a:ext cx="35661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Rutas y validación de solicitudes</a:t>
            </a:r>
            <a:endParaRPr lang="en-US" sz="1600" dirty="0"/>
          </a:p>
        </p:txBody>
      </p:sp>
      <p:sp>
        <p:nvSpPr>
          <p:cNvPr id="28" name="Shape 25"/>
          <p:cNvSpPr/>
          <p:nvPr/>
        </p:nvSpPr>
        <p:spPr>
          <a:xfrm>
            <a:off x="6766560" y="3675888"/>
            <a:ext cx="4206240" cy="685800"/>
          </a:xfrm>
          <a:prstGeom prst="rect">
            <a:avLst/>
          </a:prstGeom>
          <a:solidFill>
            <a:srgbClr val="FFFFFF"/>
          </a:solidFill>
          <a:ln w="8255">
            <a:solidFill>
              <a:srgbClr val="F5F6F8"/>
            </a:solidFill>
            <a:prstDash val="solid"/>
          </a:ln>
        </p:spPr>
      </p:sp>
      <p:sp>
        <p:nvSpPr>
          <p:cNvPr id="29" name="Text 26"/>
          <p:cNvSpPr/>
          <p:nvPr/>
        </p:nvSpPr>
        <p:spPr>
          <a:xfrm>
            <a:off x="6858000" y="3739896"/>
            <a:ext cx="40233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IDs enumerados; OpenAPI</a:t>
            </a:r>
            <a:endParaRPr lang="en-US" sz="1600" dirty="0"/>
          </a:p>
        </p:txBody>
      </p:sp>
      <p:sp>
        <p:nvSpPr>
          <p:cNvPr id="30" name="Shape 27"/>
          <p:cNvSpPr/>
          <p:nvPr/>
        </p:nvSpPr>
        <p:spPr>
          <a:xfrm>
            <a:off x="685800" y="4361688"/>
            <a:ext cx="2331720" cy="685800"/>
          </a:xfrm>
          <a:prstGeom prst="rect">
            <a:avLst/>
          </a:prstGeom>
          <a:solidFill>
            <a:srgbClr val="EAF0F5"/>
          </a:solidFill>
          <a:ln w="8255">
            <a:solidFill>
              <a:srgbClr val="F5F6F8"/>
            </a:solidFill>
            <a:prstDash val="solid"/>
          </a:ln>
        </p:spPr>
      </p:sp>
      <p:sp>
        <p:nvSpPr>
          <p:cNvPr id="31" name="Text 28"/>
          <p:cNvSpPr/>
          <p:nvPr/>
        </p:nvSpPr>
        <p:spPr>
          <a:xfrm>
            <a:off x="777240" y="4425696"/>
            <a:ext cx="214884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SQLite / WAL</a:t>
            </a:r>
            <a:endParaRPr lang="en-US" sz="1600" dirty="0"/>
          </a:p>
        </p:txBody>
      </p:sp>
      <p:sp>
        <p:nvSpPr>
          <p:cNvPr id="32" name="Shape 29"/>
          <p:cNvSpPr/>
          <p:nvPr/>
        </p:nvSpPr>
        <p:spPr>
          <a:xfrm>
            <a:off x="3017520" y="4361688"/>
            <a:ext cx="3749040" cy="685800"/>
          </a:xfrm>
          <a:prstGeom prst="rect">
            <a:avLst/>
          </a:prstGeom>
          <a:solidFill>
            <a:srgbClr val="EAF0F5"/>
          </a:solidFill>
          <a:ln w="8255">
            <a:solidFill>
              <a:srgbClr val="F5F6F8"/>
            </a:solidFill>
            <a:prstDash val="solid"/>
          </a:ln>
        </p:spPr>
      </p:sp>
      <p:sp>
        <p:nvSpPr>
          <p:cNvPr id="33" name="Text 30"/>
          <p:cNvSpPr/>
          <p:nvPr/>
        </p:nvSpPr>
        <p:spPr>
          <a:xfrm>
            <a:off x="3108960" y="4425696"/>
            <a:ext cx="35661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Base embebida persistente</a:t>
            </a:r>
            <a:endParaRPr lang="en-US" sz="1600" dirty="0"/>
          </a:p>
        </p:txBody>
      </p:sp>
      <p:sp>
        <p:nvSpPr>
          <p:cNvPr id="34" name="Shape 31"/>
          <p:cNvSpPr/>
          <p:nvPr/>
        </p:nvSpPr>
        <p:spPr>
          <a:xfrm>
            <a:off x="6766560" y="4361688"/>
            <a:ext cx="4206240" cy="685800"/>
          </a:xfrm>
          <a:prstGeom prst="rect">
            <a:avLst/>
          </a:prstGeom>
          <a:solidFill>
            <a:srgbClr val="EAF0F5"/>
          </a:solidFill>
          <a:ln w="8255">
            <a:solidFill>
              <a:srgbClr val="F5F6F8"/>
            </a:solidFill>
            <a:prstDash val="solid"/>
          </a:ln>
        </p:spPr>
      </p:sp>
      <p:sp>
        <p:nvSpPr>
          <p:cNvPr id="35" name="Text 32"/>
          <p:cNvSpPr/>
          <p:nvPr/>
        </p:nvSpPr>
        <p:spPr>
          <a:xfrm>
            <a:off x="6858000" y="4425696"/>
            <a:ext cx="40233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Estado y reportes por UUID</a:t>
            </a:r>
            <a:endParaRPr lang="en-US" sz="1600" dirty="0"/>
          </a:p>
        </p:txBody>
      </p:sp>
      <p:sp>
        <p:nvSpPr>
          <p:cNvPr id="36" name="Shape 33"/>
          <p:cNvSpPr/>
          <p:nvPr/>
        </p:nvSpPr>
        <p:spPr>
          <a:xfrm>
            <a:off x="685800" y="5047488"/>
            <a:ext cx="2331720" cy="685800"/>
          </a:xfrm>
          <a:prstGeom prst="rect">
            <a:avLst/>
          </a:prstGeom>
          <a:solidFill>
            <a:srgbClr val="FFFFFF"/>
          </a:solidFill>
          <a:ln w="8255">
            <a:solidFill>
              <a:srgbClr val="F5F6F8"/>
            </a:solidFill>
            <a:prstDash val="solid"/>
          </a:ln>
        </p:spPr>
      </p:sp>
      <p:sp>
        <p:nvSpPr>
          <p:cNvPr id="37" name="Text 34"/>
          <p:cNvSpPr/>
          <p:nvPr/>
        </p:nvSpPr>
        <p:spPr>
          <a:xfrm>
            <a:off x="777240" y="5111496"/>
            <a:ext cx="214884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Docker / Compose</a:t>
            </a:r>
            <a:endParaRPr lang="en-US" sz="1600" dirty="0"/>
          </a:p>
        </p:txBody>
      </p:sp>
      <p:sp>
        <p:nvSpPr>
          <p:cNvPr id="38" name="Shape 35"/>
          <p:cNvSpPr/>
          <p:nvPr/>
        </p:nvSpPr>
        <p:spPr>
          <a:xfrm>
            <a:off x="3017520" y="5047488"/>
            <a:ext cx="3749040" cy="685800"/>
          </a:xfrm>
          <a:prstGeom prst="rect">
            <a:avLst/>
          </a:prstGeom>
          <a:solidFill>
            <a:srgbClr val="FFFFFF"/>
          </a:solidFill>
          <a:ln w="8255">
            <a:solidFill>
              <a:srgbClr val="F5F6F8"/>
            </a:solidFill>
            <a:prstDash val="solid"/>
          </a:ln>
        </p:spPr>
      </p:sp>
      <p:sp>
        <p:nvSpPr>
          <p:cNvPr id="39" name="Text 36"/>
          <p:cNvSpPr/>
          <p:nvPr/>
        </p:nvSpPr>
        <p:spPr>
          <a:xfrm>
            <a:off x="3108960" y="5111496"/>
            <a:ext cx="35661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Entorno y límites declarados</a:t>
            </a:r>
            <a:endParaRPr lang="en-US" sz="1600" dirty="0"/>
          </a:p>
        </p:txBody>
      </p:sp>
      <p:sp>
        <p:nvSpPr>
          <p:cNvPr id="40" name="Shape 37"/>
          <p:cNvSpPr/>
          <p:nvPr/>
        </p:nvSpPr>
        <p:spPr>
          <a:xfrm>
            <a:off x="6766560" y="5047488"/>
            <a:ext cx="4206240" cy="685800"/>
          </a:xfrm>
          <a:prstGeom prst="rect">
            <a:avLst/>
          </a:prstGeom>
          <a:solidFill>
            <a:srgbClr val="FFFFFF"/>
          </a:solidFill>
          <a:ln w="8255">
            <a:solidFill>
              <a:srgbClr val="F5F6F8"/>
            </a:solidFill>
            <a:prstDash val="solid"/>
          </a:ln>
        </p:spPr>
      </p:sp>
      <p:sp>
        <p:nvSpPr>
          <p:cNvPr id="41" name="Text 38"/>
          <p:cNvSpPr/>
          <p:nvPr/>
        </p:nvSpPr>
        <p:spPr>
          <a:xfrm>
            <a:off x="6858000" y="5111496"/>
            <a:ext cx="40233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Imagen, volumen y recursos</a:t>
            </a:r>
            <a:endParaRPr lang="en-US" sz="1600" dirty="0"/>
          </a:p>
        </p:txBody>
      </p:sp>
      <p:sp>
        <p:nvSpPr>
          <p:cNvPr id="42" name="Shape 39"/>
          <p:cNvSpPr/>
          <p:nvPr/>
        </p:nvSpPr>
        <p:spPr>
          <a:xfrm>
            <a:off x="585216" y="6492240"/>
            <a:ext cx="11009376" cy="0"/>
          </a:xfrm>
          <a:prstGeom prst="line">
            <a:avLst/>
          </a:prstGeom>
          <a:noFill/>
          <a:ln w="8890">
            <a:solidFill>
              <a:srgbClr val="D9E2E9"/>
            </a:solidFill>
            <a:prstDash val="solid"/>
            <a:headEnd type="none"/>
            <a:tailEnd type="none"/>
          </a:ln>
        </p:spPr>
      </p:sp>
      <p:sp>
        <p:nvSpPr>
          <p:cNvPr id="43" name="Text 40"/>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F19 · F20 · F21 · F13 · F16 · F17 | Dockerfile · main.py · api/schemas.py · hooks.ts · shared/api.ts</a:t>
            </a:r>
            <a:endParaRPr lang="en-US" sz="870" dirty="0"/>
          </a:p>
        </p:txBody>
      </p:sp>
      <p:sp>
        <p:nvSpPr>
          <p:cNvPr id="44" name="Text 41"/>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46 / 53</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ANEXO TÉCNICO</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Anexo J · El frontend valida contratos y representa reportes reales</a:t>
            </a:r>
            <a:endParaRPr lang="en-US" sz="2800" dirty="0"/>
          </a:p>
        </p:txBody>
      </p:sp>
      <p:sp>
        <p:nvSpPr>
          <p:cNvPr id="6" name="Shape 3"/>
          <p:cNvSpPr/>
          <p:nvPr/>
        </p:nvSpPr>
        <p:spPr>
          <a:xfrm>
            <a:off x="685800" y="1874520"/>
            <a:ext cx="2331720" cy="429768"/>
          </a:xfrm>
          <a:prstGeom prst="rect">
            <a:avLst/>
          </a:prstGeom>
          <a:solidFill>
            <a:srgbClr val="14293B"/>
          </a:solidFill>
          <a:ln w="8255">
            <a:solidFill>
              <a:srgbClr val="F5F6F8"/>
            </a:solidFill>
            <a:prstDash val="solid"/>
          </a:ln>
        </p:spPr>
      </p:sp>
      <p:sp>
        <p:nvSpPr>
          <p:cNvPr id="7" name="Text 4"/>
          <p:cNvSpPr/>
          <p:nvPr/>
        </p:nvSpPr>
        <p:spPr>
          <a:xfrm>
            <a:off x="777240" y="1938528"/>
            <a:ext cx="214884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Tecnología</a:t>
            </a:r>
            <a:endParaRPr lang="en-US" sz="1350" dirty="0"/>
          </a:p>
        </p:txBody>
      </p:sp>
      <p:sp>
        <p:nvSpPr>
          <p:cNvPr id="8" name="Shape 5"/>
          <p:cNvSpPr/>
          <p:nvPr/>
        </p:nvSpPr>
        <p:spPr>
          <a:xfrm>
            <a:off x="3017520" y="1874520"/>
            <a:ext cx="3749040" cy="429768"/>
          </a:xfrm>
          <a:prstGeom prst="rect">
            <a:avLst/>
          </a:prstGeom>
          <a:solidFill>
            <a:srgbClr val="14293B"/>
          </a:solidFill>
          <a:ln w="8255">
            <a:solidFill>
              <a:srgbClr val="F5F6F8"/>
            </a:solidFill>
            <a:prstDash val="solid"/>
          </a:ln>
        </p:spPr>
      </p:sp>
      <p:sp>
        <p:nvSpPr>
          <p:cNvPr id="9" name="Text 6"/>
          <p:cNvSpPr/>
          <p:nvPr/>
        </p:nvSpPr>
        <p:spPr>
          <a:xfrm>
            <a:off x="3108960" y="1938528"/>
            <a:ext cx="356616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Función</a:t>
            </a:r>
            <a:endParaRPr lang="en-US" sz="1350" dirty="0"/>
          </a:p>
        </p:txBody>
      </p:sp>
      <p:sp>
        <p:nvSpPr>
          <p:cNvPr id="10" name="Shape 7"/>
          <p:cNvSpPr/>
          <p:nvPr/>
        </p:nvSpPr>
        <p:spPr>
          <a:xfrm>
            <a:off x="6766560" y="1874520"/>
            <a:ext cx="4206240" cy="429768"/>
          </a:xfrm>
          <a:prstGeom prst="rect">
            <a:avLst/>
          </a:prstGeom>
          <a:solidFill>
            <a:srgbClr val="14293B"/>
          </a:solidFill>
          <a:ln w="8255">
            <a:solidFill>
              <a:srgbClr val="F5F6F8"/>
            </a:solidFill>
            <a:prstDash val="solid"/>
          </a:ln>
        </p:spPr>
      </p:sp>
      <p:sp>
        <p:nvSpPr>
          <p:cNvPr id="11" name="Text 8"/>
          <p:cNvSpPr/>
          <p:nvPr/>
        </p:nvSpPr>
        <p:spPr>
          <a:xfrm>
            <a:off x="6858000" y="1938528"/>
            <a:ext cx="402336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Uso concreto en el programa</a:t>
            </a:r>
            <a:endParaRPr lang="en-US" sz="1350" dirty="0"/>
          </a:p>
        </p:txBody>
      </p:sp>
      <p:sp>
        <p:nvSpPr>
          <p:cNvPr id="12" name="Shape 9"/>
          <p:cNvSpPr/>
          <p:nvPr/>
        </p:nvSpPr>
        <p:spPr>
          <a:xfrm>
            <a:off x="685800" y="2304288"/>
            <a:ext cx="2331720" cy="685800"/>
          </a:xfrm>
          <a:prstGeom prst="rect">
            <a:avLst/>
          </a:prstGeom>
          <a:solidFill>
            <a:srgbClr val="FFFFFF"/>
          </a:solidFill>
          <a:ln w="8255">
            <a:solidFill>
              <a:srgbClr val="F5F6F8"/>
            </a:solidFill>
            <a:prstDash val="solid"/>
          </a:ln>
        </p:spPr>
      </p:sp>
      <p:sp>
        <p:nvSpPr>
          <p:cNvPr id="13" name="Text 10"/>
          <p:cNvSpPr/>
          <p:nvPr/>
        </p:nvSpPr>
        <p:spPr>
          <a:xfrm>
            <a:off x="777240" y="2368296"/>
            <a:ext cx="214884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React</a:t>
            </a:r>
            <a:endParaRPr lang="en-US" sz="1600" dirty="0"/>
          </a:p>
        </p:txBody>
      </p:sp>
      <p:sp>
        <p:nvSpPr>
          <p:cNvPr id="14" name="Shape 11"/>
          <p:cNvSpPr/>
          <p:nvPr/>
        </p:nvSpPr>
        <p:spPr>
          <a:xfrm>
            <a:off x="3017520" y="2304288"/>
            <a:ext cx="3749040" cy="685800"/>
          </a:xfrm>
          <a:prstGeom prst="rect">
            <a:avLst/>
          </a:prstGeom>
          <a:solidFill>
            <a:srgbClr val="FFFFFF"/>
          </a:solidFill>
          <a:ln w="8255">
            <a:solidFill>
              <a:srgbClr val="F5F6F8"/>
            </a:solidFill>
            <a:prstDash val="solid"/>
          </a:ln>
        </p:spPr>
      </p:sp>
      <p:sp>
        <p:nvSpPr>
          <p:cNvPr id="15" name="Text 12"/>
          <p:cNvSpPr/>
          <p:nvPr/>
        </p:nvSpPr>
        <p:spPr>
          <a:xfrm>
            <a:off x="3108960" y="2368296"/>
            <a:ext cx="35661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Componentes, propiedades y estado</a:t>
            </a:r>
            <a:endParaRPr lang="en-US" sz="1600" dirty="0"/>
          </a:p>
        </p:txBody>
      </p:sp>
      <p:sp>
        <p:nvSpPr>
          <p:cNvPr id="16" name="Shape 13"/>
          <p:cNvSpPr/>
          <p:nvPr/>
        </p:nvSpPr>
        <p:spPr>
          <a:xfrm>
            <a:off x="6766560" y="2304288"/>
            <a:ext cx="4206240" cy="685800"/>
          </a:xfrm>
          <a:prstGeom prst="rect">
            <a:avLst/>
          </a:prstGeom>
          <a:solidFill>
            <a:srgbClr val="FFFFFF"/>
          </a:solidFill>
          <a:ln w="8255">
            <a:solidFill>
              <a:srgbClr val="F5F6F8"/>
            </a:solidFill>
            <a:prstDash val="solid"/>
          </a:ln>
        </p:spPr>
      </p:sp>
      <p:sp>
        <p:nvSpPr>
          <p:cNvPr id="17" name="Text 14"/>
          <p:cNvSpPr/>
          <p:nvPr/>
        </p:nvSpPr>
        <p:spPr>
          <a:xfrm>
            <a:off x="6858000" y="2368296"/>
            <a:ext cx="40233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Formulario, reporte y comparación</a:t>
            </a:r>
            <a:endParaRPr lang="en-US" sz="1600" dirty="0"/>
          </a:p>
        </p:txBody>
      </p:sp>
      <p:sp>
        <p:nvSpPr>
          <p:cNvPr id="18" name="Shape 15"/>
          <p:cNvSpPr/>
          <p:nvPr/>
        </p:nvSpPr>
        <p:spPr>
          <a:xfrm>
            <a:off x="685800" y="2990088"/>
            <a:ext cx="2331720" cy="685800"/>
          </a:xfrm>
          <a:prstGeom prst="rect">
            <a:avLst/>
          </a:prstGeom>
          <a:solidFill>
            <a:srgbClr val="EAF0F5"/>
          </a:solidFill>
          <a:ln w="8255">
            <a:solidFill>
              <a:srgbClr val="F5F6F8"/>
            </a:solidFill>
            <a:prstDash val="solid"/>
          </a:ln>
        </p:spPr>
      </p:sp>
      <p:sp>
        <p:nvSpPr>
          <p:cNvPr id="19" name="Text 16"/>
          <p:cNvSpPr/>
          <p:nvPr/>
        </p:nvSpPr>
        <p:spPr>
          <a:xfrm>
            <a:off x="777240" y="3054096"/>
            <a:ext cx="214884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TypeScript</a:t>
            </a:r>
            <a:endParaRPr lang="en-US" sz="1600" dirty="0"/>
          </a:p>
        </p:txBody>
      </p:sp>
      <p:sp>
        <p:nvSpPr>
          <p:cNvPr id="20" name="Shape 17"/>
          <p:cNvSpPr/>
          <p:nvPr/>
        </p:nvSpPr>
        <p:spPr>
          <a:xfrm>
            <a:off x="3017520" y="2990088"/>
            <a:ext cx="3749040" cy="685800"/>
          </a:xfrm>
          <a:prstGeom prst="rect">
            <a:avLst/>
          </a:prstGeom>
          <a:solidFill>
            <a:srgbClr val="EAF0F5"/>
          </a:solidFill>
          <a:ln w="8255">
            <a:solidFill>
              <a:srgbClr val="F5F6F8"/>
            </a:solidFill>
            <a:prstDash val="solid"/>
          </a:ln>
        </p:spPr>
      </p:sp>
      <p:sp>
        <p:nvSpPr>
          <p:cNvPr id="21" name="Text 18"/>
          <p:cNvSpPr/>
          <p:nvPr/>
        </p:nvSpPr>
        <p:spPr>
          <a:xfrm>
            <a:off x="3108960" y="3054096"/>
            <a:ext cx="35661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Tipos estáticos del código</a:t>
            </a:r>
            <a:endParaRPr lang="en-US" sz="1600" dirty="0"/>
          </a:p>
        </p:txBody>
      </p:sp>
      <p:sp>
        <p:nvSpPr>
          <p:cNvPr id="22" name="Shape 19"/>
          <p:cNvSpPr/>
          <p:nvPr/>
        </p:nvSpPr>
        <p:spPr>
          <a:xfrm>
            <a:off x="6766560" y="2990088"/>
            <a:ext cx="4206240" cy="685800"/>
          </a:xfrm>
          <a:prstGeom prst="rect">
            <a:avLst/>
          </a:prstGeom>
          <a:solidFill>
            <a:srgbClr val="EAF0F5"/>
          </a:solidFill>
          <a:ln w="8255">
            <a:solidFill>
              <a:srgbClr val="F5F6F8"/>
            </a:solidFill>
            <a:prstDash val="solid"/>
          </a:ln>
        </p:spPr>
      </p:sp>
      <p:sp>
        <p:nvSpPr>
          <p:cNvPr id="23" name="Text 20"/>
          <p:cNvSpPr/>
          <p:nvPr/>
        </p:nvSpPr>
        <p:spPr>
          <a:xfrm>
            <a:off x="6858000" y="3054096"/>
            <a:ext cx="40233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No sustituye validar JSON en runtime</a:t>
            </a:r>
            <a:endParaRPr lang="en-US" sz="1600" dirty="0"/>
          </a:p>
        </p:txBody>
      </p:sp>
      <p:sp>
        <p:nvSpPr>
          <p:cNvPr id="24" name="Shape 21"/>
          <p:cNvSpPr/>
          <p:nvPr/>
        </p:nvSpPr>
        <p:spPr>
          <a:xfrm>
            <a:off x="685800" y="3675888"/>
            <a:ext cx="2331720" cy="685800"/>
          </a:xfrm>
          <a:prstGeom prst="rect">
            <a:avLst/>
          </a:prstGeom>
          <a:solidFill>
            <a:srgbClr val="FFFFFF"/>
          </a:solidFill>
          <a:ln w="8255">
            <a:solidFill>
              <a:srgbClr val="F5F6F8"/>
            </a:solidFill>
            <a:prstDash val="solid"/>
          </a:ln>
        </p:spPr>
      </p:sp>
      <p:sp>
        <p:nvSpPr>
          <p:cNvPr id="25" name="Text 22"/>
          <p:cNvSpPr/>
          <p:nvPr/>
        </p:nvSpPr>
        <p:spPr>
          <a:xfrm>
            <a:off x="777240" y="3739896"/>
            <a:ext cx="214884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Zod</a:t>
            </a:r>
            <a:endParaRPr lang="en-US" sz="1600" dirty="0"/>
          </a:p>
        </p:txBody>
      </p:sp>
      <p:sp>
        <p:nvSpPr>
          <p:cNvPr id="26" name="Shape 23"/>
          <p:cNvSpPr/>
          <p:nvPr/>
        </p:nvSpPr>
        <p:spPr>
          <a:xfrm>
            <a:off x="3017520" y="3675888"/>
            <a:ext cx="3749040" cy="685800"/>
          </a:xfrm>
          <a:prstGeom prst="rect">
            <a:avLst/>
          </a:prstGeom>
          <a:solidFill>
            <a:srgbClr val="FFFFFF"/>
          </a:solidFill>
          <a:ln w="8255">
            <a:solidFill>
              <a:srgbClr val="F5F6F8"/>
            </a:solidFill>
            <a:prstDash val="solid"/>
          </a:ln>
        </p:spPr>
      </p:sp>
      <p:sp>
        <p:nvSpPr>
          <p:cNvPr id="27" name="Text 24"/>
          <p:cNvSpPr/>
          <p:nvPr/>
        </p:nvSpPr>
        <p:spPr>
          <a:xfrm>
            <a:off x="3108960" y="3739896"/>
            <a:ext cx="35661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Validación de respuestas HTTP</a:t>
            </a:r>
            <a:endParaRPr lang="en-US" sz="1600" dirty="0"/>
          </a:p>
        </p:txBody>
      </p:sp>
      <p:sp>
        <p:nvSpPr>
          <p:cNvPr id="28" name="Shape 25"/>
          <p:cNvSpPr/>
          <p:nvPr/>
        </p:nvSpPr>
        <p:spPr>
          <a:xfrm>
            <a:off x="6766560" y="3675888"/>
            <a:ext cx="4206240" cy="685800"/>
          </a:xfrm>
          <a:prstGeom prst="rect">
            <a:avLst/>
          </a:prstGeom>
          <a:solidFill>
            <a:srgbClr val="FFFFFF"/>
          </a:solidFill>
          <a:ln w="8255">
            <a:solidFill>
              <a:srgbClr val="F5F6F8"/>
            </a:solidFill>
            <a:prstDash val="solid"/>
          </a:ln>
        </p:spPr>
      </p:sp>
      <p:sp>
        <p:nvSpPr>
          <p:cNvPr id="29" name="Text 26"/>
          <p:cNvSpPr/>
          <p:nvPr/>
        </p:nvSpPr>
        <p:spPr>
          <a:xfrm>
            <a:off x="6858000" y="3739896"/>
            <a:ext cx="40233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schema.parse(data) antes de la UI</a:t>
            </a:r>
            <a:endParaRPr lang="en-US" sz="1600" dirty="0"/>
          </a:p>
        </p:txBody>
      </p:sp>
      <p:sp>
        <p:nvSpPr>
          <p:cNvPr id="30" name="Shape 27"/>
          <p:cNvSpPr/>
          <p:nvPr/>
        </p:nvSpPr>
        <p:spPr>
          <a:xfrm>
            <a:off x="685800" y="4361688"/>
            <a:ext cx="2331720" cy="685800"/>
          </a:xfrm>
          <a:prstGeom prst="rect">
            <a:avLst/>
          </a:prstGeom>
          <a:solidFill>
            <a:srgbClr val="EAF0F5"/>
          </a:solidFill>
          <a:ln w="8255">
            <a:solidFill>
              <a:srgbClr val="F5F6F8"/>
            </a:solidFill>
            <a:prstDash val="solid"/>
          </a:ln>
        </p:spPr>
      </p:sp>
      <p:sp>
        <p:nvSpPr>
          <p:cNvPr id="31" name="Text 28"/>
          <p:cNvSpPr/>
          <p:nvPr/>
        </p:nvSpPr>
        <p:spPr>
          <a:xfrm>
            <a:off x="777240" y="4425696"/>
            <a:ext cx="214884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TanStack Query</a:t>
            </a:r>
            <a:endParaRPr lang="en-US" sz="1600" dirty="0"/>
          </a:p>
        </p:txBody>
      </p:sp>
      <p:sp>
        <p:nvSpPr>
          <p:cNvPr id="32" name="Shape 29"/>
          <p:cNvSpPr/>
          <p:nvPr/>
        </p:nvSpPr>
        <p:spPr>
          <a:xfrm>
            <a:off x="3017520" y="4361688"/>
            <a:ext cx="3749040" cy="685800"/>
          </a:xfrm>
          <a:prstGeom prst="rect">
            <a:avLst/>
          </a:prstGeom>
          <a:solidFill>
            <a:srgbClr val="EAF0F5"/>
          </a:solidFill>
          <a:ln w="8255">
            <a:solidFill>
              <a:srgbClr val="F5F6F8"/>
            </a:solidFill>
            <a:prstDash val="solid"/>
          </a:ln>
        </p:spPr>
      </p:sp>
      <p:sp>
        <p:nvSpPr>
          <p:cNvPr id="33" name="Text 30"/>
          <p:cNvSpPr/>
          <p:nvPr/>
        </p:nvSpPr>
        <p:spPr>
          <a:xfrm>
            <a:off x="3108960" y="4425696"/>
            <a:ext cx="35661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Consultas, caché y polling</a:t>
            </a:r>
            <a:endParaRPr lang="en-US" sz="1600" dirty="0"/>
          </a:p>
        </p:txBody>
      </p:sp>
      <p:sp>
        <p:nvSpPr>
          <p:cNvPr id="34" name="Shape 31"/>
          <p:cNvSpPr/>
          <p:nvPr/>
        </p:nvSpPr>
        <p:spPr>
          <a:xfrm>
            <a:off x="6766560" y="4361688"/>
            <a:ext cx="4206240" cy="685800"/>
          </a:xfrm>
          <a:prstGeom prst="rect">
            <a:avLst/>
          </a:prstGeom>
          <a:solidFill>
            <a:srgbClr val="EAF0F5"/>
          </a:solidFill>
          <a:ln w="8255">
            <a:solidFill>
              <a:srgbClr val="F5F6F8"/>
            </a:solidFill>
            <a:prstDash val="solid"/>
          </a:ln>
        </p:spPr>
      </p:sp>
      <p:sp>
        <p:nvSpPr>
          <p:cNvPr id="35" name="Text 32"/>
          <p:cNvSpPr/>
          <p:nvPr/>
        </p:nvSpPr>
        <p:spPr>
          <a:xfrm>
            <a:off x="6858000" y="4425696"/>
            <a:ext cx="40233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1,5 s con trabajos; 5 s sin trabajos</a:t>
            </a:r>
            <a:endParaRPr lang="en-US" sz="1600" dirty="0"/>
          </a:p>
        </p:txBody>
      </p:sp>
      <p:sp>
        <p:nvSpPr>
          <p:cNvPr id="36" name="Shape 33"/>
          <p:cNvSpPr/>
          <p:nvPr/>
        </p:nvSpPr>
        <p:spPr>
          <a:xfrm>
            <a:off x="685800" y="5047488"/>
            <a:ext cx="2331720" cy="685800"/>
          </a:xfrm>
          <a:prstGeom prst="rect">
            <a:avLst/>
          </a:prstGeom>
          <a:solidFill>
            <a:srgbClr val="FFFFFF"/>
          </a:solidFill>
          <a:ln w="8255">
            <a:solidFill>
              <a:srgbClr val="F5F6F8"/>
            </a:solidFill>
            <a:prstDash val="solid"/>
          </a:ln>
        </p:spPr>
      </p:sp>
      <p:sp>
        <p:nvSpPr>
          <p:cNvPr id="37" name="Text 34"/>
          <p:cNvSpPr/>
          <p:nvPr/>
        </p:nvSpPr>
        <p:spPr>
          <a:xfrm>
            <a:off x="777240" y="5111496"/>
            <a:ext cx="2148840" cy="594360"/>
          </a:xfrm>
          <a:prstGeom prst="rect">
            <a:avLst/>
          </a:prstGeom>
          <a:noFill/>
          <a:ln/>
        </p:spPr>
        <p:txBody>
          <a:bodyPr wrap="square" lIns="0" tIns="0" rIns="0" bIns="0" rtlCol="0" anchor="t"/>
          <a:lstStyle/>
          <a:p>
            <a:pPr indent="0" marL="0">
              <a:buNone/>
            </a:pPr>
            <a:r>
              <a:rPr lang="en-US" sz="1600" b="1" dirty="0">
                <a:solidFill>
                  <a:srgbClr val="14293B"/>
                </a:solidFill>
                <a:latin typeface="Arial" pitchFamily="34" charset="0"/>
                <a:ea typeface="Arial" pitchFamily="34" charset="-122"/>
                <a:cs typeface="Arial" pitchFamily="34" charset="-120"/>
              </a:rPr>
              <a:t>Vite</a:t>
            </a:r>
            <a:endParaRPr lang="en-US" sz="1600" dirty="0"/>
          </a:p>
        </p:txBody>
      </p:sp>
      <p:sp>
        <p:nvSpPr>
          <p:cNvPr id="38" name="Shape 35"/>
          <p:cNvSpPr/>
          <p:nvPr/>
        </p:nvSpPr>
        <p:spPr>
          <a:xfrm>
            <a:off x="3017520" y="5047488"/>
            <a:ext cx="3749040" cy="685800"/>
          </a:xfrm>
          <a:prstGeom prst="rect">
            <a:avLst/>
          </a:prstGeom>
          <a:solidFill>
            <a:srgbClr val="FFFFFF"/>
          </a:solidFill>
          <a:ln w="8255">
            <a:solidFill>
              <a:srgbClr val="F5F6F8"/>
            </a:solidFill>
            <a:prstDash val="solid"/>
          </a:ln>
        </p:spPr>
      </p:sp>
      <p:sp>
        <p:nvSpPr>
          <p:cNvPr id="39" name="Text 36"/>
          <p:cNvSpPr/>
          <p:nvPr/>
        </p:nvSpPr>
        <p:spPr>
          <a:xfrm>
            <a:off x="3108960" y="5111496"/>
            <a:ext cx="35661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Desarrollo y build del frontend</a:t>
            </a:r>
            <a:endParaRPr lang="en-US" sz="1600" dirty="0"/>
          </a:p>
        </p:txBody>
      </p:sp>
      <p:sp>
        <p:nvSpPr>
          <p:cNvPr id="40" name="Shape 37"/>
          <p:cNvSpPr/>
          <p:nvPr/>
        </p:nvSpPr>
        <p:spPr>
          <a:xfrm>
            <a:off x="6766560" y="5047488"/>
            <a:ext cx="4206240" cy="685800"/>
          </a:xfrm>
          <a:prstGeom prst="rect">
            <a:avLst/>
          </a:prstGeom>
          <a:solidFill>
            <a:srgbClr val="FFFFFF"/>
          </a:solidFill>
          <a:ln w="8255">
            <a:solidFill>
              <a:srgbClr val="F5F6F8"/>
            </a:solidFill>
            <a:prstDash val="solid"/>
          </a:ln>
        </p:spPr>
      </p:sp>
      <p:sp>
        <p:nvSpPr>
          <p:cNvPr id="41" name="Text 38"/>
          <p:cNvSpPr/>
          <p:nvPr/>
        </p:nvSpPr>
        <p:spPr>
          <a:xfrm>
            <a:off x="6858000" y="5111496"/>
            <a:ext cx="4023360" cy="594360"/>
          </a:xfrm>
          <a:prstGeom prst="rect">
            <a:avLst/>
          </a:prstGeom>
          <a:noFill/>
          <a:ln/>
        </p:spPr>
        <p:txBody>
          <a:bodyPr wrap="square" lIns="0" tIns="0" rIns="0" bIns="0" rtlCol="0" anchor="t"/>
          <a:lstStyle/>
          <a:p>
            <a:pPr indent="0" marL="0">
              <a:buNone/>
            </a:pPr>
            <a:r>
              <a:rPr lang="en-US" sz="1600" dirty="0">
                <a:solidFill>
                  <a:srgbClr val="14293B"/>
                </a:solidFill>
                <a:latin typeface="Arial" pitchFamily="34" charset="0"/>
                <a:ea typeface="Arial" pitchFamily="34" charset="-122"/>
                <a:cs typeface="Arial" pitchFamily="34" charset="-120"/>
              </a:rPr>
              <a:t>No es otro servicio de producción</a:t>
            </a:r>
            <a:endParaRPr lang="en-US" sz="1600" dirty="0"/>
          </a:p>
        </p:txBody>
      </p:sp>
      <p:sp>
        <p:nvSpPr>
          <p:cNvPr id="42" name="Shape 39"/>
          <p:cNvSpPr/>
          <p:nvPr/>
        </p:nvSpPr>
        <p:spPr>
          <a:xfrm>
            <a:off x="585216" y="6492240"/>
            <a:ext cx="11009376" cy="0"/>
          </a:xfrm>
          <a:prstGeom prst="line">
            <a:avLst/>
          </a:prstGeom>
          <a:noFill/>
          <a:ln w="8890">
            <a:solidFill>
              <a:srgbClr val="D9E2E9"/>
            </a:solidFill>
            <a:prstDash val="solid"/>
            <a:headEnd type="none"/>
            <a:tailEnd type="none"/>
          </a:ln>
        </p:spPr>
      </p:sp>
      <p:sp>
        <p:nvSpPr>
          <p:cNvPr id="43" name="Text 40"/>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F14 · F15 · F22 · F23 · F24 | Dockerfile · main.py · api/schemas.py · hooks.ts · shared/api.ts</a:t>
            </a:r>
            <a:endParaRPr lang="en-US" sz="870" dirty="0"/>
          </a:p>
        </p:txBody>
      </p:sp>
      <p:sp>
        <p:nvSpPr>
          <p:cNvPr id="44" name="Text 41"/>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47 / 53</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BIBLIOGRAFÍA</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Anexo K · Referencias oficiales del procesamiento de hardware · 1</a:t>
            </a:r>
            <a:endParaRPr lang="en-US" sz="2800" dirty="0"/>
          </a:p>
        </p:txBody>
      </p:sp>
      <p:sp>
        <p:nvSpPr>
          <p:cNvPr id="6" name="Shape 3"/>
          <p:cNvSpPr/>
          <p:nvPr/>
        </p:nvSpPr>
        <p:spPr>
          <a:xfrm>
            <a:off x="694944" y="1901952"/>
            <a:ext cx="694944" cy="429768"/>
          </a:xfrm>
          <a:prstGeom prst="rect">
            <a:avLst/>
          </a:prstGeom>
          <a:solidFill>
            <a:srgbClr val="14293B"/>
          </a:solidFill>
          <a:ln w="8255">
            <a:solidFill>
              <a:srgbClr val="F5F6F8"/>
            </a:solidFill>
            <a:prstDash val="solid"/>
          </a:ln>
        </p:spPr>
      </p:sp>
      <p:sp>
        <p:nvSpPr>
          <p:cNvPr id="7" name="Text 4"/>
          <p:cNvSpPr/>
          <p:nvPr/>
        </p:nvSpPr>
        <p:spPr>
          <a:xfrm>
            <a:off x="786384" y="1965960"/>
            <a:ext cx="512064"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ID</a:t>
            </a:r>
            <a:endParaRPr lang="en-US" sz="1350" dirty="0"/>
          </a:p>
        </p:txBody>
      </p:sp>
      <p:sp>
        <p:nvSpPr>
          <p:cNvPr id="8" name="Shape 5"/>
          <p:cNvSpPr/>
          <p:nvPr/>
        </p:nvSpPr>
        <p:spPr>
          <a:xfrm>
            <a:off x="1389888" y="1901952"/>
            <a:ext cx="3950208" cy="429768"/>
          </a:xfrm>
          <a:prstGeom prst="rect">
            <a:avLst/>
          </a:prstGeom>
          <a:solidFill>
            <a:srgbClr val="14293B"/>
          </a:solidFill>
          <a:ln w="8255">
            <a:solidFill>
              <a:srgbClr val="F5F6F8"/>
            </a:solidFill>
            <a:prstDash val="solid"/>
          </a:ln>
        </p:spPr>
      </p:sp>
      <p:sp>
        <p:nvSpPr>
          <p:cNvPr id="9" name="Text 6"/>
          <p:cNvSpPr/>
          <p:nvPr/>
        </p:nvSpPr>
        <p:spPr>
          <a:xfrm>
            <a:off x="1481328" y="1965960"/>
            <a:ext cx="3767328"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Tema</a:t>
            </a:r>
            <a:endParaRPr lang="en-US" sz="1350" dirty="0"/>
          </a:p>
        </p:txBody>
      </p:sp>
      <p:sp>
        <p:nvSpPr>
          <p:cNvPr id="10" name="Shape 7"/>
          <p:cNvSpPr/>
          <p:nvPr/>
        </p:nvSpPr>
        <p:spPr>
          <a:xfrm>
            <a:off x="5340096" y="1901952"/>
            <a:ext cx="5669280" cy="429768"/>
          </a:xfrm>
          <a:prstGeom prst="rect">
            <a:avLst/>
          </a:prstGeom>
          <a:solidFill>
            <a:srgbClr val="14293B"/>
          </a:solidFill>
          <a:ln w="8255">
            <a:solidFill>
              <a:srgbClr val="F5F6F8"/>
            </a:solidFill>
            <a:prstDash val="solid"/>
          </a:ln>
        </p:spPr>
      </p:sp>
      <p:sp>
        <p:nvSpPr>
          <p:cNvPr id="11" name="Text 8"/>
          <p:cNvSpPr/>
          <p:nvPr/>
        </p:nvSpPr>
        <p:spPr>
          <a:xfrm>
            <a:off x="5431536" y="1965960"/>
            <a:ext cx="548640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URL oficial / primaria</a:t>
            </a:r>
            <a:endParaRPr lang="en-US" sz="1350" dirty="0"/>
          </a:p>
        </p:txBody>
      </p:sp>
      <p:sp>
        <p:nvSpPr>
          <p:cNvPr id="12" name="Shape 9"/>
          <p:cNvSpPr/>
          <p:nvPr/>
        </p:nvSpPr>
        <p:spPr>
          <a:xfrm>
            <a:off x="694944" y="2331720"/>
            <a:ext cx="694944" cy="685800"/>
          </a:xfrm>
          <a:prstGeom prst="rect">
            <a:avLst/>
          </a:prstGeom>
          <a:solidFill>
            <a:srgbClr val="FFFFFF"/>
          </a:solidFill>
          <a:ln w="8255">
            <a:solidFill>
              <a:srgbClr val="F5F6F8"/>
            </a:solidFill>
            <a:prstDash val="solid"/>
          </a:ln>
        </p:spPr>
      </p:sp>
      <p:sp>
        <p:nvSpPr>
          <p:cNvPr id="13" name="Text 10"/>
          <p:cNvSpPr/>
          <p:nvPr/>
        </p:nvSpPr>
        <p:spPr>
          <a:xfrm>
            <a:off x="786384" y="23957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F01</a:t>
            </a:r>
            <a:endParaRPr lang="en-US" sz="1220" dirty="0"/>
          </a:p>
        </p:txBody>
      </p:sp>
      <p:sp>
        <p:nvSpPr>
          <p:cNvPr id="14" name="Shape 11"/>
          <p:cNvSpPr/>
          <p:nvPr/>
        </p:nvSpPr>
        <p:spPr>
          <a:xfrm>
            <a:off x="1389888" y="2331720"/>
            <a:ext cx="3950208" cy="685800"/>
          </a:xfrm>
          <a:prstGeom prst="rect">
            <a:avLst/>
          </a:prstGeom>
          <a:solidFill>
            <a:srgbClr val="FFFFFF"/>
          </a:solidFill>
          <a:ln w="8255">
            <a:solidFill>
              <a:srgbClr val="F5F6F8"/>
            </a:solidFill>
            <a:prstDash val="solid"/>
          </a:ln>
        </p:spPr>
      </p:sp>
      <p:sp>
        <p:nvSpPr>
          <p:cNvPr id="15" name="Text 12"/>
          <p:cNvSpPr/>
          <p:nvPr/>
        </p:nvSpPr>
        <p:spPr>
          <a:xfrm>
            <a:off x="1481328" y="23957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GHDL: análisis, elaboración y síntesis</a:t>
            </a:r>
            <a:endParaRPr lang="en-US" sz="1220" dirty="0"/>
          </a:p>
        </p:txBody>
      </p:sp>
      <p:sp>
        <p:nvSpPr>
          <p:cNvPr id="16" name="Shape 13"/>
          <p:cNvSpPr/>
          <p:nvPr/>
        </p:nvSpPr>
        <p:spPr>
          <a:xfrm>
            <a:off x="5340096" y="2331720"/>
            <a:ext cx="5669280" cy="685800"/>
          </a:xfrm>
          <a:prstGeom prst="rect">
            <a:avLst/>
          </a:prstGeom>
          <a:solidFill>
            <a:srgbClr val="FFFFFF"/>
          </a:solidFill>
          <a:ln w="8255">
            <a:solidFill>
              <a:srgbClr val="F5F6F8"/>
            </a:solidFill>
            <a:prstDash val="solid"/>
          </a:ln>
        </p:spPr>
      </p:sp>
      <p:sp>
        <p:nvSpPr>
          <p:cNvPr id="17" name="Text 14">
            <a:hlinkClick r:id="rId2" tooltip=""/>
          </p:cNvPr>
          <p:cNvSpPr/>
          <p:nvPr/>
        </p:nvSpPr>
        <p:spPr>
          <a:xfrm>
            <a:off x="5431536" y="23957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https://ghdl.github.io/ghdl/using/Synthesis.html</a:t>
            </a:r>
            <a:endParaRPr lang="en-US" sz="1220" dirty="0"/>
          </a:p>
        </p:txBody>
      </p:sp>
      <p:sp>
        <p:nvSpPr>
          <p:cNvPr id="18" name="Shape 15"/>
          <p:cNvSpPr/>
          <p:nvPr/>
        </p:nvSpPr>
        <p:spPr>
          <a:xfrm>
            <a:off x="694944" y="3017520"/>
            <a:ext cx="694944" cy="685800"/>
          </a:xfrm>
          <a:prstGeom prst="rect">
            <a:avLst/>
          </a:prstGeom>
          <a:solidFill>
            <a:srgbClr val="EAF0F5"/>
          </a:solidFill>
          <a:ln w="8255">
            <a:solidFill>
              <a:srgbClr val="F5F6F8"/>
            </a:solidFill>
            <a:prstDash val="solid"/>
          </a:ln>
        </p:spPr>
      </p:sp>
      <p:sp>
        <p:nvSpPr>
          <p:cNvPr id="19" name="Text 16"/>
          <p:cNvSpPr/>
          <p:nvPr/>
        </p:nvSpPr>
        <p:spPr>
          <a:xfrm>
            <a:off x="786384" y="30815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F02</a:t>
            </a:r>
            <a:endParaRPr lang="en-US" sz="1220" dirty="0"/>
          </a:p>
        </p:txBody>
      </p:sp>
      <p:sp>
        <p:nvSpPr>
          <p:cNvPr id="20" name="Shape 17"/>
          <p:cNvSpPr/>
          <p:nvPr/>
        </p:nvSpPr>
        <p:spPr>
          <a:xfrm>
            <a:off x="1389888" y="3017520"/>
            <a:ext cx="3950208" cy="685800"/>
          </a:xfrm>
          <a:prstGeom prst="rect">
            <a:avLst/>
          </a:prstGeom>
          <a:solidFill>
            <a:srgbClr val="EAF0F5"/>
          </a:solidFill>
          <a:ln w="8255">
            <a:solidFill>
              <a:srgbClr val="F5F6F8"/>
            </a:solidFill>
            <a:prstDash val="solid"/>
          </a:ln>
        </p:spPr>
      </p:sp>
      <p:sp>
        <p:nvSpPr>
          <p:cNvPr id="21" name="Text 18"/>
          <p:cNvSpPr/>
          <p:nvPr/>
        </p:nvSpPr>
        <p:spPr>
          <a:xfrm>
            <a:off x="1481328" y="30815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Yosys: síntesis genérica y mapeo tecnológico</a:t>
            </a:r>
            <a:endParaRPr lang="en-US" sz="1220" dirty="0"/>
          </a:p>
        </p:txBody>
      </p:sp>
      <p:sp>
        <p:nvSpPr>
          <p:cNvPr id="22" name="Shape 19"/>
          <p:cNvSpPr/>
          <p:nvPr/>
        </p:nvSpPr>
        <p:spPr>
          <a:xfrm>
            <a:off x="5340096" y="3017520"/>
            <a:ext cx="5669280" cy="685800"/>
          </a:xfrm>
          <a:prstGeom prst="rect">
            <a:avLst/>
          </a:prstGeom>
          <a:solidFill>
            <a:srgbClr val="EAF0F5"/>
          </a:solidFill>
          <a:ln w="8255">
            <a:solidFill>
              <a:srgbClr val="F5F6F8"/>
            </a:solidFill>
            <a:prstDash val="solid"/>
          </a:ln>
        </p:spPr>
      </p:sp>
      <p:sp>
        <p:nvSpPr>
          <p:cNvPr id="23" name="Text 20">
            <a:hlinkClick r:id="rId3" tooltip=""/>
          </p:cNvPr>
          <p:cNvSpPr/>
          <p:nvPr/>
        </p:nvSpPr>
        <p:spPr>
          <a:xfrm>
            <a:off x="5431536" y="30815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https://yosyshq.readthedocs.io/projects/yosys/en/v0.54/cmd/synth.html</a:t>
            </a:r>
            <a:endParaRPr lang="en-US" sz="1220" dirty="0"/>
          </a:p>
        </p:txBody>
      </p:sp>
      <p:sp>
        <p:nvSpPr>
          <p:cNvPr id="24" name="Shape 21"/>
          <p:cNvSpPr/>
          <p:nvPr/>
        </p:nvSpPr>
        <p:spPr>
          <a:xfrm>
            <a:off x="694944" y="3703320"/>
            <a:ext cx="694944" cy="685800"/>
          </a:xfrm>
          <a:prstGeom prst="rect">
            <a:avLst/>
          </a:prstGeom>
          <a:solidFill>
            <a:srgbClr val="FFFFFF"/>
          </a:solidFill>
          <a:ln w="8255">
            <a:solidFill>
              <a:srgbClr val="F5F6F8"/>
            </a:solidFill>
            <a:prstDash val="solid"/>
          </a:ln>
        </p:spPr>
      </p:sp>
      <p:sp>
        <p:nvSpPr>
          <p:cNvPr id="25" name="Text 22"/>
          <p:cNvSpPr/>
          <p:nvPr/>
        </p:nvSpPr>
        <p:spPr>
          <a:xfrm>
            <a:off x="786384" y="37673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F03</a:t>
            </a:r>
            <a:endParaRPr lang="en-US" sz="1220" dirty="0"/>
          </a:p>
        </p:txBody>
      </p:sp>
      <p:sp>
        <p:nvSpPr>
          <p:cNvPr id="26" name="Shape 23"/>
          <p:cNvSpPr/>
          <p:nvPr/>
        </p:nvSpPr>
        <p:spPr>
          <a:xfrm>
            <a:off x="1389888" y="3703320"/>
            <a:ext cx="3950208" cy="685800"/>
          </a:xfrm>
          <a:prstGeom prst="rect">
            <a:avLst/>
          </a:prstGeom>
          <a:solidFill>
            <a:srgbClr val="FFFFFF"/>
          </a:solidFill>
          <a:ln w="8255">
            <a:solidFill>
              <a:srgbClr val="F5F6F8"/>
            </a:solidFill>
            <a:prstDash val="solid"/>
          </a:ln>
        </p:spPr>
      </p:sp>
      <p:sp>
        <p:nvSpPr>
          <p:cNvPr id="27" name="Text 24"/>
          <p:cNvSpPr/>
          <p:nvPr/>
        </p:nvSpPr>
        <p:spPr>
          <a:xfrm>
            <a:off x="1481328" y="37673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Yosys: lectura de Liberty y modelos de simulación</a:t>
            </a:r>
            <a:endParaRPr lang="en-US" sz="1220" dirty="0"/>
          </a:p>
        </p:txBody>
      </p:sp>
      <p:sp>
        <p:nvSpPr>
          <p:cNvPr id="28" name="Shape 25"/>
          <p:cNvSpPr/>
          <p:nvPr/>
        </p:nvSpPr>
        <p:spPr>
          <a:xfrm>
            <a:off x="5340096" y="3703320"/>
            <a:ext cx="5669280" cy="685800"/>
          </a:xfrm>
          <a:prstGeom prst="rect">
            <a:avLst/>
          </a:prstGeom>
          <a:solidFill>
            <a:srgbClr val="FFFFFF"/>
          </a:solidFill>
          <a:ln w="8255">
            <a:solidFill>
              <a:srgbClr val="F5F6F8"/>
            </a:solidFill>
            <a:prstDash val="solid"/>
          </a:ln>
        </p:spPr>
      </p:sp>
      <p:sp>
        <p:nvSpPr>
          <p:cNvPr id="29" name="Text 26">
            <a:hlinkClick r:id="rId4" tooltip=""/>
          </p:cNvPr>
          <p:cNvSpPr/>
          <p:nvPr/>
        </p:nvSpPr>
        <p:spPr>
          <a:xfrm>
            <a:off x="5431536" y="37673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https://yosyshq.readthedocs.io/projects/yosys/en/0.41/cmd/read_liberty.html</a:t>
            </a:r>
            <a:endParaRPr lang="en-US" sz="1220" dirty="0"/>
          </a:p>
        </p:txBody>
      </p:sp>
      <p:sp>
        <p:nvSpPr>
          <p:cNvPr id="30" name="Shape 27"/>
          <p:cNvSpPr/>
          <p:nvPr/>
        </p:nvSpPr>
        <p:spPr>
          <a:xfrm>
            <a:off x="694944" y="4389120"/>
            <a:ext cx="694944" cy="685800"/>
          </a:xfrm>
          <a:prstGeom prst="rect">
            <a:avLst/>
          </a:prstGeom>
          <a:solidFill>
            <a:srgbClr val="EAF0F5"/>
          </a:solidFill>
          <a:ln w="8255">
            <a:solidFill>
              <a:srgbClr val="F5F6F8"/>
            </a:solidFill>
            <a:prstDash val="solid"/>
          </a:ln>
        </p:spPr>
      </p:sp>
      <p:sp>
        <p:nvSpPr>
          <p:cNvPr id="31" name="Text 28"/>
          <p:cNvSpPr/>
          <p:nvPr/>
        </p:nvSpPr>
        <p:spPr>
          <a:xfrm>
            <a:off x="786384" y="44531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F04</a:t>
            </a:r>
            <a:endParaRPr lang="en-US" sz="1220" dirty="0"/>
          </a:p>
        </p:txBody>
      </p:sp>
      <p:sp>
        <p:nvSpPr>
          <p:cNvPr id="32" name="Shape 29"/>
          <p:cNvSpPr/>
          <p:nvPr/>
        </p:nvSpPr>
        <p:spPr>
          <a:xfrm>
            <a:off x="1389888" y="4389120"/>
            <a:ext cx="3950208" cy="685800"/>
          </a:xfrm>
          <a:prstGeom prst="rect">
            <a:avLst/>
          </a:prstGeom>
          <a:solidFill>
            <a:srgbClr val="EAF0F5"/>
          </a:solidFill>
          <a:ln w="8255">
            <a:solidFill>
              <a:srgbClr val="F5F6F8"/>
            </a:solidFill>
            <a:prstDash val="solid"/>
          </a:ln>
        </p:spPr>
      </p:sp>
      <p:sp>
        <p:nvSpPr>
          <p:cNvPr id="33" name="Text 30"/>
          <p:cNvSpPr/>
          <p:nvPr/>
        </p:nvSpPr>
        <p:spPr>
          <a:xfrm>
            <a:off x="1481328" y="44531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Yosys: estadística de área</a:t>
            </a:r>
            <a:endParaRPr lang="en-US" sz="1220" dirty="0"/>
          </a:p>
        </p:txBody>
      </p:sp>
      <p:sp>
        <p:nvSpPr>
          <p:cNvPr id="34" name="Shape 31"/>
          <p:cNvSpPr/>
          <p:nvPr/>
        </p:nvSpPr>
        <p:spPr>
          <a:xfrm>
            <a:off x="5340096" y="4389120"/>
            <a:ext cx="5669280" cy="685800"/>
          </a:xfrm>
          <a:prstGeom prst="rect">
            <a:avLst/>
          </a:prstGeom>
          <a:solidFill>
            <a:srgbClr val="EAF0F5"/>
          </a:solidFill>
          <a:ln w="8255">
            <a:solidFill>
              <a:srgbClr val="F5F6F8"/>
            </a:solidFill>
            <a:prstDash val="solid"/>
          </a:ln>
        </p:spPr>
      </p:sp>
      <p:sp>
        <p:nvSpPr>
          <p:cNvPr id="35" name="Text 32">
            <a:hlinkClick r:id="rId5" tooltip=""/>
          </p:cNvPr>
          <p:cNvSpPr/>
          <p:nvPr/>
        </p:nvSpPr>
        <p:spPr>
          <a:xfrm>
            <a:off x="5431536" y="44531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https://yosyshq.readthedocs.io/projects/yosys/en/v0.50/cmd/stat.html</a:t>
            </a:r>
            <a:endParaRPr lang="en-US" sz="1220" dirty="0"/>
          </a:p>
        </p:txBody>
      </p:sp>
      <p:sp>
        <p:nvSpPr>
          <p:cNvPr id="36" name="Shape 33"/>
          <p:cNvSpPr/>
          <p:nvPr/>
        </p:nvSpPr>
        <p:spPr>
          <a:xfrm>
            <a:off x="585216" y="6492240"/>
            <a:ext cx="11009376" cy="0"/>
          </a:xfrm>
          <a:prstGeom prst="line">
            <a:avLst/>
          </a:prstGeom>
          <a:noFill/>
          <a:ln w="8890">
            <a:solidFill>
              <a:srgbClr val="D9E2E9"/>
            </a:solidFill>
            <a:prstDash val="solid"/>
            <a:headEnd type="none"/>
            <a:tailEnd type="none"/>
          </a:ln>
        </p:spPr>
      </p:sp>
      <p:sp>
        <p:nvSpPr>
          <p:cNvPr id="37" name="Text 34"/>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F01 · F02 · F03 · F04 · F05 · F06 · F07 · F18</a:t>
            </a:r>
            <a:endParaRPr lang="en-US" sz="870" dirty="0"/>
          </a:p>
        </p:txBody>
      </p:sp>
      <p:sp>
        <p:nvSpPr>
          <p:cNvPr id="38" name="Text 35"/>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48 / 53</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BIBLIOGRAFÍA</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Anexo K · Referencias oficiales del procesamiento de hardware · 2</a:t>
            </a:r>
            <a:endParaRPr lang="en-US" sz="2800" dirty="0"/>
          </a:p>
        </p:txBody>
      </p:sp>
      <p:sp>
        <p:nvSpPr>
          <p:cNvPr id="6" name="Shape 3"/>
          <p:cNvSpPr/>
          <p:nvPr/>
        </p:nvSpPr>
        <p:spPr>
          <a:xfrm>
            <a:off x="694944" y="1901952"/>
            <a:ext cx="694944" cy="429768"/>
          </a:xfrm>
          <a:prstGeom prst="rect">
            <a:avLst/>
          </a:prstGeom>
          <a:solidFill>
            <a:srgbClr val="14293B"/>
          </a:solidFill>
          <a:ln w="8255">
            <a:solidFill>
              <a:srgbClr val="F5F6F8"/>
            </a:solidFill>
            <a:prstDash val="solid"/>
          </a:ln>
        </p:spPr>
      </p:sp>
      <p:sp>
        <p:nvSpPr>
          <p:cNvPr id="7" name="Text 4"/>
          <p:cNvSpPr/>
          <p:nvPr/>
        </p:nvSpPr>
        <p:spPr>
          <a:xfrm>
            <a:off x="786384" y="1965960"/>
            <a:ext cx="512064"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ID</a:t>
            </a:r>
            <a:endParaRPr lang="en-US" sz="1350" dirty="0"/>
          </a:p>
        </p:txBody>
      </p:sp>
      <p:sp>
        <p:nvSpPr>
          <p:cNvPr id="8" name="Shape 5"/>
          <p:cNvSpPr/>
          <p:nvPr/>
        </p:nvSpPr>
        <p:spPr>
          <a:xfrm>
            <a:off x="1389888" y="1901952"/>
            <a:ext cx="3950208" cy="429768"/>
          </a:xfrm>
          <a:prstGeom prst="rect">
            <a:avLst/>
          </a:prstGeom>
          <a:solidFill>
            <a:srgbClr val="14293B"/>
          </a:solidFill>
          <a:ln w="8255">
            <a:solidFill>
              <a:srgbClr val="F5F6F8"/>
            </a:solidFill>
            <a:prstDash val="solid"/>
          </a:ln>
        </p:spPr>
      </p:sp>
      <p:sp>
        <p:nvSpPr>
          <p:cNvPr id="9" name="Text 6"/>
          <p:cNvSpPr/>
          <p:nvPr/>
        </p:nvSpPr>
        <p:spPr>
          <a:xfrm>
            <a:off x="1481328" y="1965960"/>
            <a:ext cx="3767328"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Tema</a:t>
            </a:r>
            <a:endParaRPr lang="en-US" sz="1350" dirty="0"/>
          </a:p>
        </p:txBody>
      </p:sp>
      <p:sp>
        <p:nvSpPr>
          <p:cNvPr id="10" name="Shape 7"/>
          <p:cNvSpPr/>
          <p:nvPr/>
        </p:nvSpPr>
        <p:spPr>
          <a:xfrm>
            <a:off x="5340096" y="1901952"/>
            <a:ext cx="5669280" cy="429768"/>
          </a:xfrm>
          <a:prstGeom prst="rect">
            <a:avLst/>
          </a:prstGeom>
          <a:solidFill>
            <a:srgbClr val="14293B"/>
          </a:solidFill>
          <a:ln w="8255">
            <a:solidFill>
              <a:srgbClr val="F5F6F8"/>
            </a:solidFill>
            <a:prstDash val="solid"/>
          </a:ln>
        </p:spPr>
      </p:sp>
      <p:sp>
        <p:nvSpPr>
          <p:cNvPr id="11" name="Text 8"/>
          <p:cNvSpPr/>
          <p:nvPr/>
        </p:nvSpPr>
        <p:spPr>
          <a:xfrm>
            <a:off x="5431536" y="1965960"/>
            <a:ext cx="548640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URL oficial / primaria</a:t>
            </a:r>
            <a:endParaRPr lang="en-US" sz="1350" dirty="0"/>
          </a:p>
        </p:txBody>
      </p:sp>
      <p:sp>
        <p:nvSpPr>
          <p:cNvPr id="12" name="Shape 9"/>
          <p:cNvSpPr/>
          <p:nvPr/>
        </p:nvSpPr>
        <p:spPr>
          <a:xfrm>
            <a:off x="694944" y="2331720"/>
            <a:ext cx="694944" cy="685800"/>
          </a:xfrm>
          <a:prstGeom prst="rect">
            <a:avLst/>
          </a:prstGeom>
          <a:solidFill>
            <a:srgbClr val="FFFFFF"/>
          </a:solidFill>
          <a:ln w="8255">
            <a:solidFill>
              <a:srgbClr val="F5F6F8"/>
            </a:solidFill>
            <a:prstDash val="solid"/>
          </a:ln>
        </p:spPr>
      </p:sp>
      <p:sp>
        <p:nvSpPr>
          <p:cNvPr id="13" name="Text 10"/>
          <p:cNvSpPr/>
          <p:nvPr/>
        </p:nvSpPr>
        <p:spPr>
          <a:xfrm>
            <a:off x="786384" y="23957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F05</a:t>
            </a:r>
            <a:endParaRPr lang="en-US" sz="1220" dirty="0"/>
          </a:p>
        </p:txBody>
      </p:sp>
      <p:sp>
        <p:nvSpPr>
          <p:cNvPr id="14" name="Shape 11"/>
          <p:cNvSpPr/>
          <p:nvPr/>
        </p:nvSpPr>
        <p:spPr>
          <a:xfrm>
            <a:off x="1389888" y="2331720"/>
            <a:ext cx="3950208" cy="685800"/>
          </a:xfrm>
          <a:prstGeom prst="rect">
            <a:avLst/>
          </a:prstGeom>
          <a:solidFill>
            <a:srgbClr val="FFFFFF"/>
          </a:solidFill>
          <a:ln w="8255">
            <a:solidFill>
              <a:srgbClr val="F5F6F8"/>
            </a:solidFill>
            <a:prstDash val="solid"/>
          </a:ln>
        </p:spPr>
      </p:sp>
      <p:sp>
        <p:nvSpPr>
          <p:cNvPr id="15" name="Text 12"/>
          <p:cNvSpPr/>
          <p:nvPr/>
        </p:nvSpPr>
        <p:spPr>
          <a:xfrm>
            <a:off x="1481328" y="23957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Yosys: comprobaciones estructurales</a:t>
            </a:r>
            <a:endParaRPr lang="en-US" sz="1220" dirty="0"/>
          </a:p>
        </p:txBody>
      </p:sp>
      <p:sp>
        <p:nvSpPr>
          <p:cNvPr id="16" name="Shape 13"/>
          <p:cNvSpPr/>
          <p:nvPr/>
        </p:nvSpPr>
        <p:spPr>
          <a:xfrm>
            <a:off x="5340096" y="2331720"/>
            <a:ext cx="5669280" cy="685800"/>
          </a:xfrm>
          <a:prstGeom prst="rect">
            <a:avLst/>
          </a:prstGeom>
          <a:solidFill>
            <a:srgbClr val="FFFFFF"/>
          </a:solidFill>
          <a:ln w="8255">
            <a:solidFill>
              <a:srgbClr val="F5F6F8"/>
            </a:solidFill>
            <a:prstDash val="solid"/>
          </a:ln>
        </p:spPr>
      </p:sp>
      <p:sp>
        <p:nvSpPr>
          <p:cNvPr id="17" name="Text 14">
            <a:hlinkClick r:id="rId2" tooltip=""/>
          </p:cNvPr>
          <p:cNvSpPr/>
          <p:nvPr/>
        </p:nvSpPr>
        <p:spPr>
          <a:xfrm>
            <a:off x="5431536" y="23957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https://yosyshq.readthedocs.io/projects/yosys/en/0.45/cmd/check.html</a:t>
            </a:r>
            <a:endParaRPr lang="en-US" sz="1220" dirty="0"/>
          </a:p>
        </p:txBody>
      </p:sp>
      <p:sp>
        <p:nvSpPr>
          <p:cNvPr id="18" name="Shape 15"/>
          <p:cNvSpPr/>
          <p:nvPr/>
        </p:nvSpPr>
        <p:spPr>
          <a:xfrm>
            <a:off x="694944" y="3017520"/>
            <a:ext cx="694944" cy="685800"/>
          </a:xfrm>
          <a:prstGeom prst="rect">
            <a:avLst/>
          </a:prstGeom>
          <a:solidFill>
            <a:srgbClr val="EAF0F5"/>
          </a:solidFill>
          <a:ln w="8255">
            <a:solidFill>
              <a:srgbClr val="F5F6F8"/>
            </a:solidFill>
            <a:prstDash val="solid"/>
          </a:ln>
        </p:spPr>
      </p:sp>
      <p:sp>
        <p:nvSpPr>
          <p:cNvPr id="19" name="Text 16"/>
          <p:cNvSpPr/>
          <p:nvPr/>
        </p:nvSpPr>
        <p:spPr>
          <a:xfrm>
            <a:off x="786384" y="30815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F06</a:t>
            </a:r>
            <a:endParaRPr lang="en-US" sz="1220" dirty="0"/>
          </a:p>
        </p:txBody>
      </p:sp>
      <p:sp>
        <p:nvSpPr>
          <p:cNvPr id="20" name="Shape 17"/>
          <p:cNvSpPr/>
          <p:nvPr/>
        </p:nvSpPr>
        <p:spPr>
          <a:xfrm>
            <a:off x="1389888" y="3017520"/>
            <a:ext cx="3950208" cy="685800"/>
          </a:xfrm>
          <a:prstGeom prst="rect">
            <a:avLst/>
          </a:prstGeom>
          <a:solidFill>
            <a:srgbClr val="EAF0F5"/>
          </a:solidFill>
          <a:ln w="8255">
            <a:solidFill>
              <a:srgbClr val="F5F6F8"/>
            </a:solidFill>
            <a:prstDash val="solid"/>
          </a:ln>
        </p:spPr>
      </p:sp>
      <p:sp>
        <p:nvSpPr>
          <p:cNvPr id="21" name="Text 18"/>
          <p:cNvSpPr/>
          <p:nvPr/>
        </p:nvSpPr>
        <p:spPr>
          <a:xfrm>
            <a:off x="1481328" y="30815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Berkeley ABC: optimización y mapeo</a:t>
            </a:r>
            <a:endParaRPr lang="en-US" sz="1220" dirty="0"/>
          </a:p>
        </p:txBody>
      </p:sp>
      <p:sp>
        <p:nvSpPr>
          <p:cNvPr id="22" name="Shape 19"/>
          <p:cNvSpPr/>
          <p:nvPr/>
        </p:nvSpPr>
        <p:spPr>
          <a:xfrm>
            <a:off x="5340096" y="3017520"/>
            <a:ext cx="5669280" cy="685800"/>
          </a:xfrm>
          <a:prstGeom prst="rect">
            <a:avLst/>
          </a:prstGeom>
          <a:solidFill>
            <a:srgbClr val="EAF0F5"/>
          </a:solidFill>
          <a:ln w="8255">
            <a:solidFill>
              <a:srgbClr val="F5F6F8"/>
            </a:solidFill>
            <a:prstDash val="solid"/>
          </a:ln>
        </p:spPr>
      </p:sp>
      <p:sp>
        <p:nvSpPr>
          <p:cNvPr id="23" name="Text 20">
            <a:hlinkClick r:id="rId3" tooltip=""/>
          </p:cNvPr>
          <p:cNvSpPr/>
          <p:nvPr/>
        </p:nvSpPr>
        <p:spPr>
          <a:xfrm>
            <a:off x="5431536" y="30815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https://people.eecs.berkeley.edu/~alanmi/abc/abc.htm</a:t>
            </a:r>
            <a:endParaRPr lang="en-US" sz="1220" dirty="0"/>
          </a:p>
        </p:txBody>
      </p:sp>
      <p:sp>
        <p:nvSpPr>
          <p:cNvPr id="24" name="Shape 21"/>
          <p:cNvSpPr/>
          <p:nvPr/>
        </p:nvSpPr>
        <p:spPr>
          <a:xfrm>
            <a:off x="694944" y="3703320"/>
            <a:ext cx="694944" cy="685800"/>
          </a:xfrm>
          <a:prstGeom prst="rect">
            <a:avLst/>
          </a:prstGeom>
          <a:solidFill>
            <a:srgbClr val="FFFFFF"/>
          </a:solidFill>
          <a:ln w="8255">
            <a:solidFill>
              <a:srgbClr val="F5F6F8"/>
            </a:solidFill>
            <a:prstDash val="solid"/>
          </a:ln>
        </p:spPr>
      </p:sp>
      <p:sp>
        <p:nvSpPr>
          <p:cNvPr id="25" name="Text 22"/>
          <p:cNvSpPr/>
          <p:nvPr/>
        </p:nvSpPr>
        <p:spPr>
          <a:xfrm>
            <a:off x="786384" y="37673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F07</a:t>
            </a:r>
            <a:endParaRPr lang="en-US" sz="1220" dirty="0"/>
          </a:p>
        </p:txBody>
      </p:sp>
      <p:sp>
        <p:nvSpPr>
          <p:cNvPr id="26" name="Shape 23"/>
          <p:cNvSpPr/>
          <p:nvPr/>
        </p:nvSpPr>
        <p:spPr>
          <a:xfrm>
            <a:off x="1389888" y="3703320"/>
            <a:ext cx="3950208" cy="685800"/>
          </a:xfrm>
          <a:prstGeom prst="rect">
            <a:avLst/>
          </a:prstGeom>
          <a:solidFill>
            <a:srgbClr val="FFFFFF"/>
          </a:solidFill>
          <a:ln w="8255">
            <a:solidFill>
              <a:srgbClr val="F5F6F8"/>
            </a:solidFill>
            <a:prstDash val="solid"/>
          </a:ln>
        </p:spPr>
      </p:sp>
      <p:sp>
        <p:nvSpPr>
          <p:cNvPr id="27" name="Text 24"/>
          <p:cNvSpPr/>
          <p:nvPr/>
        </p:nvSpPr>
        <p:spPr>
          <a:xfrm>
            <a:off x="1481328" y="37673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Icarus Verilog y vvp: simulación de la netlist</a:t>
            </a:r>
            <a:endParaRPr lang="en-US" sz="1220" dirty="0"/>
          </a:p>
        </p:txBody>
      </p:sp>
      <p:sp>
        <p:nvSpPr>
          <p:cNvPr id="28" name="Shape 25"/>
          <p:cNvSpPr/>
          <p:nvPr/>
        </p:nvSpPr>
        <p:spPr>
          <a:xfrm>
            <a:off x="5340096" y="3703320"/>
            <a:ext cx="5669280" cy="685800"/>
          </a:xfrm>
          <a:prstGeom prst="rect">
            <a:avLst/>
          </a:prstGeom>
          <a:solidFill>
            <a:srgbClr val="FFFFFF"/>
          </a:solidFill>
          <a:ln w="8255">
            <a:solidFill>
              <a:srgbClr val="F5F6F8"/>
            </a:solidFill>
            <a:prstDash val="solid"/>
          </a:ln>
        </p:spPr>
      </p:sp>
      <p:sp>
        <p:nvSpPr>
          <p:cNvPr id="29" name="Text 26">
            <a:hlinkClick r:id="rId4" tooltip=""/>
          </p:cNvPr>
          <p:cNvSpPr/>
          <p:nvPr/>
        </p:nvSpPr>
        <p:spPr>
          <a:xfrm>
            <a:off x="5431536" y="37673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https://steveicarus.github.io/iverilog/usage/getting_started.html</a:t>
            </a:r>
            <a:endParaRPr lang="en-US" sz="1220" dirty="0"/>
          </a:p>
        </p:txBody>
      </p:sp>
      <p:sp>
        <p:nvSpPr>
          <p:cNvPr id="30" name="Shape 27"/>
          <p:cNvSpPr/>
          <p:nvPr/>
        </p:nvSpPr>
        <p:spPr>
          <a:xfrm>
            <a:off x="694944" y="4389120"/>
            <a:ext cx="694944" cy="685800"/>
          </a:xfrm>
          <a:prstGeom prst="rect">
            <a:avLst/>
          </a:prstGeom>
          <a:solidFill>
            <a:srgbClr val="EAF0F5"/>
          </a:solidFill>
          <a:ln w="8255">
            <a:solidFill>
              <a:srgbClr val="F5F6F8"/>
            </a:solidFill>
            <a:prstDash val="solid"/>
          </a:ln>
        </p:spPr>
      </p:sp>
      <p:sp>
        <p:nvSpPr>
          <p:cNvPr id="31" name="Text 28"/>
          <p:cNvSpPr/>
          <p:nvPr/>
        </p:nvSpPr>
        <p:spPr>
          <a:xfrm>
            <a:off x="786384" y="44531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F18</a:t>
            </a:r>
            <a:endParaRPr lang="en-US" sz="1220" dirty="0"/>
          </a:p>
        </p:txBody>
      </p:sp>
      <p:sp>
        <p:nvSpPr>
          <p:cNvPr id="32" name="Shape 29"/>
          <p:cNvSpPr/>
          <p:nvPr/>
        </p:nvSpPr>
        <p:spPr>
          <a:xfrm>
            <a:off x="1389888" y="4389120"/>
            <a:ext cx="3950208" cy="685800"/>
          </a:xfrm>
          <a:prstGeom prst="rect">
            <a:avLst/>
          </a:prstGeom>
          <a:solidFill>
            <a:srgbClr val="EAF0F5"/>
          </a:solidFill>
          <a:ln w="8255">
            <a:solidFill>
              <a:srgbClr val="F5F6F8"/>
            </a:solidFill>
            <a:prstDash val="solid"/>
          </a:ln>
        </p:spPr>
      </p:sp>
      <p:sp>
        <p:nvSpPr>
          <p:cNvPr id="33" name="Text 30"/>
          <p:cNvSpPr/>
          <p:nvPr/>
        </p:nvSpPr>
        <p:spPr>
          <a:xfrm>
            <a:off x="1481328" y="44531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EQY: equivalencia formal como verificación adicional</a:t>
            </a:r>
            <a:endParaRPr lang="en-US" sz="1220" dirty="0"/>
          </a:p>
        </p:txBody>
      </p:sp>
      <p:sp>
        <p:nvSpPr>
          <p:cNvPr id="34" name="Shape 31"/>
          <p:cNvSpPr/>
          <p:nvPr/>
        </p:nvSpPr>
        <p:spPr>
          <a:xfrm>
            <a:off x="5340096" y="4389120"/>
            <a:ext cx="5669280" cy="685800"/>
          </a:xfrm>
          <a:prstGeom prst="rect">
            <a:avLst/>
          </a:prstGeom>
          <a:solidFill>
            <a:srgbClr val="EAF0F5"/>
          </a:solidFill>
          <a:ln w="8255">
            <a:solidFill>
              <a:srgbClr val="F5F6F8"/>
            </a:solidFill>
            <a:prstDash val="solid"/>
          </a:ln>
        </p:spPr>
      </p:sp>
      <p:sp>
        <p:nvSpPr>
          <p:cNvPr id="35" name="Text 32">
            <a:hlinkClick r:id="rId5" tooltip=""/>
          </p:cNvPr>
          <p:cNvSpPr/>
          <p:nvPr/>
        </p:nvSpPr>
        <p:spPr>
          <a:xfrm>
            <a:off x="5431536" y="44531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https://yosyshq.readthedocs.io/projects/eqy/en/latest/</a:t>
            </a:r>
            <a:endParaRPr lang="en-US" sz="1220" dirty="0"/>
          </a:p>
        </p:txBody>
      </p:sp>
      <p:sp>
        <p:nvSpPr>
          <p:cNvPr id="36" name="Shape 33"/>
          <p:cNvSpPr/>
          <p:nvPr/>
        </p:nvSpPr>
        <p:spPr>
          <a:xfrm>
            <a:off x="585216" y="6492240"/>
            <a:ext cx="11009376" cy="0"/>
          </a:xfrm>
          <a:prstGeom prst="line">
            <a:avLst/>
          </a:prstGeom>
          <a:noFill/>
          <a:ln w="8890">
            <a:solidFill>
              <a:srgbClr val="D9E2E9"/>
            </a:solidFill>
            <a:prstDash val="solid"/>
            <a:headEnd type="none"/>
            <a:tailEnd type="none"/>
          </a:ln>
        </p:spPr>
      </p:sp>
      <p:sp>
        <p:nvSpPr>
          <p:cNvPr id="37" name="Text 34"/>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F01 · F02 · F03 · F04 · F05 · F06 · F07 · F18</a:t>
            </a:r>
            <a:endParaRPr lang="en-US" sz="870" dirty="0"/>
          </a:p>
        </p:txBody>
      </p:sp>
      <p:sp>
        <p:nvSpPr>
          <p:cNvPr id="38" name="Text 35"/>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49 / 53</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BIBLIOGRAFÍA</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Anexo L · Referencias de tecnología y plataforma · 1</a:t>
            </a:r>
            <a:endParaRPr lang="en-US" sz="2800" dirty="0"/>
          </a:p>
        </p:txBody>
      </p:sp>
      <p:sp>
        <p:nvSpPr>
          <p:cNvPr id="6" name="Shape 3"/>
          <p:cNvSpPr/>
          <p:nvPr/>
        </p:nvSpPr>
        <p:spPr>
          <a:xfrm>
            <a:off x="694944" y="1901952"/>
            <a:ext cx="694944" cy="429768"/>
          </a:xfrm>
          <a:prstGeom prst="rect">
            <a:avLst/>
          </a:prstGeom>
          <a:solidFill>
            <a:srgbClr val="14293B"/>
          </a:solidFill>
          <a:ln w="8255">
            <a:solidFill>
              <a:srgbClr val="F5F6F8"/>
            </a:solidFill>
            <a:prstDash val="solid"/>
          </a:ln>
        </p:spPr>
      </p:sp>
      <p:sp>
        <p:nvSpPr>
          <p:cNvPr id="7" name="Text 4"/>
          <p:cNvSpPr/>
          <p:nvPr/>
        </p:nvSpPr>
        <p:spPr>
          <a:xfrm>
            <a:off x="786384" y="1965960"/>
            <a:ext cx="512064"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ID</a:t>
            </a:r>
            <a:endParaRPr lang="en-US" sz="1350" dirty="0"/>
          </a:p>
        </p:txBody>
      </p:sp>
      <p:sp>
        <p:nvSpPr>
          <p:cNvPr id="8" name="Shape 5"/>
          <p:cNvSpPr/>
          <p:nvPr/>
        </p:nvSpPr>
        <p:spPr>
          <a:xfrm>
            <a:off x="1389888" y="1901952"/>
            <a:ext cx="3950208" cy="429768"/>
          </a:xfrm>
          <a:prstGeom prst="rect">
            <a:avLst/>
          </a:prstGeom>
          <a:solidFill>
            <a:srgbClr val="14293B"/>
          </a:solidFill>
          <a:ln w="8255">
            <a:solidFill>
              <a:srgbClr val="F5F6F8"/>
            </a:solidFill>
            <a:prstDash val="solid"/>
          </a:ln>
        </p:spPr>
      </p:sp>
      <p:sp>
        <p:nvSpPr>
          <p:cNvPr id="9" name="Text 6"/>
          <p:cNvSpPr/>
          <p:nvPr/>
        </p:nvSpPr>
        <p:spPr>
          <a:xfrm>
            <a:off x="1481328" y="1965960"/>
            <a:ext cx="3767328"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Tema</a:t>
            </a:r>
            <a:endParaRPr lang="en-US" sz="1350" dirty="0"/>
          </a:p>
        </p:txBody>
      </p:sp>
      <p:sp>
        <p:nvSpPr>
          <p:cNvPr id="10" name="Shape 7"/>
          <p:cNvSpPr/>
          <p:nvPr/>
        </p:nvSpPr>
        <p:spPr>
          <a:xfrm>
            <a:off x="5340096" y="1901952"/>
            <a:ext cx="5669280" cy="429768"/>
          </a:xfrm>
          <a:prstGeom prst="rect">
            <a:avLst/>
          </a:prstGeom>
          <a:solidFill>
            <a:srgbClr val="14293B"/>
          </a:solidFill>
          <a:ln w="8255">
            <a:solidFill>
              <a:srgbClr val="F5F6F8"/>
            </a:solidFill>
            <a:prstDash val="solid"/>
          </a:ln>
        </p:spPr>
      </p:sp>
      <p:sp>
        <p:nvSpPr>
          <p:cNvPr id="11" name="Text 8"/>
          <p:cNvSpPr/>
          <p:nvPr/>
        </p:nvSpPr>
        <p:spPr>
          <a:xfrm>
            <a:off x="5431536" y="1965960"/>
            <a:ext cx="548640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URL oficial / primaria</a:t>
            </a:r>
            <a:endParaRPr lang="en-US" sz="1350" dirty="0"/>
          </a:p>
        </p:txBody>
      </p:sp>
      <p:sp>
        <p:nvSpPr>
          <p:cNvPr id="12" name="Shape 9"/>
          <p:cNvSpPr/>
          <p:nvPr/>
        </p:nvSpPr>
        <p:spPr>
          <a:xfrm>
            <a:off x="694944" y="2331720"/>
            <a:ext cx="694944" cy="685800"/>
          </a:xfrm>
          <a:prstGeom prst="rect">
            <a:avLst/>
          </a:prstGeom>
          <a:solidFill>
            <a:srgbClr val="FFFFFF"/>
          </a:solidFill>
          <a:ln w="8255">
            <a:solidFill>
              <a:srgbClr val="F5F6F8"/>
            </a:solidFill>
            <a:prstDash val="solid"/>
          </a:ln>
        </p:spPr>
      </p:sp>
      <p:sp>
        <p:nvSpPr>
          <p:cNvPr id="13" name="Text 10"/>
          <p:cNvSpPr/>
          <p:nvPr/>
        </p:nvSpPr>
        <p:spPr>
          <a:xfrm>
            <a:off x="786384" y="23957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F08</a:t>
            </a:r>
            <a:endParaRPr lang="en-US" sz="1220" dirty="0"/>
          </a:p>
        </p:txBody>
      </p:sp>
      <p:sp>
        <p:nvSpPr>
          <p:cNvPr id="14" name="Shape 11"/>
          <p:cNvSpPr/>
          <p:nvPr/>
        </p:nvSpPr>
        <p:spPr>
          <a:xfrm>
            <a:off x="1389888" y="2331720"/>
            <a:ext cx="3950208" cy="685800"/>
          </a:xfrm>
          <a:prstGeom prst="rect">
            <a:avLst/>
          </a:prstGeom>
          <a:solidFill>
            <a:srgbClr val="FFFFFF"/>
          </a:solidFill>
          <a:ln w="8255">
            <a:solidFill>
              <a:srgbClr val="F5F6F8"/>
            </a:solidFill>
            <a:prstDash val="solid"/>
          </a:ln>
        </p:spPr>
      </p:sp>
      <p:sp>
        <p:nvSpPr>
          <p:cNvPr id="15" name="Text 12"/>
          <p:cNvSpPr/>
          <p:nvPr/>
        </p:nvSpPr>
        <p:spPr>
          <a:xfrm>
            <a:off x="1481328" y="23957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IHP SG13G2: proceso real de 130 nm y estado del PDK abierto</a:t>
            </a:r>
            <a:endParaRPr lang="en-US" sz="1220" dirty="0"/>
          </a:p>
        </p:txBody>
      </p:sp>
      <p:sp>
        <p:nvSpPr>
          <p:cNvPr id="16" name="Shape 13"/>
          <p:cNvSpPr/>
          <p:nvPr/>
        </p:nvSpPr>
        <p:spPr>
          <a:xfrm>
            <a:off x="5340096" y="2331720"/>
            <a:ext cx="5669280" cy="685800"/>
          </a:xfrm>
          <a:prstGeom prst="rect">
            <a:avLst/>
          </a:prstGeom>
          <a:solidFill>
            <a:srgbClr val="FFFFFF"/>
          </a:solidFill>
          <a:ln w="8255">
            <a:solidFill>
              <a:srgbClr val="F5F6F8"/>
            </a:solidFill>
            <a:prstDash val="solid"/>
          </a:ln>
        </p:spPr>
      </p:sp>
      <p:sp>
        <p:nvSpPr>
          <p:cNvPr id="17" name="Text 14">
            <a:hlinkClick r:id="rId2" tooltip=""/>
          </p:cNvPr>
          <p:cNvSpPr/>
          <p:nvPr/>
        </p:nvSpPr>
        <p:spPr>
          <a:xfrm>
            <a:off x="5431536" y="23957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https://github.com/IHP-GmbH/IHP-Open-PDK</a:t>
            </a:r>
            <a:endParaRPr lang="en-US" sz="1220" dirty="0"/>
          </a:p>
        </p:txBody>
      </p:sp>
      <p:sp>
        <p:nvSpPr>
          <p:cNvPr id="18" name="Shape 15"/>
          <p:cNvSpPr/>
          <p:nvPr/>
        </p:nvSpPr>
        <p:spPr>
          <a:xfrm>
            <a:off x="694944" y="3017520"/>
            <a:ext cx="694944" cy="685800"/>
          </a:xfrm>
          <a:prstGeom prst="rect">
            <a:avLst/>
          </a:prstGeom>
          <a:solidFill>
            <a:srgbClr val="EAF0F5"/>
          </a:solidFill>
          <a:ln w="8255">
            <a:solidFill>
              <a:srgbClr val="F5F6F8"/>
            </a:solidFill>
            <a:prstDash val="solid"/>
          </a:ln>
        </p:spPr>
      </p:sp>
      <p:sp>
        <p:nvSpPr>
          <p:cNvPr id="19" name="Text 16"/>
          <p:cNvSpPr/>
          <p:nvPr/>
        </p:nvSpPr>
        <p:spPr>
          <a:xfrm>
            <a:off x="786384" y="30815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F09</a:t>
            </a:r>
            <a:endParaRPr lang="en-US" sz="1220" dirty="0"/>
          </a:p>
        </p:txBody>
      </p:sp>
      <p:sp>
        <p:nvSpPr>
          <p:cNvPr id="20" name="Shape 17"/>
          <p:cNvSpPr/>
          <p:nvPr/>
        </p:nvSpPr>
        <p:spPr>
          <a:xfrm>
            <a:off x="1389888" y="3017520"/>
            <a:ext cx="3950208" cy="685800"/>
          </a:xfrm>
          <a:prstGeom prst="rect">
            <a:avLst/>
          </a:prstGeom>
          <a:solidFill>
            <a:srgbClr val="EAF0F5"/>
          </a:solidFill>
          <a:ln w="8255">
            <a:solidFill>
              <a:srgbClr val="F5F6F8"/>
            </a:solidFill>
            <a:prstDash val="solid"/>
          </a:ln>
        </p:spPr>
      </p:sp>
      <p:sp>
        <p:nvSpPr>
          <p:cNvPr id="21" name="Text 18"/>
          <p:cNvSpPr/>
          <p:nvPr/>
        </p:nvSpPr>
        <p:spPr>
          <a:xfrm>
            <a:off x="1481328" y="30815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Nangate45 / FreePDK45: tecnología genérica predictiva</a:t>
            </a:r>
            <a:endParaRPr lang="en-US" sz="1220" dirty="0"/>
          </a:p>
        </p:txBody>
      </p:sp>
      <p:sp>
        <p:nvSpPr>
          <p:cNvPr id="22" name="Shape 19"/>
          <p:cNvSpPr/>
          <p:nvPr/>
        </p:nvSpPr>
        <p:spPr>
          <a:xfrm>
            <a:off x="5340096" y="3017520"/>
            <a:ext cx="5669280" cy="685800"/>
          </a:xfrm>
          <a:prstGeom prst="rect">
            <a:avLst/>
          </a:prstGeom>
          <a:solidFill>
            <a:srgbClr val="EAF0F5"/>
          </a:solidFill>
          <a:ln w="8255">
            <a:solidFill>
              <a:srgbClr val="F5F6F8"/>
            </a:solidFill>
            <a:prstDash val="solid"/>
          </a:ln>
        </p:spPr>
      </p:sp>
      <p:sp>
        <p:nvSpPr>
          <p:cNvPr id="23" name="Text 20">
            <a:hlinkClick r:id="rId3" tooltip=""/>
          </p:cNvPr>
          <p:cNvSpPr/>
          <p:nvPr/>
        </p:nvSpPr>
        <p:spPr>
          <a:xfrm>
            <a:off x="5431536" y="30815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https://eda.ncsu.edu/freepdk/freepdk45/</a:t>
            </a:r>
            <a:endParaRPr lang="en-US" sz="1220" dirty="0"/>
          </a:p>
        </p:txBody>
      </p:sp>
      <p:sp>
        <p:nvSpPr>
          <p:cNvPr id="24" name="Shape 21"/>
          <p:cNvSpPr/>
          <p:nvPr/>
        </p:nvSpPr>
        <p:spPr>
          <a:xfrm>
            <a:off x="694944" y="3703320"/>
            <a:ext cx="694944" cy="685800"/>
          </a:xfrm>
          <a:prstGeom prst="rect">
            <a:avLst/>
          </a:prstGeom>
          <a:solidFill>
            <a:srgbClr val="FFFFFF"/>
          </a:solidFill>
          <a:ln w="8255">
            <a:solidFill>
              <a:srgbClr val="F5F6F8"/>
            </a:solidFill>
            <a:prstDash val="solid"/>
          </a:ln>
        </p:spPr>
      </p:sp>
      <p:sp>
        <p:nvSpPr>
          <p:cNvPr id="25" name="Text 22"/>
          <p:cNvSpPr/>
          <p:nvPr/>
        </p:nvSpPr>
        <p:spPr>
          <a:xfrm>
            <a:off x="786384" y="37673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F10</a:t>
            </a:r>
            <a:endParaRPr lang="en-US" sz="1220" dirty="0"/>
          </a:p>
        </p:txBody>
      </p:sp>
      <p:sp>
        <p:nvSpPr>
          <p:cNvPr id="26" name="Shape 23"/>
          <p:cNvSpPr/>
          <p:nvPr/>
        </p:nvSpPr>
        <p:spPr>
          <a:xfrm>
            <a:off x="1389888" y="3703320"/>
            <a:ext cx="3950208" cy="685800"/>
          </a:xfrm>
          <a:prstGeom prst="rect">
            <a:avLst/>
          </a:prstGeom>
          <a:solidFill>
            <a:srgbClr val="FFFFFF"/>
          </a:solidFill>
          <a:ln w="8255">
            <a:solidFill>
              <a:srgbClr val="F5F6F8"/>
            </a:solidFill>
            <a:prstDash val="solid"/>
          </a:ln>
        </p:spPr>
      </p:sp>
      <p:sp>
        <p:nvSpPr>
          <p:cNvPr id="27" name="Text 24"/>
          <p:cNvSpPr/>
          <p:nvPr/>
        </p:nvSpPr>
        <p:spPr>
          <a:xfrm>
            <a:off x="1481328" y="37673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Nangate15 / FreePDK15: kit predictivo FinFET de investigación</a:t>
            </a:r>
            <a:endParaRPr lang="en-US" sz="1220" dirty="0"/>
          </a:p>
        </p:txBody>
      </p:sp>
      <p:sp>
        <p:nvSpPr>
          <p:cNvPr id="28" name="Shape 25"/>
          <p:cNvSpPr/>
          <p:nvPr/>
        </p:nvSpPr>
        <p:spPr>
          <a:xfrm>
            <a:off x="5340096" y="3703320"/>
            <a:ext cx="5669280" cy="685800"/>
          </a:xfrm>
          <a:prstGeom prst="rect">
            <a:avLst/>
          </a:prstGeom>
          <a:solidFill>
            <a:srgbClr val="FFFFFF"/>
          </a:solidFill>
          <a:ln w="8255">
            <a:solidFill>
              <a:srgbClr val="F5F6F8"/>
            </a:solidFill>
            <a:prstDash val="solid"/>
          </a:ln>
        </p:spPr>
      </p:sp>
      <p:sp>
        <p:nvSpPr>
          <p:cNvPr id="29" name="Text 26">
            <a:hlinkClick r:id="rId4" tooltip=""/>
          </p:cNvPr>
          <p:cNvSpPr/>
          <p:nvPr/>
        </p:nvSpPr>
        <p:spPr>
          <a:xfrm>
            <a:off x="5431536" y="37673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https://eda.ncsu.edu/freepdk15/</a:t>
            </a:r>
            <a:endParaRPr lang="en-US" sz="1220" dirty="0"/>
          </a:p>
        </p:txBody>
      </p:sp>
      <p:sp>
        <p:nvSpPr>
          <p:cNvPr id="30" name="Shape 27"/>
          <p:cNvSpPr/>
          <p:nvPr/>
        </p:nvSpPr>
        <p:spPr>
          <a:xfrm>
            <a:off x="694944" y="4389120"/>
            <a:ext cx="694944" cy="685800"/>
          </a:xfrm>
          <a:prstGeom prst="rect">
            <a:avLst/>
          </a:prstGeom>
          <a:solidFill>
            <a:srgbClr val="EAF0F5"/>
          </a:solidFill>
          <a:ln w="8255">
            <a:solidFill>
              <a:srgbClr val="F5F6F8"/>
            </a:solidFill>
            <a:prstDash val="solid"/>
          </a:ln>
        </p:spPr>
      </p:sp>
      <p:sp>
        <p:nvSpPr>
          <p:cNvPr id="31" name="Text 28"/>
          <p:cNvSpPr/>
          <p:nvPr/>
        </p:nvSpPr>
        <p:spPr>
          <a:xfrm>
            <a:off x="786384" y="44531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F11</a:t>
            </a:r>
            <a:endParaRPr lang="en-US" sz="1220" dirty="0"/>
          </a:p>
        </p:txBody>
      </p:sp>
      <p:sp>
        <p:nvSpPr>
          <p:cNvPr id="32" name="Shape 29"/>
          <p:cNvSpPr/>
          <p:nvPr/>
        </p:nvSpPr>
        <p:spPr>
          <a:xfrm>
            <a:off x="1389888" y="4389120"/>
            <a:ext cx="3950208" cy="685800"/>
          </a:xfrm>
          <a:prstGeom prst="rect">
            <a:avLst/>
          </a:prstGeom>
          <a:solidFill>
            <a:srgbClr val="EAF0F5"/>
          </a:solidFill>
          <a:ln w="8255">
            <a:solidFill>
              <a:srgbClr val="F5F6F8"/>
            </a:solidFill>
            <a:prstDash val="solid"/>
          </a:ln>
        </p:spPr>
      </p:sp>
      <p:sp>
        <p:nvSpPr>
          <p:cNvPr id="33" name="Text 30"/>
          <p:cNvSpPr/>
          <p:nvPr/>
        </p:nvSpPr>
        <p:spPr>
          <a:xfrm>
            <a:off x="1481328" y="44531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Unidades geométricas: documentación primaria y evidencia suministrada</a:t>
            </a:r>
            <a:endParaRPr lang="en-US" sz="1220" dirty="0"/>
          </a:p>
        </p:txBody>
      </p:sp>
      <p:sp>
        <p:nvSpPr>
          <p:cNvPr id="34" name="Shape 31"/>
          <p:cNvSpPr/>
          <p:nvPr/>
        </p:nvSpPr>
        <p:spPr>
          <a:xfrm>
            <a:off x="5340096" y="4389120"/>
            <a:ext cx="5669280" cy="685800"/>
          </a:xfrm>
          <a:prstGeom prst="rect">
            <a:avLst/>
          </a:prstGeom>
          <a:solidFill>
            <a:srgbClr val="EAF0F5"/>
          </a:solidFill>
          <a:ln w="8255">
            <a:solidFill>
              <a:srgbClr val="F5F6F8"/>
            </a:solidFill>
            <a:prstDash val="solid"/>
          </a:ln>
        </p:spPr>
      </p:sp>
      <p:sp>
        <p:nvSpPr>
          <p:cNvPr id="35" name="Text 32">
            <a:hlinkClick r:id="rId5" tooltip=""/>
          </p:cNvPr>
          <p:cNvSpPr/>
          <p:nvPr/>
        </p:nvSpPr>
        <p:spPr>
          <a:xfrm>
            <a:off x="5431536" y="44531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https://ihp-open-pdk-docs.readthedocs.io/en/latest/layout_rules/01_general.html</a:t>
            </a:r>
            <a:endParaRPr lang="en-US" sz="1220" dirty="0"/>
          </a:p>
        </p:txBody>
      </p:sp>
      <p:sp>
        <p:nvSpPr>
          <p:cNvPr id="36" name="Shape 33"/>
          <p:cNvSpPr/>
          <p:nvPr/>
        </p:nvSpPr>
        <p:spPr>
          <a:xfrm>
            <a:off x="694944" y="5074920"/>
            <a:ext cx="694944" cy="685800"/>
          </a:xfrm>
          <a:prstGeom prst="rect">
            <a:avLst/>
          </a:prstGeom>
          <a:solidFill>
            <a:srgbClr val="FFFFFF"/>
          </a:solidFill>
          <a:ln w="8255">
            <a:solidFill>
              <a:srgbClr val="F5F6F8"/>
            </a:solidFill>
            <a:prstDash val="solid"/>
          </a:ln>
        </p:spPr>
      </p:sp>
      <p:sp>
        <p:nvSpPr>
          <p:cNvPr id="37" name="Text 34"/>
          <p:cNvSpPr/>
          <p:nvPr/>
        </p:nvSpPr>
        <p:spPr>
          <a:xfrm>
            <a:off x="786384" y="51389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F12</a:t>
            </a:r>
            <a:endParaRPr lang="en-US" sz="1220" dirty="0"/>
          </a:p>
        </p:txBody>
      </p:sp>
      <p:sp>
        <p:nvSpPr>
          <p:cNvPr id="38" name="Shape 35"/>
          <p:cNvSpPr/>
          <p:nvPr/>
        </p:nvSpPr>
        <p:spPr>
          <a:xfrm>
            <a:off x="1389888" y="5074920"/>
            <a:ext cx="3950208" cy="685800"/>
          </a:xfrm>
          <a:prstGeom prst="rect">
            <a:avLst/>
          </a:prstGeom>
          <a:solidFill>
            <a:srgbClr val="FFFFFF"/>
          </a:solidFill>
          <a:ln w="8255">
            <a:solidFill>
              <a:srgbClr val="F5F6F8"/>
            </a:solidFill>
            <a:prstDash val="solid"/>
          </a:ln>
        </p:spPr>
      </p:sp>
      <p:sp>
        <p:nvSpPr>
          <p:cNvPr id="39" name="Text 36"/>
          <p:cNvSpPr/>
          <p:nvPr/>
        </p:nvSpPr>
        <p:spPr>
          <a:xfrm>
            <a:off x="1481328" y="51389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OSS CAD Suite: distribución de herramientas EDA</a:t>
            </a:r>
            <a:endParaRPr lang="en-US" sz="1220" dirty="0"/>
          </a:p>
        </p:txBody>
      </p:sp>
      <p:sp>
        <p:nvSpPr>
          <p:cNvPr id="40" name="Shape 37"/>
          <p:cNvSpPr/>
          <p:nvPr/>
        </p:nvSpPr>
        <p:spPr>
          <a:xfrm>
            <a:off x="5340096" y="5074920"/>
            <a:ext cx="5669280" cy="685800"/>
          </a:xfrm>
          <a:prstGeom prst="rect">
            <a:avLst/>
          </a:prstGeom>
          <a:solidFill>
            <a:srgbClr val="FFFFFF"/>
          </a:solidFill>
          <a:ln w="8255">
            <a:solidFill>
              <a:srgbClr val="F5F6F8"/>
            </a:solidFill>
            <a:prstDash val="solid"/>
          </a:ln>
        </p:spPr>
      </p:sp>
      <p:sp>
        <p:nvSpPr>
          <p:cNvPr id="41" name="Text 38">
            <a:hlinkClick r:id="rId6" tooltip=""/>
          </p:cNvPr>
          <p:cNvSpPr/>
          <p:nvPr/>
        </p:nvSpPr>
        <p:spPr>
          <a:xfrm>
            <a:off x="5431536" y="51389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https://github.com/YosysHQ/oss-cad-suite-build</a:t>
            </a:r>
            <a:endParaRPr lang="en-US" sz="1220" dirty="0"/>
          </a:p>
        </p:txBody>
      </p:sp>
      <p:sp>
        <p:nvSpPr>
          <p:cNvPr id="42" name="Shape 39"/>
          <p:cNvSpPr/>
          <p:nvPr/>
        </p:nvSpPr>
        <p:spPr>
          <a:xfrm>
            <a:off x="585216" y="6492240"/>
            <a:ext cx="11009376" cy="0"/>
          </a:xfrm>
          <a:prstGeom prst="line">
            <a:avLst/>
          </a:prstGeom>
          <a:noFill/>
          <a:ln w="8890">
            <a:solidFill>
              <a:srgbClr val="D9E2E9"/>
            </a:solidFill>
            <a:prstDash val="solid"/>
            <a:headEnd type="none"/>
            <a:tailEnd type="none"/>
          </a:ln>
        </p:spPr>
      </p:sp>
      <p:sp>
        <p:nvSpPr>
          <p:cNvPr id="43" name="Text 40"/>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F08 · F09 · F10 · F11 · F12 · F13 · F14 · F15 · F16 · F17</a:t>
            </a:r>
            <a:endParaRPr lang="en-US" sz="870" dirty="0"/>
          </a:p>
        </p:txBody>
      </p:sp>
      <p:sp>
        <p:nvSpPr>
          <p:cNvPr id="44" name="Text 41"/>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50 / 53</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BIBLIOGRAFÍA</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Anexo L · Referencias de tecnología y plataforma · 2</a:t>
            </a:r>
            <a:endParaRPr lang="en-US" sz="2800" dirty="0"/>
          </a:p>
        </p:txBody>
      </p:sp>
      <p:sp>
        <p:nvSpPr>
          <p:cNvPr id="6" name="Shape 3"/>
          <p:cNvSpPr/>
          <p:nvPr/>
        </p:nvSpPr>
        <p:spPr>
          <a:xfrm>
            <a:off x="694944" y="1901952"/>
            <a:ext cx="694944" cy="429768"/>
          </a:xfrm>
          <a:prstGeom prst="rect">
            <a:avLst/>
          </a:prstGeom>
          <a:solidFill>
            <a:srgbClr val="14293B"/>
          </a:solidFill>
          <a:ln w="8255">
            <a:solidFill>
              <a:srgbClr val="F5F6F8"/>
            </a:solidFill>
            <a:prstDash val="solid"/>
          </a:ln>
        </p:spPr>
      </p:sp>
      <p:sp>
        <p:nvSpPr>
          <p:cNvPr id="7" name="Text 4"/>
          <p:cNvSpPr/>
          <p:nvPr/>
        </p:nvSpPr>
        <p:spPr>
          <a:xfrm>
            <a:off x="786384" y="1965960"/>
            <a:ext cx="512064"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ID</a:t>
            </a:r>
            <a:endParaRPr lang="en-US" sz="1350" dirty="0"/>
          </a:p>
        </p:txBody>
      </p:sp>
      <p:sp>
        <p:nvSpPr>
          <p:cNvPr id="8" name="Shape 5"/>
          <p:cNvSpPr/>
          <p:nvPr/>
        </p:nvSpPr>
        <p:spPr>
          <a:xfrm>
            <a:off x="1389888" y="1901952"/>
            <a:ext cx="3950208" cy="429768"/>
          </a:xfrm>
          <a:prstGeom prst="rect">
            <a:avLst/>
          </a:prstGeom>
          <a:solidFill>
            <a:srgbClr val="14293B"/>
          </a:solidFill>
          <a:ln w="8255">
            <a:solidFill>
              <a:srgbClr val="F5F6F8"/>
            </a:solidFill>
            <a:prstDash val="solid"/>
          </a:ln>
        </p:spPr>
      </p:sp>
      <p:sp>
        <p:nvSpPr>
          <p:cNvPr id="9" name="Text 6"/>
          <p:cNvSpPr/>
          <p:nvPr/>
        </p:nvSpPr>
        <p:spPr>
          <a:xfrm>
            <a:off x="1481328" y="1965960"/>
            <a:ext cx="3767328"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Tema</a:t>
            </a:r>
            <a:endParaRPr lang="en-US" sz="1350" dirty="0"/>
          </a:p>
        </p:txBody>
      </p:sp>
      <p:sp>
        <p:nvSpPr>
          <p:cNvPr id="10" name="Shape 7"/>
          <p:cNvSpPr/>
          <p:nvPr/>
        </p:nvSpPr>
        <p:spPr>
          <a:xfrm>
            <a:off x="5340096" y="1901952"/>
            <a:ext cx="5669280" cy="429768"/>
          </a:xfrm>
          <a:prstGeom prst="rect">
            <a:avLst/>
          </a:prstGeom>
          <a:solidFill>
            <a:srgbClr val="14293B"/>
          </a:solidFill>
          <a:ln w="8255">
            <a:solidFill>
              <a:srgbClr val="F5F6F8"/>
            </a:solidFill>
            <a:prstDash val="solid"/>
          </a:ln>
        </p:spPr>
      </p:sp>
      <p:sp>
        <p:nvSpPr>
          <p:cNvPr id="11" name="Text 8"/>
          <p:cNvSpPr/>
          <p:nvPr/>
        </p:nvSpPr>
        <p:spPr>
          <a:xfrm>
            <a:off x="5431536" y="1965960"/>
            <a:ext cx="548640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URL oficial / primaria</a:t>
            </a:r>
            <a:endParaRPr lang="en-US" sz="1350" dirty="0"/>
          </a:p>
        </p:txBody>
      </p:sp>
      <p:sp>
        <p:nvSpPr>
          <p:cNvPr id="12" name="Shape 9"/>
          <p:cNvSpPr/>
          <p:nvPr/>
        </p:nvSpPr>
        <p:spPr>
          <a:xfrm>
            <a:off x="694944" y="2331720"/>
            <a:ext cx="694944" cy="685800"/>
          </a:xfrm>
          <a:prstGeom prst="rect">
            <a:avLst/>
          </a:prstGeom>
          <a:solidFill>
            <a:srgbClr val="FFFFFF"/>
          </a:solidFill>
          <a:ln w="8255">
            <a:solidFill>
              <a:srgbClr val="F5F6F8"/>
            </a:solidFill>
            <a:prstDash val="solid"/>
          </a:ln>
        </p:spPr>
      </p:sp>
      <p:sp>
        <p:nvSpPr>
          <p:cNvPr id="13" name="Text 10"/>
          <p:cNvSpPr/>
          <p:nvPr/>
        </p:nvSpPr>
        <p:spPr>
          <a:xfrm>
            <a:off x="786384" y="23957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F13</a:t>
            </a:r>
            <a:endParaRPr lang="en-US" sz="1220" dirty="0"/>
          </a:p>
        </p:txBody>
      </p:sp>
      <p:sp>
        <p:nvSpPr>
          <p:cNvPr id="14" name="Shape 11"/>
          <p:cNvSpPr/>
          <p:nvPr/>
        </p:nvSpPr>
        <p:spPr>
          <a:xfrm>
            <a:off x="1389888" y="2331720"/>
            <a:ext cx="3950208" cy="685800"/>
          </a:xfrm>
          <a:prstGeom prst="rect">
            <a:avLst/>
          </a:prstGeom>
          <a:solidFill>
            <a:srgbClr val="FFFFFF"/>
          </a:solidFill>
          <a:ln w="8255">
            <a:solidFill>
              <a:srgbClr val="F5F6F8"/>
            </a:solidFill>
            <a:prstDash val="solid"/>
          </a:ln>
        </p:spPr>
      </p:sp>
      <p:sp>
        <p:nvSpPr>
          <p:cNvPr id="15" name="Text 12"/>
          <p:cNvSpPr/>
          <p:nvPr/>
        </p:nvSpPr>
        <p:spPr>
          <a:xfrm>
            <a:off x="1481328" y="23957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FastAPI: API y validación de solicitudes</a:t>
            </a:r>
            <a:endParaRPr lang="en-US" sz="1220" dirty="0"/>
          </a:p>
        </p:txBody>
      </p:sp>
      <p:sp>
        <p:nvSpPr>
          <p:cNvPr id="16" name="Shape 13"/>
          <p:cNvSpPr/>
          <p:nvPr/>
        </p:nvSpPr>
        <p:spPr>
          <a:xfrm>
            <a:off x="5340096" y="2331720"/>
            <a:ext cx="5669280" cy="685800"/>
          </a:xfrm>
          <a:prstGeom prst="rect">
            <a:avLst/>
          </a:prstGeom>
          <a:solidFill>
            <a:srgbClr val="FFFFFF"/>
          </a:solidFill>
          <a:ln w="8255">
            <a:solidFill>
              <a:srgbClr val="F5F6F8"/>
            </a:solidFill>
            <a:prstDash val="solid"/>
          </a:ln>
        </p:spPr>
      </p:sp>
      <p:sp>
        <p:nvSpPr>
          <p:cNvPr id="17" name="Text 14">
            <a:hlinkClick r:id="rId2" tooltip=""/>
          </p:cNvPr>
          <p:cNvSpPr/>
          <p:nvPr/>
        </p:nvSpPr>
        <p:spPr>
          <a:xfrm>
            <a:off x="5431536" y="23957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https://fastapi.tiangolo.com/</a:t>
            </a:r>
            <a:endParaRPr lang="en-US" sz="1220" dirty="0"/>
          </a:p>
        </p:txBody>
      </p:sp>
      <p:sp>
        <p:nvSpPr>
          <p:cNvPr id="18" name="Shape 15"/>
          <p:cNvSpPr/>
          <p:nvPr/>
        </p:nvSpPr>
        <p:spPr>
          <a:xfrm>
            <a:off x="694944" y="3017520"/>
            <a:ext cx="694944" cy="685800"/>
          </a:xfrm>
          <a:prstGeom prst="rect">
            <a:avLst/>
          </a:prstGeom>
          <a:solidFill>
            <a:srgbClr val="EAF0F5"/>
          </a:solidFill>
          <a:ln w="8255">
            <a:solidFill>
              <a:srgbClr val="F5F6F8"/>
            </a:solidFill>
            <a:prstDash val="solid"/>
          </a:ln>
        </p:spPr>
      </p:sp>
      <p:sp>
        <p:nvSpPr>
          <p:cNvPr id="19" name="Text 16"/>
          <p:cNvSpPr/>
          <p:nvPr/>
        </p:nvSpPr>
        <p:spPr>
          <a:xfrm>
            <a:off x="786384" y="30815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F14</a:t>
            </a:r>
            <a:endParaRPr lang="en-US" sz="1220" dirty="0"/>
          </a:p>
        </p:txBody>
      </p:sp>
      <p:sp>
        <p:nvSpPr>
          <p:cNvPr id="20" name="Shape 17"/>
          <p:cNvSpPr/>
          <p:nvPr/>
        </p:nvSpPr>
        <p:spPr>
          <a:xfrm>
            <a:off x="1389888" y="3017520"/>
            <a:ext cx="3950208" cy="685800"/>
          </a:xfrm>
          <a:prstGeom prst="rect">
            <a:avLst/>
          </a:prstGeom>
          <a:solidFill>
            <a:srgbClr val="EAF0F5"/>
          </a:solidFill>
          <a:ln w="8255">
            <a:solidFill>
              <a:srgbClr val="F5F6F8"/>
            </a:solidFill>
            <a:prstDash val="solid"/>
          </a:ln>
        </p:spPr>
      </p:sp>
      <p:sp>
        <p:nvSpPr>
          <p:cNvPr id="21" name="Text 18"/>
          <p:cNvSpPr/>
          <p:nvPr/>
        </p:nvSpPr>
        <p:spPr>
          <a:xfrm>
            <a:off x="1481328" y="30815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React: interfaz basada en componentes</a:t>
            </a:r>
            <a:endParaRPr lang="en-US" sz="1220" dirty="0"/>
          </a:p>
        </p:txBody>
      </p:sp>
      <p:sp>
        <p:nvSpPr>
          <p:cNvPr id="22" name="Shape 19"/>
          <p:cNvSpPr/>
          <p:nvPr/>
        </p:nvSpPr>
        <p:spPr>
          <a:xfrm>
            <a:off x="5340096" y="3017520"/>
            <a:ext cx="5669280" cy="685800"/>
          </a:xfrm>
          <a:prstGeom prst="rect">
            <a:avLst/>
          </a:prstGeom>
          <a:solidFill>
            <a:srgbClr val="EAF0F5"/>
          </a:solidFill>
          <a:ln w="8255">
            <a:solidFill>
              <a:srgbClr val="F5F6F8"/>
            </a:solidFill>
            <a:prstDash val="solid"/>
          </a:ln>
        </p:spPr>
      </p:sp>
      <p:sp>
        <p:nvSpPr>
          <p:cNvPr id="23" name="Text 20">
            <a:hlinkClick r:id="rId3" tooltip=""/>
          </p:cNvPr>
          <p:cNvSpPr/>
          <p:nvPr/>
        </p:nvSpPr>
        <p:spPr>
          <a:xfrm>
            <a:off x="5431536" y="30815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https://react.dev/learn</a:t>
            </a:r>
            <a:endParaRPr lang="en-US" sz="1220" dirty="0"/>
          </a:p>
        </p:txBody>
      </p:sp>
      <p:sp>
        <p:nvSpPr>
          <p:cNvPr id="24" name="Shape 21"/>
          <p:cNvSpPr/>
          <p:nvPr/>
        </p:nvSpPr>
        <p:spPr>
          <a:xfrm>
            <a:off x="694944" y="3703320"/>
            <a:ext cx="694944" cy="685800"/>
          </a:xfrm>
          <a:prstGeom prst="rect">
            <a:avLst/>
          </a:prstGeom>
          <a:solidFill>
            <a:srgbClr val="FFFFFF"/>
          </a:solidFill>
          <a:ln w="8255">
            <a:solidFill>
              <a:srgbClr val="F5F6F8"/>
            </a:solidFill>
            <a:prstDash val="solid"/>
          </a:ln>
        </p:spPr>
      </p:sp>
      <p:sp>
        <p:nvSpPr>
          <p:cNvPr id="25" name="Text 22"/>
          <p:cNvSpPr/>
          <p:nvPr/>
        </p:nvSpPr>
        <p:spPr>
          <a:xfrm>
            <a:off x="786384" y="37673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F15</a:t>
            </a:r>
            <a:endParaRPr lang="en-US" sz="1220" dirty="0"/>
          </a:p>
        </p:txBody>
      </p:sp>
      <p:sp>
        <p:nvSpPr>
          <p:cNvPr id="26" name="Shape 23"/>
          <p:cNvSpPr/>
          <p:nvPr/>
        </p:nvSpPr>
        <p:spPr>
          <a:xfrm>
            <a:off x="1389888" y="3703320"/>
            <a:ext cx="3950208" cy="685800"/>
          </a:xfrm>
          <a:prstGeom prst="rect">
            <a:avLst/>
          </a:prstGeom>
          <a:solidFill>
            <a:srgbClr val="FFFFFF"/>
          </a:solidFill>
          <a:ln w="8255">
            <a:solidFill>
              <a:srgbClr val="F5F6F8"/>
            </a:solidFill>
            <a:prstDash val="solid"/>
          </a:ln>
        </p:spPr>
      </p:sp>
      <p:sp>
        <p:nvSpPr>
          <p:cNvPr id="27" name="Text 24"/>
          <p:cNvSpPr/>
          <p:nvPr/>
        </p:nvSpPr>
        <p:spPr>
          <a:xfrm>
            <a:off x="1481328" y="37673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Vite: desarrollo y empaquetado del frontend</a:t>
            </a:r>
            <a:endParaRPr lang="en-US" sz="1220" dirty="0"/>
          </a:p>
        </p:txBody>
      </p:sp>
      <p:sp>
        <p:nvSpPr>
          <p:cNvPr id="28" name="Shape 25"/>
          <p:cNvSpPr/>
          <p:nvPr/>
        </p:nvSpPr>
        <p:spPr>
          <a:xfrm>
            <a:off x="5340096" y="3703320"/>
            <a:ext cx="5669280" cy="685800"/>
          </a:xfrm>
          <a:prstGeom prst="rect">
            <a:avLst/>
          </a:prstGeom>
          <a:solidFill>
            <a:srgbClr val="FFFFFF"/>
          </a:solidFill>
          <a:ln w="8255">
            <a:solidFill>
              <a:srgbClr val="F5F6F8"/>
            </a:solidFill>
            <a:prstDash val="solid"/>
          </a:ln>
        </p:spPr>
      </p:sp>
      <p:sp>
        <p:nvSpPr>
          <p:cNvPr id="29" name="Text 26">
            <a:hlinkClick r:id="rId4" tooltip=""/>
          </p:cNvPr>
          <p:cNvSpPr/>
          <p:nvPr/>
        </p:nvSpPr>
        <p:spPr>
          <a:xfrm>
            <a:off x="5431536" y="37673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https://vite.dev/guide/</a:t>
            </a:r>
            <a:endParaRPr lang="en-US" sz="1220" dirty="0"/>
          </a:p>
        </p:txBody>
      </p:sp>
      <p:sp>
        <p:nvSpPr>
          <p:cNvPr id="30" name="Shape 27"/>
          <p:cNvSpPr/>
          <p:nvPr/>
        </p:nvSpPr>
        <p:spPr>
          <a:xfrm>
            <a:off x="694944" y="4389120"/>
            <a:ext cx="694944" cy="685800"/>
          </a:xfrm>
          <a:prstGeom prst="rect">
            <a:avLst/>
          </a:prstGeom>
          <a:solidFill>
            <a:srgbClr val="EAF0F5"/>
          </a:solidFill>
          <a:ln w="8255">
            <a:solidFill>
              <a:srgbClr val="F5F6F8"/>
            </a:solidFill>
            <a:prstDash val="solid"/>
          </a:ln>
        </p:spPr>
      </p:sp>
      <p:sp>
        <p:nvSpPr>
          <p:cNvPr id="31" name="Text 28"/>
          <p:cNvSpPr/>
          <p:nvPr/>
        </p:nvSpPr>
        <p:spPr>
          <a:xfrm>
            <a:off x="786384" y="44531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F16</a:t>
            </a:r>
            <a:endParaRPr lang="en-US" sz="1220" dirty="0"/>
          </a:p>
        </p:txBody>
      </p:sp>
      <p:sp>
        <p:nvSpPr>
          <p:cNvPr id="32" name="Shape 29"/>
          <p:cNvSpPr/>
          <p:nvPr/>
        </p:nvSpPr>
        <p:spPr>
          <a:xfrm>
            <a:off x="1389888" y="4389120"/>
            <a:ext cx="3950208" cy="685800"/>
          </a:xfrm>
          <a:prstGeom prst="rect">
            <a:avLst/>
          </a:prstGeom>
          <a:solidFill>
            <a:srgbClr val="EAF0F5"/>
          </a:solidFill>
          <a:ln w="8255">
            <a:solidFill>
              <a:srgbClr val="F5F6F8"/>
            </a:solidFill>
            <a:prstDash val="solid"/>
          </a:ln>
        </p:spPr>
      </p:sp>
      <p:sp>
        <p:nvSpPr>
          <p:cNvPr id="33" name="Text 30"/>
          <p:cNvSpPr/>
          <p:nvPr/>
        </p:nvSpPr>
        <p:spPr>
          <a:xfrm>
            <a:off x="1481328" y="44531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SQLite: persistencia embebida</a:t>
            </a:r>
            <a:endParaRPr lang="en-US" sz="1220" dirty="0"/>
          </a:p>
        </p:txBody>
      </p:sp>
      <p:sp>
        <p:nvSpPr>
          <p:cNvPr id="34" name="Shape 31"/>
          <p:cNvSpPr/>
          <p:nvPr/>
        </p:nvSpPr>
        <p:spPr>
          <a:xfrm>
            <a:off x="5340096" y="4389120"/>
            <a:ext cx="5669280" cy="685800"/>
          </a:xfrm>
          <a:prstGeom prst="rect">
            <a:avLst/>
          </a:prstGeom>
          <a:solidFill>
            <a:srgbClr val="EAF0F5"/>
          </a:solidFill>
          <a:ln w="8255">
            <a:solidFill>
              <a:srgbClr val="F5F6F8"/>
            </a:solidFill>
            <a:prstDash val="solid"/>
          </a:ln>
        </p:spPr>
      </p:sp>
      <p:sp>
        <p:nvSpPr>
          <p:cNvPr id="35" name="Text 32">
            <a:hlinkClick r:id="rId5" tooltip=""/>
          </p:cNvPr>
          <p:cNvSpPr/>
          <p:nvPr/>
        </p:nvSpPr>
        <p:spPr>
          <a:xfrm>
            <a:off x="5431536" y="44531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https://sqlite.org/serverless.html</a:t>
            </a:r>
            <a:endParaRPr lang="en-US" sz="1220" dirty="0"/>
          </a:p>
        </p:txBody>
      </p:sp>
      <p:sp>
        <p:nvSpPr>
          <p:cNvPr id="36" name="Shape 33"/>
          <p:cNvSpPr/>
          <p:nvPr/>
        </p:nvSpPr>
        <p:spPr>
          <a:xfrm>
            <a:off x="694944" y="5074920"/>
            <a:ext cx="694944" cy="685800"/>
          </a:xfrm>
          <a:prstGeom prst="rect">
            <a:avLst/>
          </a:prstGeom>
          <a:solidFill>
            <a:srgbClr val="FFFFFF"/>
          </a:solidFill>
          <a:ln w="8255">
            <a:solidFill>
              <a:srgbClr val="F5F6F8"/>
            </a:solidFill>
            <a:prstDash val="solid"/>
          </a:ln>
        </p:spPr>
      </p:sp>
      <p:sp>
        <p:nvSpPr>
          <p:cNvPr id="37" name="Text 34"/>
          <p:cNvSpPr/>
          <p:nvPr/>
        </p:nvSpPr>
        <p:spPr>
          <a:xfrm>
            <a:off x="786384" y="51389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F17</a:t>
            </a:r>
            <a:endParaRPr lang="en-US" sz="1220" dirty="0"/>
          </a:p>
        </p:txBody>
      </p:sp>
      <p:sp>
        <p:nvSpPr>
          <p:cNvPr id="38" name="Shape 35"/>
          <p:cNvSpPr/>
          <p:nvPr/>
        </p:nvSpPr>
        <p:spPr>
          <a:xfrm>
            <a:off x="1389888" y="5074920"/>
            <a:ext cx="3950208" cy="685800"/>
          </a:xfrm>
          <a:prstGeom prst="rect">
            <a:avLst/>
          </a:prstGeom>
          <a:solidFill>
            <a:srgbClr val="FFFFFF"/>
          </a:solidFill>
          <a:ln w="8255">
            <a:solidFill>
              <a:srgbClr val="F5F6F8"/>
            </a:solidFill>
            <a:prstDash val="solid"/>
          </a:ln>
        </p:spPr>
      </p:sp>
      <p:sp>
        <p:nvSpPr>
          <p:cNvPr id="39" name="Text 36"/>
          <p:cNvSpPr/>
          <p:nvPr/>
        </p:nvSpPr>
        <p:spPr>
          <a:xfrm>
            <a:off x="1481328" y="51389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Docker y Compose: empaquetado y ejecución reproducible</a:t>
            </a:r>
            <a:endParaRPr lang="en-US" sz="1220" dirty="0"/>
          </a:p>
        </p:txBody>
      </p:sp>
      <p:sp>
        <p:nvSpPr>
          <p:cNvPr id="40" name="Shape 37"/>
          <p:cNvSpPr/>
          <p:nvPr/>
        </p:nvSpPr>
        <p:spPr>
          <a:xfrm>
            <a:off x="5340096" y="5074920"/>
            <a:ext cx="5669280" cy="685800"/>
          </a:xfrm>
          <a:prstGeom prst="rect">
            <a:avLst/>
          </a:prstGeom>
          <a:solidFill>
            <a:srgbClr val="FFFFFF"/>
          </a:solidFill>
          <a:ln w="8255">
            <a:solidFill>
              <a:srgbClr val="F5F6F8"/>
            </a:solidFill>
            <a:prstDash val="solid"/>
          </a:ln>
        </p:spPr>
      </p:sp>
      <p:sp>
        <p:nvSpPr>
          <p:cNvPr id="41" name="Text 38">
            <a:hlinkClick r:id="rId6" tooltip=""/>
          </p:cNvPr>
          <p:cNvSpPr/>
          <p:nvPr/>
        </p:nvSpPr>
        <p:spPr>
          <a:xfrm>
            <a:off x="5431536" y="51389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https://docs.docker.com/get-started/docker-overview/</a:t>
            </a:r>
            <a:endParaRPr lang="en-US" sz="1220" dirty="0"/>
          </a:p>
        </p:txBody>
      </p:sp>
      <p:sp>
        <p:nvSpPr>
          <p:cNvPr id="42" name="Shape 39"/>
          <p:cNvSpPr/>
          <p:nvPr/>
        </p:nvSpPr>
        <p:spPr>
          <a:xfrm>
            <a:off x="585216" y="6492240"/>
            <a:ext cx="11009376" cy="0"/>
          </a:xfrm>
          <a:prstGeom prst="line">
            <a:avLst/>
          </a:prstGeom>
          <a:noFill/>
          <a:ln w="8890">
            <a:solidFill>
              <a:srgbClr val="D9E2E9"/>
            </a:solidFill>
            <a:prstDash val="solid"/>
            <a:headEnd type="none"/>
            <a:tailEnd type="none"/>
          </a:ln>
        </p:spPr>
      </p:sp>
      <p:sp>
        <p:nvSpPr>
          <p:cNvPr id="43" name="Text 40"/>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F08 · F09 · F10 · F11 · F12 · F13 · F14 · F15 · F16 · F17</a:t>
            </a:r>
            <a:endParaRPr lang="en-US" sz="870" dirty="0"/>
          </a:p>
        </p:txBody>
      </p:sp>
      <p:sp>
        <p:nvSpPr>
          <p:cNvPr id="44" name="Text 41"/>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51 / 53</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BIBLIOGRAFÍA</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Anexo M · Fuentes de lenguajes, servidor y validadores · 1</a:t>
            </a:r>
            <a:endParaRPr lang="en-US" sz="2800" dirty="0"/>
          </a:p>
        </p:txBody>
      </p:sp>
      <p:sp>
        <p:nvSpPr>
          <p:cNvPr id="6" name="Shape 3"/>
          <p:cNvSpPr/>
          <p:nvPr/>
        </p:nvSpPr>
        <p:spPr>
          <a:xfrm>
            <a:off x="694944" y="1901952"/>
            <a:ext cx="694944" cy="429768"/>
          </a:xfrm>
          <a:prstGeom prst="rect">
            <a:avLst/>
          </a:prstGeom>
          <a:solidFill>
            <a:srgbClr val="14293B"/>
          </a:solidFill>
          <a:ln w="8255">
            <a:solidFill>
              <a:srgbClr val="F5F6F8"/>
            </a:solidFill>
            <a:prstDash val="solid"/>
          </a:ln>
        </p:spPr>
      </p:sp>
      <p:sp>
        <p:nvSpPr>
          <p:cNvPr id="7" name="Text 4"/>
          <p:cNvSpPr/>
          <p:nvPr/>
        </p:nvSpPr>
        <p:spPr>
          <a:xfrm>
            <a:off x="786384" y="1965960"/>
            <a:ext cx="512064"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ID</a:t>
            </a:r>
            <a:endParaRPr lang="en-US" sz="1350" dirty="0"/>
          </a:p>
        </p:txBody>
      </p:sp>
      <p:sp>
        <p:nvSpPr>
          <p:cNvPr id="8" name="Shape 5"/>
          <p:cNvSpPr/>
          <p:nvPr/>
        </p:nvSpPr>
        <p:spPr>
          <a:xfrm>
            <a:off x="1389888" y="1901952"/>
            <a:ext cx="3950208" cy="429768"/>
          </a:xfrm>
          <a:prstGeom prst="rect">
            <a:avLst/>
          </a:prstGeom>
          <a:solidFill>
            <a:srgbClr val="14293B"/>
          </a:solidFill>
          <a:ln w="8255">
            <a:solidFill>
              <a:srgbClr val="F5F6F8"/>
            </a:solidFill>
            <a:prstDash val="solid"/>
          </a:ln>
        </p:spPr>
      </p:sp>
      <p:sp>
        <p:nvSpPr>
          <p:cNvPr id="9" name="Text 6"/>
          <p:cNvSpPr/>
          <p:nvPr/>
        </p:nvSpPr>
        <p:spPr>
          <a:xfrm>
            <a:off x="1481328" y="1965960"/>
            <a:ext cx="3767328"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Tema</a:t>
            </a:r>
            <a:endParaRPr lang="en-US" sz="1350" dirty="0"/>
          </a:p>
        </p:txBody>
      </p:sp>
      <p:sp>
        <p:nvSpPr>
          <p:cNvPr id="10" name="Shape 7"/>
          <p:cNvSpPr/>
          <p:nvPr/>
        </p:nvSpPr>
        <p:spPr>
          <a:xfrm>
            <a:off x="5340096" y="1901952"/>
            <a:ext cx="5669280" cy="429768"/>
          </a:xfrm>
          <a:prstGeom prst="rect">
            <a:avLst/>
          </a:prstGeom>
          <a:solidFill>
            <a:srgbClr val="14293B"/>
          </a:solidFill>
          <a:ln w="8255">
            <a:solidFill>
              <a:srgbClr val="F5F6F8"/>
            </a:solidFill>
            <a:prstDash val="solid"/>
          </a:ln>
        </p:spPr>
      </p:sp>
      <p:sp>
        <p:nvSpPr>
          <p:cNvPr id="11" name="Text 8"/>
          <p:cNvSpPr/>
          <p:nvPr/>
        </p:nvSpPr>
        <p:spPr>
          <a:xfrm>
            <a:off x="5431536" y="1965960"/>
            <a:ext cx="548640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URL oficial / primaria</a:t>
            </a:r>
            <a:endParaRPr lang="en-US" sz="1350" dirty="0"/>
          </a:p>
        </p:txBody>
      </p:sp>
      <p:sp>
        <p:nvSpPr>
          <p:cNvPr id="12" name="Shape 9"/>
          <p:cNvSpPr/>
          <p:nvPr/>
        </p:nvSpPr>
        <p:spPr>
          <a:xfrm>
            <a:off x="694944" y="2331720"/>
            <a:ext cx="694944" cy="685800"/>
          </a:xfrm>
          <a:prstGeom prst="rect">
            <a:avLst/>
          </a:prstGeom>
          <a:solidFill>
            <a:srgbClr val="FFFFFF"/>
          </a:solidFill>
          <a:ln w="8255">
            <a:solidFill>
              <a:srgbClr val="F5F6F8"/>
            </a:solidFill>
            <a:prstDash val="solid"/>
          </a:ln>
        </p:spPr>
      </p:sp>
      <p:sp>
        <p:nvSpPr>
          <p:cNvPr id="13" name="Text 10"/>
          <p:cNvSpPr/>
          <p:nvPr/>
        </p:nvSpPr>
        <p:spPr>
          <a:xfrm>
            <a:off x="786384" y="23957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F19</a:t>
            </a:r>
            <a:endParaRPr lang="en-US" sz="1220" dirty="0"/>
          </a:p>
        </p:txBody>
      </p:sp>
      <p:sp>
        <p:nvSpPr>
          <p:cNvPr id="14" name="Shape 11"/>
          <p:cNvSpPr/>
          <p:nvPr/>
        </p:nvSpPr>
        <p:spPr>
          <a:xfrm>
            <a:off x="1389888" y="2331720"/>
            <a:ext cx="3950208" cy="685800"/>
          </a:xfrm>
          <a:prstGeom prst="rect">
            <a:avLst/>
          </a:prstGeom>
          <a:solidFill>
            <a:srgbClr val="FFFFFF"/>
          </a:solidFill>
          <a:ln w="8255">
            <a:solidFill>
              <a:srgbClr val="F5F6F8"/>
            </a:solidFill>
            <a:prstDash val="solid"/>
          </a:ln>
        </p:spPr>
      </p:sp>
      <p:sp>
        <p:nvSpPr>
          <p:cNvPr id="15" name="Text 12"/>
          <p:cNvSpPr/>
          <p:nvPr/>
        </p:nvSpPr>
        <p:spPr>
          <a:xfrm>
            <a:off x="1481328" y="23957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Python: orquestación y procesos externos</a:t>
            </a:r>
            <a:endParaRPr lang="en-US" sz="1220" dirty="0"/>
          </a:p>
        </p:txBody>
      </p:sp>
      <p:sp>
        <p:nvSpPr>
          <p:cNvPr id="16" name="Shape 13"/>
          <p:cNvSpPr/>
          <p:nvPr/>
        </p:nvSpPr>
        <p:spPr>
          <a:xfrm>
            <a:off x="5340096" y="2331720"/>
            <a:ext cx="5669280" cy="685800"/>
          </a:xfrm>
          <a:prstGeom prst="rect">
            <a:avLst/>
          </a:prstGeom>
          <a:solidFill>
            <a:srgbClr val="FFFFFF"/>
          </a:solidFill>
          <a:ln w="8255">
            <a:solidFill>
              <a:srgbClr val="F5F6F8"/>
            </a:solidFill>
            <a:prstDash val="solid"/>
          </a:ln>
        </p:spPr>
      </p:sp>
      <p:sp>
        <p:nvSpPr>
          <p:cNvPr id="17" name="Text 14">
            <a:hlinkClick r:id="rId2" tooltip=""/>
          </p:cNvPr>
          <p:cNvSpPr/>
          <p:nvPr/>
        </p:nvSpPr>
        <p:spPr>
          <a:xfrm>
            <a:off x="5431536" y="23957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https://docs.python.org/3.12/library/subprocess.html</a:t>
            </a:r>
            <a:endParaRPr lang="en-US" sz="1220" dirty="0"/>
          </a:p>
        </p:txBody>
      </p:sp>
      <p:sp>
        <p:nvSpPr>
          <p:cNvPr id="18" name="Shape 15"/>
          <p:cNvSpPr/>
          <p:nvPr/>
        </p:nvSpPr>
        <p:spPr>
          <a:xfrm>
            <a:off x="694944" y="3017520"/>
            <a:ext cx="694944" cy="685800"/>
          </a:xfrm>
          <a:prstGeom prst="rect">
            <a:avLst/>
          </a:prstGeom>
          <a:solidFill>
            <a:srgbClr val="EAF0F5"/>
          </a:solidFill>
          <a:ln w="8255">
            <a:solidFill>
              <a:srgbClr val="F5F6F8"/>
            </a:solidFill>
            <a:prstDash val="solid"/>
          </a:ln>
        </p:spPr>
      </p:sp>
      <p:sp>
        <p:nvSpPr>
          <p:cNvPr id="19" name="Text 16"/>
          <p:cNvSpPr/>
          <p:nvPr/>
        </p:nvSpPr>
        <p:spPr>
          <a:xfrm>
            <a:off x="786384" y="30815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F20</a:t>
            </a:r>
            <a:endParaRPr lang="en-US" sz="1220" dirty="0"/>
          </a:p>
        </p:txBody>
      </p:sp>
      <p:sp>
        <p:nvSpPr>
          <p:cNvPr id="20" name="Shape 17"/>
          <p:cNvSpPr/>
          <p:nvPr/>
        </p:nvSpPr>
        <p:spPr>
          <a:xfrm>
            <a:off x="1389888" y="3017520"/>
            <a:ext cx="3950208" cy="685800"/>
          </a:xfrm>
          <a:prstGeom prst="rect">
            <a:avLst/>
          </a:prstGeom>
          <a:solidFill>
            <a:srgbClr val="EAF0F5"/>
          </a:solidFill>
          <a:ln w="8255">
            <a:solidFill>
              <a:srgbClr val="F5F6F8"/>
            </a:solidFill>
            <a:prstDash val="solid"/>
          </a:ln>
        </p:spPr>
      </p:sp>
      <p:sp>
        <p:nvSpPr>
          <p:cNvPr id="21" name="Text 18"/>
          <p:cNvSpPr/>
          <p:nvPr/>
        </p:nvSpPr>
        <p:spPr>
          <a:xfrm>
            <a:off x="1481328" y="30815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Pydantic: contratos de datos de la API</a:t>
            </a:r>
            <a:endParaRPr lang="en-US" sz="1220" dirty="0"/>
          </a:p>
        </p:txBody>
      </p:sp>
      <p:sp>
        <p:nvSpPr>
          <p:cNvPr id="22" name="Shape 19"/>
          <p:cNvSpPr/>
          <p:nvPr/>
        </p:nvSpPr>
        <p:spPr>
          <a:xfrm>
            <a:off x="5340096" y="3017520"/>
            <a:ext cx="5669280" cy="685800"/>
          </a:xfrm>
          <a:prstGeom prst="rect">
            <a:avLst/>
          </a:prstGeom>
          <a:solidFill>
            <a:srgbClr val="EAF0F5"/>
          </a:solidFill>
          <a:ln w="8255">
            <a:solidFill>
              <a:srgbClr val="F5F6F8"/>
            </a:solidFill>
            <a:prstDash val="solid"/>
          </a:ln>
        </p:spPr>
      </p:sp>
      <p:sp>
        <p:nvSpPr>
          <p:cNvPr id="23" name="Text 20">
            <a:hlinkClick r:id="rId3" tooltip=""/>
          </p:cNvPr>
          <p:cNvSpPr/>
          <p:nvPr/>
        </p:nvSpPr>
        <p:spPr>
          <a:xfrm>
            <a:off x="5431536" y="30815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https://pydantic.dev/docs/validation/latest/concepts/models/</a:t>
            </a:r>
            <a:endParaRPr lang="en-US" sz="1220" dirty="0"/>
          </a:p>
        </p:txBody>
      </p:sp>
      <p:sp>
        <p:nvSpPr>
          <p:cNvPr id="24" name="Shape 21"/>
          <p:cNvSpPr/>
          <p:nvPr/>
        </p:nvSpPr>
        <p:spPr>
          <a:xfrm>
            <a:off x="694944" y="3703320"/>
            <a:ext cx="694944" cy="685800"/>
          </a:xfrm>
          <a:prstGeom prst="rect">
            <a:avLst/>
          </a:prstGeom>
          <a:solidFill>
            <a:srgbClr val="FFFFFF"/>
          </a:solidFill>
          <a:ln w="8255">
            <a:solidFill>
              <a:srgbClr val="F5F6F8"/>
            </a:solidFill>
            <a:prstDash val="solid"/>
          </a:ln>
        </p:spPr>
      </p:sp>
      <p:sp>
        <p:nvSpPr>
          <p:cNvPr id="25" name="Text 22"/>
          <p:cNvSpPr/>
          <p:nvPr/>
        </p:nvSpPr>
        <p:spPr>
          <a:xfrm>
            <a:off x="786384" y="37673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F21</a:t>
            </a:r>
            <a:endParaRPr lang="en-US" sz="1220" dirty="0"/>
          </a:p>
        </p:txBody>
      </p:sp>
      <p:sp>
        <p:nvSpPr>
          <p:cNvPr id="26" name="Shape 23"/>
          <p:cNvSpPr/>
          <p:nvPr/>
        </p:nvSpPr>
        <p:spPr>
          <a:xfrm>
            <a:off x="1389888" y="3703320"/>
            <a:ext cx="3950208" cy="685800"/>
          </a:xfrm>
          <a:prstGeom prst="rect">
            <a:avLst/>
          </a:prstGeom>
          <a:solidFill>
            <a:srgbClr val="FFFFFF"/>
          </a:solidFill>
          <a:ln w="8255">
            <a:solidFill>
              <a:srgbClr val="F5F6F8"/>
            </a:solidFill>
            <a:prstDash val="solid"/>
          </a:ln>
        </p:spPr>
      </p:sp>
      <p:sp>
        <p:nvSpPr>
          <p:cNvPr id="27" name="Text 24"/>
          <p:cNvSpPr/>
          <p:nvPr/>
        </p:nvSpPr>
        <p:spPr>
          <a:xfrm>
            <a:off x="1481328" y="37673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Uvicorn: servidor ASGI</a:t>
            </a:r>
            <a:endParaRPr lang="en-US" sz="1220" dirty="0"/>
          </a:p>
        </p:txBody>
      </p:sp>
      <p:sp>
        <p:nvSpPr>
          <p:cNvPr id="28" name="Shape 25"/>
          <p:cNvSpPr/>
          <p:nvPr/>
        </p:nvSpPr>
        <p:spPr>
          <a:xfrm>
            <a:off x="5340096" y="3703320"/>
            <a:ext cx="5669280" cy="685800"/>
          </a:xfrm>
          <a:prstGeom prst="rect">
            <a:avLst/>
          </a:prstGeom>
          <a:solidFill>
            <a:srgbClr val="FFFFFF"/>
          </a:solidFill>
          <a:ln w="8255">
            <a:solidFill>
              <a:srgbClr val="F5F6F8"/>
            </a:solidFill>
            <a:prstDash val="solid"/>
          </a:ln>
        </p:spPr>
      </p:sp>
      <p:sp>
        <p:nvSpPr>
          <p:cNvPr id="29" name="Text 26">
            <a:hlinkClick r:id="rId4" tooltip=""/>
          </p:cNvPr>
          <p:cNvSpPr/>
          <p:nvPr/>
        </p:nvSpPr>
        <p:spPr>
          <a:xfrm>
            <a:off x="5431536" y="37673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https://github.com/Kludex/uvicorn</a:t>
            </a:r>
            <a:endParaRPr lang="en-US" sz="1220" dirty="0"/>
          </a:p>
        </p:txBody>
      </p:sp>
      <p:sp>
        <p:nvSpPr>
          <p:cNvPr id="30" name="Shape 27"/>
          <p:cNvSpPr/>
          <p:nvPr/>
        </p:nvSpPr>
        <p:spPr>
          <a:xfrm>
            <a:off x="585216" y="6492240"/>
            <a:ext cx="11009376" cy="0"/>
          </a:xfrm>
          <a:prstGeom prst="line">
            <a:avLst/>
          </a:prstGeom>
          <a:noFill/>
          <a:ln w="8890">
            <a:solidFill>
              <a:srgbClr val="D9E2E9"/>
            </a:solidFill>
            <a:prstDash val="solid"/>
            <a:headEnd type="none"/>
            <a:tailEnd type="none"/>
          </a:ln>
        </p:spPr>
      </p:sp>
      <p:sp>
        <p:nvSpPr>
          <p:cNvPr id="31" name="Text 28"/>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F19 · F20 · F21 · F22 · F23 · F24</a:t>
            </a:r>
            <a:endParaRPr lang="en-US" sz="870" dirty="0"/>
          </a:p>
        </p:txBody>
      </p:sp>
      <p:sp>
        <p:nvSpPr>
          <p:cNvPr id="32" name="Text 29"/>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52 / 53</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7C83"/>
          </a:solidFill>
          <a:ln w="8255">
            <a:solidFill>
              <a:srgbClr val="007C83"/>
            </a:solidFill>
            <a:prstDash val="solid"/>
          </a:ln>
        </p:spPr>
      </p:sp>
      <p:sp>
        <p:nvSpPr>
          <p:cNvPr id="3" name="Text 1"/>
          <p:cNvSpPr/>
          <p:nvPr/>
        </p:nvSpPr>
        <p:spPr>
          <a:xfrm>
            <a:off x="594360" y="310896"/>
            <a:ext cx="9464040" cy="237744"/>
          </a:xfrm>
          <a:prstGeom prst="rect">
            <a:avLst/>
          </a:prstGeom>
          <a:noFill/>
          <a:ln/>
        </p:spPr>
        <p:txBody>
          <a:bodyPr wrap="square" lIns="0" tIns="0" rIns="0" bIns="0" rtlCol="0" anchor="t"/>
          <a:lstStyle/>
          <a:p>
            <a:pPr indent="0" marL="0">
              <a:buNone/>
            </a:pPr>
            <a:r>
              <a:rPr lang="en-US" sz="1080" b="1" spc="150" kern="0" dirty="0">
                <a:solidFill>
                  <a:srgbClr val="007C83"/>
                </a:solidFill>
                <a:latin typeface="Arial" pitchFamily="34" charset="0"/>
                <a:ea typeface="Arial" pitchFamily="34" charset="-122"/>
                <a:cs typeface="Arial" pitchFamily="34" charset="-120"/>
              </a:rPr>
              <a:t>BIBLIOGRAFÍA</a:t>
            </a:r>
            <a:endParaRPr lang="en-US" sz="1080" dirty="0"/>
          </a:p>
        </p:txBody>
      </p:sp>
      <p:pic>
        <p:nvPicPr>
          <p:cNvPr id="4" name="Image 0" descr="Logo GIRA Robotics and Automation Research Group">    </p:cNvPr>
          <p:cNvPicPr>
            <a:picLocks noChangeAspect="1"/>
          </p:cNvPicPr>
          <p:nvPr/>
        </p:nvPicPr>
        <p:blipFill>
          <a:blip r:embed="rId1"/>
          <a:stretch>
            <a:fillRect/>
          </a:stretch>
        </p:blipFill>
        <p:spPr>
          <a:xfrm>
            <a:off x="10332720" y="219456"/>
            <a:ext cx="1261872" cy="546811"/>
          </a:xfrm>
          <a:prstGeom prst="rect">
            <a:avLst/>
          </a:prstGeom>
        </p:spPr>
      </p:pic>
      <p:sp>
        <p:nvSpPr>
          <p:cNvPr id="5" name="Text 2"/>
          <p:cNvSpPr/>
          <p:nvPr/>
        </p:nvSpPr>
        <p:spPr>
          <a:xfrm>
            <a:off x="594360" y="804672"/>
            <a:ext cx="10972800" cy="923544"/>
          </a:xfrm>
          <a:prstGeom prst="rect">
            <a:avLst/>
          </a:prstGeom>
          <a:noFill/>
          <a:ln/>
        </p:spPr>
        <p:txBody>
          <a:bodyPr wrap="square" lIns="0" tIns="0" rIns="0" bIns="0" rtlCol="0" anchor="t"/>
          <a:lstStyle/>
          <a:p>
            <a:pPr indent="0" marL="0">
              <a:buNone/>
            </a:pPr>
            <a:r>
              <a:rPr lang="en-US" sz="2800" b="1" dirty="0">
                <a:solidFill>
                  <a:srgbClr val="14293B"/>
                </a:solidFill>
                <a:latin typeface="Arial" pitchFamily="34" charset="0"/>
                <a:ea typeface="Arial" pitchFamily="34" charset="-122"/>
                <a:cs typeface="Arial" pitchFamily="34" charset="-120"/>
              </a:rPr>
              <a:t>Anexo M · Fuentes de lenguajes, servidor y validadores · 2</a:t>
            </a:r>
            <a:endParaRPr lang="en-US" sz="2800" dirty="0"/>
          </a:p>
        </p:txBody>
      </p:sp>
      <p:sp>
        <p:nvSpPr>
          <p:cNvPr id="6" name="Shape 3"/>
          <p:cNvSpPr/>
          <p:nvPr/>
        </p:nvSpPr>
        <p:spPr>
          <a:xfrm>
            <a:off x="694944" y="1901952"/>
            <a:ext cx="694944" cy="429768"/>
          </a:xfrm>
          <a:prstGeom prst="rect">
            <a:avLst/>
          </a:prstGeom>
          <a:solidFill>
            <a:srgbClr val="14293B"/>
          </a:solidFill>
          <a:ln w="8255">
            <a:solidFill>
              <a:srgbClr val="F5F6F8"/>
            </a:solidFill>
            <a:prstDash val="solid"/>
          </a:ln>
        </p:spPr>
      </p:sp>
      <p:sp>
        <p:nvSpPr>
          <p:cNvPr id="7" name="Text 4"/>
          <p:cNvSpPr/>
          <p:nvPr/>
        </p:nvSpPr>
        <p:spPr>
          <a:xfrm>
            <a:off x="786384" y="1965960"/>
            <a:ext cx="512064"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ID</a:t>
            </a:r>
            <a:endParaRPr lang="en-US" sz="1350" dirty="0"/>
          </a:p>
        </p:txBody>
      </p:sp>
      <p:sp>
        <p:nvSpPr>
          <p:cNvPr id="8" name="Shape 5"/>
          <p:cNvSpPr/>
          <p:nvPr/>
        </p:nvSpPr>
        <p:spPr>
          <a:xfrm>
            <a:off x="1389888" y="1901952"/>
            <a:ext cx="3950208" cy="429768"/>
          </a:xfrm>
          <a:prstGeom prst="rect">
            <a:avLst/>
          </a:prstGeom>
          <a:solidFill>
            <a:srgbClr val="14293B"/>
          </a:solidFill>
          <a:ln w="8255">
            <a:solidFill>
              <a:srgbClr val="F5F6F8"/>
            </a:solidFill>
            <a:prstDash val="solid"/>
          </a:ln>
        </p:spPr>
      </p:sp>
      <p:sp>
        <p:nvSpPr>
          <p:cNvPr id="9" name="Text 6"/>
          <p:cNvSpPr/>
          <p:nvPr/>
        </p:nvSpPr>
        <p:spPr>
          <a:xfrm>
            <a:off x="1481328" y="1965960"/>
            <a:ext cx="3767328"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Tema</a:t>
            </a:r>
            <a:endParaRPr lang="en-US" sz="1350" dirty="0"/>
          </a:p>
        </p:txBody>
      </p:sp>
      <p:sp>
        <p:nvSpPr>
          <p:cNvPr id="10" name="Shape 7"/>
          <p:cNvSpPr/>
          <p:nvPr/>
        </p:nvSpPr>
        <p:spPr>
          <a:xfrm>
            <a:off x="5340096" y="1901952"/>
            <a:ext cx="5669280" cy="429768"/>
          </a:xfrm>
          <a:prstGeom prst="rect">
            <a:avLst/>
          </a:prstGeom>
          <a:solidFill>
            <a:srgbClr val="14293B"/>
          </a:solidFill>
          <a:ln w="8255">
            <a:solidFill>
              <a:srgbClr val="F5F6F8"/>
            </a:solidFill>
            <a:prstDash val="solid"/>
          </a:ln>
        </p:spPr>
      </p:sp>
      <p:sp>
        <p:nvSpPr>
          <p:cNvPr id="11" name="Text 8"/>
          <p:cNvSpPr/>
          <p:nvPr/>
        </p:nvSpPr>
        <p:spPr>
          <a:xfrm>
            <a:off x="5431536" y="1965960"/>
            <a:ext cx="5486400" cy="338328"/>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URL oficial / primaria</a:t>
            </a:r>
            <a:endParaRPr lang="en-US" sz="1350" dirty="0"/>
          </a:p>
        </p:txBody>
      </p:sp>
      <p:sp>
        <p:nvSpPr>
          <p:cNvPr id="12" name="Shape 9"/>
          <p:cNvSpPr/>
          <p:nvPr/>
        </p:nvSpPr>
        <p:spPr>
          <a:xfrm>
            <a:off x="694944" y="2331720"/>
            <a:ext cx="694944" cy="685800"/>
          </a:xfrm>
          <a:prstGeom prst="rect">
            <a:avLst/>
          </a:prstGeom>
          <a:solidFill>
            <a:srgbClr val="FFFFFF"/>
          </a:solidFill>
          <a:ln w="8255">
            <a:solidFill>
              <a:srgbClr val="F5F6F8"/>
            </a:solidFill>
            <a:prstDash val="solid"/>
          </a:ln>
        </p:spPr>
      </p:sp>
      <p:sp>
        <p:nvSpPr>
          <p:cNvPr id="13" name="Text 10"/>
          <p:cNvSpPr/>
          <p:nvPr/>
        </p:nvSpPr>
        <p:spPr>
          <a:xfrm>
            <a:off x="786384" y="23957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F22</a:t>
            </a:r>
            <a:endParaRPr lang="en-US" sz="1220" dirty="0"/>
          </a:p>
        </p:txBody>
      </p:sp>
      <p:sp>
        <p:nvSpPr>
          <p:cNvPr id="14" name="Shape 11"/>
          <p:cNvSpPr/>
          <p:nvPr/>
        </p:nvSpPr>
        <p:spPr>
          <a:xfrm>
            <a:off x="1389888" y="2331720"/>
            <a:ext cx="3950208" cy="685800"/>
          </a:xfrm>
          <a:prstGeom prst="rect">
            <a:avLst/>
          </a:prstGeom>
          <a:solidFill>
            <a:srgbClr val="FFFFFF"/>
          </a:solidFill>
          <a:ln w="8255">
            <a:solidFill>
              <a:srgbClr val="F5F6F8"/>
            </a:solidFill>
            <a:prstDash val="solid"/>
          </a:ln>
        </p:spPr>
      </p:sp>
      <p:sp>
        <p:nvSpPr>
          <p:cNvPr id="15" name="Text 12"/>
          <p:cNvSpPr/>
          <p:nvPr/>
        </p:nvSpPr>
        <p:spPr>
          <a:xfrm>
            <a:off x="1481328" y="23957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TypeScript: comprobación estática del frontend</a:t>
            </a:r>
            <a:endParaRPr lang="en-US" sz="1220" dirty="0"/>
          </a:p>
        </p:txBody>
      </p:sp>
      <p:sp>
        <p:nvSpPr>
          <p:cNvPr id="16" name="Shape 13"/>
          <p:cNvSpPr/>
          <p:nvPr/>
        </p:nvSpPr>
        <p:spPr>
          <a:xfrm>
            <a:off x="5340096" y="2331720"/>
            <a:ext cx="5669280" cy="685800"/>
          </a:xfrm>
          <a:prstGeom prst="rect">
            <a:avLst/>
          </a:prstGeom>
          <a:solidFill>
            <a:srgbClr val="FFFFFF"/>
          </a:solidFill>
          <a:ln w="8255">
            <a:solidFill>
              <a:srgbClr val="F5F6F8"/>
            </a:solidFill>
            <a:prstDash val="solid"/>
          </a:ln>
        </p:spPr>
      </p:sp>
      <p:sp>
        <p:nvSpPr>
          <p:cNvPr id="17" name="Text 14">
            <a:hlinkClick r:id="rId2" tooltip=""/>
          </p:cNvPr>
          <p:cNvSpPr/>
          <p:nvPr/>
        </p:nvSpPr>
        <p:spPr>
          <a:xfrm>
            <a:off x="5431536" y="23957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https://www.typescriptlang.org/docs/handbook/intro.html</a:t>
            </a:r>
            <a:endParaRPr lang="en-US" sz="1220" dirty="0"/>
          </a:p>
        </p:txBody>
      </p:sp>
      <p:sp>
        <p:nvSpPr>
          <p:cNvPr id="18" name="Shape 15"/>
          <p:cNvSpPr/>
          <p:nvPr/>
        </p:nvSpPr>
        <p:spPr>
          <a:xfrm>
            <a:off x="694944" y="3017520"/>
            <a:ext cx="694944" cy="685800"/>
          </a:xfrm>
          <a:prstGeom prst="rect">
            <a:avLst/>
          </a:prstGeom>
          <a:solidFill>
            <a:srgbClr val="EAF0F5"/>
          </a:solidFill>
          <a:ln w="8255">
            <a:solidFill>
              <a:srgbClr val="F5F6F8"/>
            </a:solidFill>
            <a:prstDash val="solid"/>
          </a:ln>
        </p:spPr>
      </p:sp>
      <p:sp>
        <p:nvSpPr>
          <p:cNvPr id="19" name="Text 16"/>
          <p:cNvSpPr/>
          <p:nvPr/>
        </p:nvSpPr>
        <p:spPr>
          <a:xfrm>
            <a:off x="786384" y="30815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F23</a:t>
            </a:r>
            <a:endParaRPr lang="en-US" sz="1220" dirty="0"/>
          </a:p>
        </p:txBody>
      </p:sp>
      <p:sp>
        <p:nvSpPr>
          <p:cNvPr id="20" name="Shape 17"/>
          <p:cNvSpPr/>
          <p:nvPr/>
        </p:nvSpPr>
        <p:spPr>
          <a:xfrm>
            <a:off x="1389888" y="3017520"/>
            <a:ext cx="3950208" cy="685800"/>
          </a:xfrm>
          <a:prstGeom prst="rect">
            <a:avLst/>
          </a:prstGeom>
          <a:solidFill>
            <a:srgbClr val="EAF0F5"/>
          </a:solidFill>
          <a:ln w="8255">
            <a:solidFill>
              <a:srgbClr val="F5F6F8"/>
            </a:solidFill>
            <a:prstDash val="solid"/>
          </a:ln>
        </p:spPr>
      </p:sp>
      <p:sp>
        <p:nvSpPr>
          <p:cNvPr id="21" name="Text 18"/>
          <p:cNvSpPr/>
          <p:nvPr/>
        </p:nvSpPr>
        <p:spPr>
          <a:xfrm>
            <a:off x="1481328" y="30815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Zod: validación de datos en ejecución</a:t>
            </a:r>
            <a:endParaRPr lang="en-US" sz="1220" dirty="0"/>
          </a:p>
        </p:txBody>
      </p:sp>
      <p:sp>
        <p:nvSpPr>
          <p:cNvPr id="22" name="Shape 19"/>
          <p:cNvSpPr/>
          <p:nvPr/>
        </p:nvSpPr>
        <p:spPr>
          <a:xfrm>
            <a:off x="5340096" y="3017520"/>
            <a:ext cx="5669280" cy="685800"/>
          </a:xfrm>
          <a:prstGeom prst="rect">
            <a:avLst/>
          </a:prstGeom>
          <a:solidFill>
            <a:srgbClr val="EAF0F5"/>
          </a:solidFill>
          <a:ln w="8255">
            <a:solidFill>
              <a:srgbClr val="F5F6F8"/>
            </a:solidFill>
            <a:prstDash val="solid"/>
          </a:ln>
        </p:spPr>
      </p:sp>
      <p:sp>
        <p:nvSpPr>
          <p:cNvPr id="23" name="Text 20">
            <a:hlinkClick r:id="rId3" tooltip=""/>
          </p:cNvPr>
          <p:cNvSpPr/>
          <p:nvPr/>
        </p:nvSpPr>
        <p:spPr>
          <a:xfrm>
            <a:off x="5431536" y="30815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https://zod.dev/</a:t>
            </a:r>
            <a:endParaRPr lang="en-US" sz="1220" dirty="0"/>
          </a:p>
        </p:txBody>
      </p:sp>
      <p:sp>
        <p:nvSpPr>
          <p:cNvPr id="24" name="Shape 21"/>
          <p:cNvSpPr/>
          <p:nvPr/>
        </p:nvSpPr>
        <p:spPr>
          <a:xfrm>
            <a:off x="694944" y="3703320"/>
            <a:ext cx="694944" cy="685800"/>
          </a:xfrm>
          <a:prstGeom prst="rect">
            <a:avLst/>
          </a:prstGeom>
          <a:solidFill>
            <a:srgbClr val="FFFFFF"/>
          </a:solidFill>
          <a:ln w="8255">
            <a:solidFill>
              <a:srgbClr val="F5F6F8"/>
            </a:solidFill>
            <a:prstDash val="solid"/>
          </a:ln>
        </p:spPr>
      </p:sp>
      <p:sp>
        <p:nvSpPr>
          <p:cNvPr id="25" name="Text 22"/>
          <p:cNvSpPr/>
          <p:nvPr/>
        </p:nvSpPr>
        <p:spPr>
          <a:xfrm>
            <a:off x="786384" y="3767328"/>
            <a:ext cx="512064" cy="594360"/>
          </a:xfrm>
          <a:prstGeom prst="rect">
            <a:avLst/>
          </a:prstGeom>
          <a:noFill/>
          <a:ln/>
        </p:spPr>
        <p:txBody>
          <a:bodyPr wrap="square" lIns="0" tIns="0" rIns="0" bIns="0" rtlCol="0" anchor="t"/>
          <a:lstStyle/>
          <a:p>
            <a:pPr indent="0" marL="0">
              <a:buNone/>
            </a:pPr>
            <a:r>
              <a:rPr lang="en-US" sz="1220" b="1" dirty="0">
                <a:solidFill>
                  <a:srgbClr val="14293B"/>
                </a:solidFill>
                <a:latin typeface="Arial" pitchFamily="34" charset="0"/>
                <a:ea typeface="Arial" pitchFamily="34" charset="-122"/>
                <a:cs typeface="Arial" pitchFamily="34" charset="-120"/>
              </a:rPr>
              <a:t>F24</a:t>
            </a:r>
            <a:endParaRPr lang="en-US" sz="1220" dirty="0"/>
          </a:p>
        </p:txBody>
      </p:sp>
      <p:sp>
        <p:nvSpPr>
          <p:cNvPr id="26" name="Shape 23"/>
          <p:cNvSpPr/>
          <p:nvPr/>
        </p:nvSpPr>
        <p:spPr>
          <a:xfrm>
            <a:off x="1389888" y="3703320"/>
            <a:ext cx="3950208" cy="685800"/>
          </a:xfrm>
          <a:prstGeom prst="rect">
            <a:avLst/>
          </a:prstGeom>
          <a:solidFill>
            <a:srgbClr val="FFFFFF"/>
          </a:solidFill>
          <a:ln w="8255">
            <a:solidFill>
              <a:srgbClr val="F5F6F8"/>
            </a:solidFill>
            <a:prstDash val="solid"/>
          </a:ln>
        </p:spPr>
      </p:sp>
      <p:sp>
        <p:nvSpPr>
          <p:cNvPr id="27" name="Text 24"/>
          <p:cNvSpPr/>
          <p:nvPr/>
        </p:nvSpPr>
        <p:spPr>
          <a:xfrm>
            <a:off x="1481328" y="3767328"/>
            <a:ext cx="3767328" cy="594360"/>
          </a:xfrm>
          <a:prstGeom prst="rect">
            <a:avLst/>
          </a:prstGeom>
          <a:noFill/>
          <a:ln/>
        </p:spPr>
        <p:txBody>
          <a:bodyPr wrap="square" lIns="0" tIns="0" rIns="0" bIns="0" rtlCol="0" anchor="t"/>
          <a:lstStyle/>
          <a:p>
            <a:pPr indent="0" marL="0">
              <a:buNone/>
            </a:pPr>
            <a:r>
              <a:rPr lang="en-US" sz="1220" dirty="0">
                <a:solidFill>
                  <a:srgbClr val="14293B"/>
                </a:solidFill>
                <a:latin typeface="Arial" pitchFamily="34" charset="0"/>
                <a:ea typeface="Arial" pitchFamily="34" charset="-122"/>
                <a:cs typeface="Arial" pitchFamily="34" charset="-120"/>
              </a:rPr>
              <a:t>TanStack Query: datos remotos, caché y sondeo</a:t>
            </a:r>
            <a:endParaRPr lang="en-US" sz="1220" dirty="0"/>
          </a:p>
        </p:txBody>
      </p:sp>
      <p:sp>
        <p:nvSpPr>
          <p:cNvPr id="28" name="Shape 25"/>
          <p:cNvSpPr/>
          <p:nvPr/>
        </p:nvSpPr>
        <p:spPr>
          <a:xfrm>
            <a:off x="5340096" y="3703320"/>
            <a:ext cx="5669280" cy="685800"/>
          </a:xfrm>
          <a:prstGeom prst="rect">
            <a:avLst/>
          </a:prstGeom>
          <a:solidFill>
            <a:srgbClr val="FFFFFF"/>
          </a:solidFill>
          <a:ln w="8255">
            <a:solidFill>
              <a:srgbClr val="F5F6F8"/>
            </a:solidFill>
            <a:prstDash val="solid"/>
          </a:ln>
        </p:spPr>
      </p:sp>
      <p:sp>
        <p:nvSpPr>
          <p:cNvPr id="29" name="Text 26">
            <a:hlinkClick r:id="rId4" tooltip=""/>
          </p:cNvPr>
          <p:cNvSpPr/>
          <p:nvPr/>
        </p:nvSpPr>
        <p:spPr>
          <a:xfrm>
            <a:off x="5431536" y="3767328"/>
            <a:ext cx="5486400" cy="594360"/>
          </a:xfrm>
          <a:prstGeom prst="rect">
            <a:avLst/>
          </a:prstGeom>
          <a:noFill/>
          <a:ln/>
        </p:spPr>
        <p:txBody>
          <a:bodyPr wrap="square" lIns="0" tIns="0" rIns="0" bIns="0" rtlCol="0" anchor="t"/>
          <a:lstStyle/>
          <a:p>
            <a:pPr indent="0" marL="0">
              <a:buNone/>
            </a:pPr>
            <a:r>
              <a:rPr lang="en-US" sz="1220" u="sng" dirty="0">
                <a:solidFill>
                  <a:srgbClr val="14293B"/>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https://tanstack.com/query/latest/docs/framework/react/overview</a:t>
            </a:r>
            <a:endParaRPr lang="en-US" sz="1220" dirty="0"/>
          </a:p>
        </p:txBody>
      </p:sp>
      <p:sp>
        <p:nvSpPr>
          <p:cNvPr id="30" name="Shape 27"/>
          <p:cNvSpPr/>
          <p:nvPr/>
        </p:nvSpPr>
        <p:spPr>
          <a:xfrm>
            <a:off x="585216" y="6492240"/>
            <a:ext cx="11009376" cy="0"/>
          </a:xfrm>
          <a:prstGeom prst="line">
            <a:avLst/>
          </a:prstGeom>
          <a:noFill/>
          <a:ln w="8890">
            <a:solidFill>
              <a:srgbClr val="D9E2E9"/>
            </a:solidFill>
            <a:prstDash val="solid"/>
            <a:headEnd type="none"/>
            <a:tailEnd type="none"/>
          </a:ln>
        </p:spPr>
      </p:sp>
      <p:sp>
        <p:nvSpPr>
          <p:cNvPr id="31" name="Text 28"/>
          <p:cNvSpPr/>
          <p:nvPr/>
        </p:nvSpPr>
        <p:spPr>
          <a:xfrm>
            <a:off x="594360" y="6574536"/>
            <a:ext cx="10241280" cy="173736"/>
          </a:xfrm>
          <a:prstGeom prst="rect">
            <a:avLst/>
          </a:prstGeom>
          <a:noFill/>
          <a:ln/>
        </p:spPr>
        <p:txBody>
          <a:bodyPr wrap="square" lIns="0" tIns="0" rIns="0" bIns="0" rtlCol="0" anchor="t"/>
          <a:lstStyle/>
          <a:p>
            <a:pPr indent="0" marL="0">
              <a:buNone/>
            </a:pPr>
            <a:r>
              <a:rPr lang="en-US" sz="870" dirty="0">
                <a:solidFill>
                  <a:srgbClr val="526474"/>
                </a:solidFill>
                <a:latin typeface="Arial" pitchFamily="34" charset="0"/>
                <a:ea typeface="Arial" pitchFamily="34" charset="-122"/>
                <a:cs typeface="Arial" pitchFamily="34" charset="-120"/>
              </a:rPr>
              <a:t>F19 · F20 · F21 · F22 · F23 · F24</a:t>
            </a:r>
            <a:endParaRPr lang="en-US" sz="870" dirty="0"/>
          </a:p>
        </p:txBody>
      </p:sp>
      <p:sp>
        <p:nvSpPr>
          <p:cNvPr id="32" name="Text 29"/>
          <p:cNvSpPr/>
          <p:nvPr/>
        </p:nvSpPr>
        <p:spPr>
          <a:xfrm>
            <a:off x="10945368" y="6537960"/>
            <a:ext cx="640080" cy="228600"/>
          </a:xfrm>
          <a:prstGeom prst="rect">
            <a:avLst/>
          </a:prstGeom>
          <a:noFill/>
          <a:ln/>
        </p:spPr>
        <p:txBody>
          <a:bodyPr wrap="square" lIns="0" tIns="0" rIns="0" bIns="0" rtlCol="0" anchor="t"/>
          <a:lstStyle/>
          <a:p>
            <a:pPr algn="r" indent="0" marL="0">
              <a:buNone/>
            </a:pPr>
            <a:r>
              <a:rPr lang="en-US" sz="1050" dirty="0">
                <a:solidFill>
                  <a:srgbClr val="526474"/>
                </a:solidFill>
                <a:latin typeface="Arial" pitchFamily="34" charset="0"/>
                <a:ea typeface="Arial" pitchFamily="34" charset="-122"/>
                <a:cs typeface="Arial" pitchFamily="34" charset="-120"/>
              </a:rPr>
              <a:t>53 / 53</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GIRA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Revisión técnica del pipeline ASIC · GIRA</dc:title>
  <dc:subject>Pipeline implementado, auditoría de evidencias y límites de la estimación de área</dc:subject>
  <dc:creator>GIRA · revisión de ASIC Area Lab</dc:creator>
  <cp:lastModifiedBy>GIRA · revisión de ASIC Area Lab</cp:lastModifiedBy>
  <cp:revision>1</cp:revision>
  <dcterms:created xsi:type="dcterms:W3CDTF">2026-10-20T00:15:28Z</dcterms:created>
  <dcterms:modified xsi:type="dcterms:W3CDTF">2026-10-20T00:15:28Z</dcterms:modified>
</cp:coreProperties>
</file>